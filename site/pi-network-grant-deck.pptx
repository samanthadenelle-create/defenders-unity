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398f61155d4803" /><Relationship Type="http://schemas.openxmlformats.org/officeDocument/2006/relationships/extended-properties" Target="/docProps/app.xml" Id="R28ff84eba7324e06" /><Relationship Type="http://schemas.openxmlformats.org/officeDocument/2006/relationships/officeDocument" Target="/ppt/presentation.xml" Id="Rc693fe54e6f348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b51b84061f4c68"/>
  </p:sldMasterIdLst>
  <p:notesMasterIdLst>
    <p:notesMasterId xmlns:r="http://schemas.openxmlformats.org/officeDocument/2006/relationships" r:id="Re1a9629ca4234414"/>
  </p:notesMasterIdLst>
  <p:sldIdLst>
    <p:sldId xmlns:r="http://schemas.openxmlformats.org/officeDocument/2006/relationships" id="256" r:id="R5cd4bca4239f4c9d"/>
    <p:sldId xmlns:r="http://schemas.openxmlformats.org/officeDocument/2006/relationships" id="257" r:id="R374adf334d894a4d"/>
    <p:sldId xmlns:r="http://schemas.openxmlformats.org/officeDocument/2006/relationships" id="258" r:id="R7bad70d8d2ec46c0"/>
    <p:sldId xmlns:r="http://schemas.openxmlformats.org/officeDocument/2006/relationships" id="259" r:id="R65e91839160347b3"/>
    <p:sldId xmlns:r="http://schemas.openxmlformats.org/officeDocument/2006/relationships" id="260" r:id="Rab32216792034a44"/>
    <p:sldId xmlns:r="http://schemas.openxmlformats.org/officeDocument/2006/relationships" id="261" r:id="R4017d5abcc314928"/>
    <p:sldId xmlns:r="http://schemas.openxmlformats.org/officeDocument/2006/relationships" id="262" r:id="Ra8ed1c8396734544"/>
    <p:sldId xmlns:r="http://schemas.openxmlformats.org/officeDocument/2006/relationships" id="263" r:id="R9bcf77d85a7a42d3"/>
    <p:sldId xmlns:r="http://schemas.openxmlformats.org/officeDocument/2006/relationships" id="264" r:id="Rb6923fe582ca468e"/>
    <p:sldId xmlns:r="http://schemas.openxmlformats.org/officeDocument/2006/relationships" id="265" r:id="Rac9e70d813304a7b"/>
    <p:sldId xmlns:r="http://schemas.openxmlformats.org/officeDocument/2006/relationships" id="266" r:id="R1cac07c388a042e3"/>
    <p:sldId xmlns:r="http://schemas.openxmlformats.org/officeDocument/2006/relationships" id="267" r:id="R241116751b304731"/>
    <p:sldId xmlns:r="http://schemas.openxmlformats.org/officeDocument/2006/relationships" id="268" r:id="R4478ea9275754f84"/>
    <p:sldId xmlns:r="http://schemas.openxmlformats.org/officeDocument/2006/relationships" id="269" r:id="R4aaff3ac922042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86a359720f4da1" /><Relationship Type="http://schemas.openxmlformats.org/officeDocument/2006/relationships/slideMaster" Target="/ppt/slideMasters/slideMaster1.xml" Id="R30b51b84061f4c68" /><Relationship Type="http://schemas.openxmlformats.org/officeDocument/2006/relationships/notesMaster" Target="/ppt/notesMasters/notesMaster1.xml" Id="Re1a9629ca4234414" /><Relationship Type="http://schemas.openxmlformats.org/officeDocument/2006/relationships/presProps" Target="/ppt/presProps.xml" Id="R700604af7260479c" /><Relationship Type="http://schemas.openxmlformats.org/officeDocument/2006/relationships/viewProps" Target="/ppt/viewProps.xml" Id="R34344857fa6b45a9" /><Relationship Type="http://schemas.openxmlformats.org/officeDocument/2006/relationships/tableStyles" Target="/ppt/tableStyles.xml" Id="R23e04b00a4254e40" /><Relationship Type="http://schemas.openxmlformats.org/officeDocument/2006/relationships/slide" Target="/ppt/slides/slide1.xml" Id="R5cd4bca4239f4c9d" /><Relationship Type="http://schemas.openxmlformats.org/officeDocument/2006/relationships/slide" Target="/ppt/slides/slide2.xml" Id="R374adf334d894a4d" /><Relationship Type="http://schemas.openxmlformats.org/officeDocument/2006/relationships/slide" Target="/ppt/slides/slide3.xml" Id="R7bad70d8d2ec46c0" /><Relationship Type="http://schemas.openxmlformats.org/officeDocument/2006/relationships/slide" Target="/ppt/slides/slide4.xml" Id="R65e91839160347b3" /><Relationship Type="http://schemas.openxmlformats.org/officeDocument/2006/relationships/slide" Target="/ppt/slides/slide5.xml" Id="Rab32216792034a44" /><Relationship Type="http://schemas.openxmlformats.org/officeDocument/2006/relationships/slide" Target="/ppt/slides/slide6.xml" Id="R4017d5abcc314928" /><Relationship Type="http://schemas.openxmlformats.org/officeDocument/2006/relationships/slide" Target="/ppt/slides/slide7.xml" Id="Ra8ed1c8396734544" /><Relationship Type="http://schemas.openxmlformats.org/officeDocument/2006/relationships/slide" Target="/ppt/slides/slide8.xml" Id="R9bcf77d85a7a42d3" /><Relationship Type="http://schemas.openxmlformats.org/officeDocument/2006/relationships/slide" Target="/ppt/slides/slide9.xml" Id="Rb6923fe582ca468e" /><Relationship Type="http://schemas.openxmlformats.org/officeDocument/2006/relationships/slide" Target="/ppt/slides/slide10.xml" Id="Rac9e70d813304a7b" /><Relationship Type="http://schemas.openxmlformats.org/officeDocument/2006/relationships/slide" Target="/ppt/slides/slide11.xml" Id="R1cac07c388a042e3" /><Relationship Type="http://schemas.openxmlformats.org/officeDocument/2006/relationships/slide" Target="/ppt/slides/slide12.xml" Id="R241116751b304731" /><Relationship Type="http://schemas.openxmlformats.org/officeDocument/2006/relationships/slide" Target="/ppt/slides/slide13.xml" Id="R4478ea9275754f84" /><Relationship Type="http://schemas.openxmlformats.org/officeDocument/2006/relationships/slide" Target="/ppt/slides/slide14.xml" Id="R4aaff3ac922042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5505bbd43d42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8a495938f44a02" /><Relationship Type="http://schemas.openxmlformats.org/officeDocument/2006/relationships/notesMaster" Target="/ppt/notesMasters/notesMaster1.xml" Id="R8bb4b9445f6141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35cc68cda94632" /><Relationship Type="http://schemas.openxmlformats.org/officeDocument/2006/relationships/notesMaster" Target="/ppt/notesMasters/notesMaster1.xml" Id="R67594291fea341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686dd56ae6432c" /><Relationship Type="http://schemas.openxmlformats.org/officeDocument/2006/relationships/notesMaster" Target="/ppt/notesMasters/notesMaster1.xml" Id="R7af0dd530f594c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08fb57ab5f47b5" /><Relationship Type="http://schemas.openxmlformats.org/officeDocument/2006/relationships/notesMaster" Target="/ppt/notesMasters/notesMaster1.xml" Id="R645bcd3d875b4b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9e884b8f5a4714" /><Relationship Type="http://schemas.openxmlformats.org/officeDocument/2006/relationships/notesMaster" Target="/ppt/notesMasters/notesMaster1.xml" Id="R97b6f7589d6842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d0537507f6424c" /><Relationship Type="http://schemas.openxmlformats.org/officeDocument/2006/relationships/notesMaster" Target="/ppt/notesMasters/notesMaster1.xml" Id="R463b30c2914446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b985c09df445ef" /><Relationship Type="http://schemas.openxmlformats.org/officeDocument/2006/relationships/notesMaster" Target="/ppt/notesMasters/notesMaster1.xml" Id="R26c1c387837448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d7ef6092fb4d8d" /><Relationship Type="http://schemas.openxmlformats.org/officeDocument/2006/relationships/notesMaster" Target="/ppt/notesMasters/notesMaster1.xml" Id="R0dba16aae43e44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27a5a8a6b444b8" /><Relationship Type="http://schemas.openxmlformats.org/officeDocument/2006/relationships/notesMaster" Target="/ppt/notesMasters/notesMaster1.xml" Id="Rde460d54632e46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25dbd9763f44da" /><Relationship Type="http://schemas.openxmlformats.org/officeDocument/2006/relationships/notesMaster" Target="/ppt/notesMasters/notesMaster1.xml" Id="R6665a5c6036441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64ead074734e7d" /><Relationship Type="http://schemas.openxmlformats.org/officeDocument/2006/relationships/notesMaster" Target="/ppt/notesMasters/notesMaster1.xml" Id="Rbf1a1de2587c43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c397d6ed944c12" /><Relationship Type="http://schemas.openxmlformats.org/officeDocument/2006/relationships/notesMaster" Target="/ppt/notesMasters/notesMaster1.xml" Id="R59ac056b39ce40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8663edf68749ab" /><Relationship Type="http://schemas.openxmlformats.org/officeDocument/2006/relationships/notesMaster" Target="/ppt/notesMasters/notesMaster1.xml" Id="R926fcc2c7b6b4e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f198132db14f7c" /><Relationship Type="http://schemas.openxmlformats.org/officeDocument/2006/relationships/notesMaster" Target="/ppt/notesMasters/notesMaster1.xml" Id="Rc98dff64c9ba46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>https://minepi.com/developers/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>docs/RAIDS_TO_PVP_ARCHITECTURE_2026-09-10.md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>https://docs.minepi.com/</a:t>
            </a:r>
            <a:endParaRPr/>
          </a:p>
          <a:p xmlns:a="http://schemas.openxmlformats.org/drawingml/2006/main">
            <a:r>
              <a:t>https://minepi.com/blog/ad-network-expansion/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>Assets/Plugins/WebGL/PiBridge.jslib</a:t>
            </a:r>
            <a:endParaRPr/>
          </a:p>
          <a:p xmlns:a="http://schemas.openxmlformats.org/drawingml/2006/main">
            <a:r>
              <a:t>docs/reference/PI_AD_NETWORK_APPROVAL.md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>Assets/Plugins/WebGL/PiBridge.jslib</a:t>
            </a:r>
            <a:endParaRPr/>
          </a:p>
          <a:p xmlns:a="http://schemas.openxmlformats.org/drawingml/2006/main">
            <a:r>
              <a:t>Assets/_Modules/Core/Platform/IPiPlatform.cs</a:t>
            </a:r>
            <a:endParaRPr/>
          </a:p>
          <a:p xmlns:a="http://schemas.openxmlformats.org/drawingml/2006/main">
            <a:r>
              <a:t>api/pi/approve.js</a:t>
            </a:r>
            <a:endParaRPr/>
          </a:p>
          <a:p xmlns:a="http://schemas.openxmlformats.org/drawingml/2006/main">
            <a:r>
              <a:t>api/pi/verify.js</a:t>
            </a:r>
            <a:endParaRPr/>
          </a:p>
          <a:p xmlns:a="http://schemas.openxmlformats.org/drawingml/2006/main">
            <a:r>
              <a:t>api/pi/ads-verify.js</a:t>
            </a:r>
            <a:endParaRPr/>
          </a:p>
          <a:p xmlns:a="http://schemas.openxmlformats.org/drawingml/2006/main">
            <a:r>
              <a:t>https://docs.minepi.com/api-reference/SdkReference/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>api/_lib/sku-catalog.generated.json</a:t>
            </a:r>
            <a:endParaRPr/>
          </a:p>
          <a:p xmlns:a="http://schemas.openxmlformats.org/drawingml/2006/main">
            <a:r>
              <a:t>Assets/Resources/Data/Canonical/packs.json</a:t>
            </a:r>
            <a:endParaRPr/>
          </a:p>
          <a:p xmlns:a="http://schemas.openxmlformats.org/drawingml/2006/main">
            <a:r>
              <a:t>api/pi/approve.js</a:t>
            </a:r>
            <a:endParaRPr/>
          </a:p>
          <a:p xmlns:a="http://schemas.openxmlformats.org/drawingml/2006/main">
            <a:r>
              <a:t>api/pi/complete.js</a:t>
            </a:r>
            <a:endParaRPr/>
          </a:p>
          <a:p xmlns:a="http://schemas.openxmlformats.org/drawingml/2006/main">
            <a:r>
              <a:t>https://docs.minepi.com/api-reference/SdkReference/</a:t>
            </a:r>
            <a:endParaRPr/>
          </a:p>
          <a:p xmlns:a="http://schemas.openxmlformats.org/drawingml/2006/main">
            <a:r>
              <a:t>https://minepi.com/blog/ad-network-expansion/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>docs/RAIDS_TO_PVP_ARCHITECTURE_2026-09-10.md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>docs/RAIDS_TO_PVP_ARCHITECTURE_2026-09-10.md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>docs/RAIDS_TO_PVP_ARCHITECTURE_2026-09-10.md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>Budget: 10000 + 4000 + 3000 + 3000 + 2500 + 2500 = USD 25000. Retained from source proposal; allocation labels adapted to Pi. No Pi token conversion assumed.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Echoes_of_Elarion_Solana_Mobile_Grant_Deck.pptx (Sep 8, 2026). Proposed $25,000 / 12-week ask and biography derive from that owner-provided reference, not a Pi award or funding commitment. Product direction: docs/RAIDS_TO_PVP_ARCHITECTURE_2026-09-10.md and owner-approved capture journey. Mainnet/ad eligibility is not independently certified by this deck. Prepared Sep 10, 2026.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 / qualifications:</a:t>
            </a:r>
            <a:endParaRPr/>
          </a:p>
          <a:p xmlns:a="http://schemas.openxmlformats.org/drawingml/2006/main">
            <a:r>
              <a:t>https://minepi.com/ventures/</a:t>
            </a:r>
            <a:endParaRPr/>
          </a:p>
          <a:p xmlns:a="http://schemas.openxmlformats.org/drawingml/2006/main">
            <a:r>
              <a:t>https://minepi.com/blog/pi-ventures/</a:t>
            </a:r>
            <a:endParaRPr/>
          </a:p>
          <a:p xmlns:a="http://schemas.openxmlformats.org/drawingml/2006/main">
            <a:r>
              <a:t>Funding proposal is not represented as an application to a confirmed Pi grant program. Pi Ventures describes an investment initiative; route and terms require agreement.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8be154c414df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1b9a3a6a044474" /><Relationship Type="http://schemas.openxmlformats.org/officeDocument/2006/relationships/slideLayout" Target="/ppt/slideLayouts/slideLayout1.xml" Id="Re26962949b4f48a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6962949b4f48a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343219d944f73" /><Relationship Type="http://schemas.openxmlformats.org/officeDocument/2006/relationships/notesSlide" Target="/ppt/notesSlides/notesSlide1.xml" Id="R17fd850aabbe40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51b30592b4eb6" /><Relationship Type="http://schemas.openxmlformats.org/officeDocument/2006/relationships/notesSlide" Target="/ppt/notesSlides/notesSlide2.xml" Id="R376938b344df4a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c2845d01e4a78" /><Relationship Type="http://schemas.openxmlformats.org/officeDocument/2006/relationships/notesSlide" Target="/ppt/notesSlides/notesSlide3.xml" Id="R5592256801f34b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db1d4afce4884" /><Relationship Type="http://schemas.openxmlformats.org/officeDocument/2006/relationships/notesSlide" Target="/ppt/notesSlides/notesSlide4.xml" Id="R053711d4bf5944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26be2e7314660" /><Relationship Type="http://schemas.openxmlformats.org/officeDocument/2006/relationships/notesSlide" Target="/ppt/notesSlides/notesSlide5.xml" Id="R19c8e0bdb8b042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d933eb6f44074" /><Relationship Type="http://schemas.openxmlformats.org/officeDocument/2006/relationships/notesSlide" Target="/ppt/notesSlides/notesSlide6.xml" Id="Rb355433f96bd4a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42352279549d2" /><Relationship Type="http://schemas.openxmlformats.org/officeDocument/2006/relationships/notesSlide" Target="/ppt/notesSlides/notesSlide7.xml" Id="Rf138797f8fd04c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55ca1f8894424" /><Relationship Type="http://schemas.openxmlformats.org/officeDocument/2006/relationships/notesSlide" Target="/ppt/notesSlides/notesSlide8.xml" Id="R98adbdc32bea4c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de4eb13ec4b7f" /><Relationship Type="http://schemas.openxmlformats.org/officeDocument/2006/relationships/notesSlide" Target="/ppt/notesSlides/notesSlide9.xml" Id="R21efbda70a674c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e3cc41b0a4f2d" /><Relationship Type="http://schemas.openxmlformats.org/officeDocument/2006/relationships/notesSlide" Target="/ppt/notesSlides/notesSlide10.xml" Id="Rbae049841bb64c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ccd81e7c24f40" /><Relationship Type="http://schemas.openxmlformats.org/officeDocument/2006/relationships/notesSlide" Target="/ppt/notesSlides/notesSlide11.xml" Id="R702243f3235348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9bbf7968b4baa" /><Relationship Type="http://schemas.openxmlformats.org/officeDocument/2006/relationships/notesSlide" Target="/ppt/notesSlides/notesSlide12.xml" Id="Rf83d56e52af947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6e76c15534430" /><Relationship Type="http://schemas.openxmlformats.org/officeDocument/2006/relationships/notesSlide" Target="/ppt/notesSlides/notesSlide13.xml" Id="Rcdf7c41b65ce41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8fc0d02564526" /><Relationship Type="http://schemas.openxmlformats.org/officeDocument/2006/relationships/notesSlide" Target="/ppt/notesSlides/notesSlide14.xml" Id="R464fc745dee449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A152A42-FA16-4105-A197-B6D71C07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4227EE8-EE00-4C17-B870-E2A1F030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AC9788D-DED0-4541-BC94-09F00EE5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5156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4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PI NETWORK · FUNDING PROPOSAL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BC3E106-0834-4649-B65E-82844313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Defenders of the Realm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385525-9A77-4C56-A8D8-6642F390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93392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i="1">
                <a:solidFill>
                  <a:srgbClr val="C9A227"/>
                </a:solidFill>
                <a:latin typeface="Georgia"/>
                <a:ea typeface="Georgia"/>
                <a:cs typeface="Georgia"/>
              </a:rPr>
              <a:t>Echoes of Elarion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A8CC1FB-016D-4D9B-8297-CF16DABE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8595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A mobile-first strategy RPG with Pi SDK integration already in the codebase. This proposal funds Pi Browser reliability, playable onboarding, localization, and a focused capture-and-rebuild experience.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19BC383-1570-44C9-8448-CD9D774F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260604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81F9ECE-CB77-4899-B00A-7903EA1B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2606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$25,000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65B26C5-3255-40DC-B47C-6E988607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05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Requested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19826C4-37F3-4D7D-A211-187D6808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0440"/>
            <a:ext cx="260604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20F12C3-28B2-4FC1-8C41-40FDF405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57600"/>
            <a:ext cx="2606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12 weeks</a:t>
            </a:r>
            <a:endParaRPr sz="2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B18B3F1-8223-4AAB-A17C-70DA6882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1605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Four proposed milestones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F5BC-F80A-4A1E-A5D5-80CF0C1F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20440"/>
            <a:ext cx="260604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815FC4B-6552-451A-9DB8-9A3D084F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57600"/>
            <a:ext cx="2606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Built</a:t>
            </a:r>
            <a:endParaRPr sz="2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DF226C2-802E-44A9-AA57-C490E32F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1605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Pi SDK integration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5F01BA4-3A62-4B61-82B2-54EFF8B1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520440"/>
            <a:ext cx="260604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D6B4D88-A993-4BFC-A2A9-31EBD922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657600"/>
            <a:ext cx="2606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Next</a:t>
            </a:r>
            <a:endParaRPr sz="2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F33524D-1525-4D61-A15E-45B26C49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1605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Capture &amp; rebuild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1DED89-030F-4245-848C-4B4833FB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Applicant   DeNelle Studios     ·     Stack   Unity 6 / WebGL / Pi Browser     ·     Proposed funding plan   September 2026</a:t>
            </a:r>
            <a:endParaRPr sz="12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4331B1E-8B36-4326-A3B2-F169D20C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8139BE1-2F8F-4115-B6F3-D9CCBE32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9952139-10BB-49B0-AE9B-DB231667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518851C-8413-4142-ABFA-9D1D4255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1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819573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11E3BD5-C980-4A7D-A702-F61D43F2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66282D2-2839-481B-8BE6-5FF1EC7B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74A774B-BB89-4549-A02A-15569C3E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THE PRODUCT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F0417E8-6C76-4ED7-A2A8-5BB9F6AE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Save a castle. Capture a base. Make it yours.</a:t>
            </a:r>
            <a:endParaRPr sz="2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4AFAD0D-C687-48FD-96C1-6BED95D7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The player journey: save the castle in Chapter One, venture into raids, capture a base, then repair and redesign it. Take that customized build into arena battles against AI or other players.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5942BE6-A87B-47BE-AB5D-21ABA5AC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1640"/>
            <a:ext cx="278892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1CF95B0-E130-4E01-B239-22D4F6EA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423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01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487833E-4A34-45C9-817F-BD4A7F09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12848"/>
            <a:ext cx="2423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SAVE + RAID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522FDB-425F-44FF-A277-2A8A8405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24231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Save the castle, then raid enemy strongholds.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C7633E3-E943-41BA-99BA-BD4D8B93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691640"/>
            <a:ext cx="278892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9E98505-CDAF-4A97-A4E7-5BD35F9A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874520"/>
            <a:ext cx="2423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02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F26A3AA-9AF6-4879-9268-C18D096D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212848"/>
            <a:ext cx="2423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CAPTURE</a:t>
            </a:r>
            <a:endParaRPr sz="2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0A99238-A378-458E-B13C-E5EACDE4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697480"/>
            <a:ext cx="24231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Take over the base as it stands, including damage.</a:t>
            </a:r>
            <a:endParaRPr sz="14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555F490-095B-404C-BC0A-A0C501D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91640"/>
            <a:ext cx="278892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E038444-2688-4D6E-88BB-D0564F4D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74520"/>
            <a:ext cx="2423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C42C6D5-4955-4E40-8B8B-BDCD4583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12848"/>
            <a:ext cx="2423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DESIGN</a:t>
            </a:r>
            <a:endParaRPr sz="2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CBC4B1C-76C3-463C-9C6D-88C7946F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97480"/>
            <a:ext cx="24231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Repair, rearrange, and earn stronger defenses.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4F8FF77-32C0-419F-BEC2-CE8515A6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691640"/>
            <a:ext cx="278892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F568AED-AE29-491F-B3A9-64F4F1C9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874520"/>
            <a:ext cx="2423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04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4967D6B-DE51-4AF0-A446-92A87C0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212848"/>
            <a:ext cx="2423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ARENA</a:t>
            </a:r>
            <a:endParaRPr sz="2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2C87175-8397-4B09-8885-396C15E3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697480"/>
            <a:ext cx="24231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Bring your build into battles against AI or players.</a:t>
            </a:r>
            <a:endParaRPr sz="14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3CF65BC-11C1-4506-9ADE-7DFD03C4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1124712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DF7D46A-0ECE-4A78-87D4-F8149DA4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9144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39F0E93-0F71-4123-983A-8AAD8ACE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43400"/>
            <a:ext cx="10698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DESIGN PRINCIPLE</a:t>
            </a:r>
            <a:endParaRPr sz="11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70A027F-E718-4F3E-B63D-8C0BB5B1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63440"/>
            <a:ext cx="10698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The player owns the choices. A modest one-time capture grant covers essential repairs; stronger defenses, expansion, and upgrades remain earned. Guided actions teach the loop through play.</a:t>
            </a:r>
            <a:endParaRPr sz="16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434BFBC-D320-4CC7-AF81-C388C302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49240"/>
            <a:ext cx="106984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Existing story, raid, and base systems are the foundation. Capture settlement and competitive arena are planned milestones.</a:t>
            </a:r>
            <a:endParaRPr sz="14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AFFA3CD-8163-4503-B4D7-AEF550F7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F3BB26A-C01B-4962-9896-B6900CA3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7C47212-0D68-4C05-9C1C-7CF777FB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40822D0-EB81-4AAF-BBFA-D8E3BB09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2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321751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C632F7E-1E71-473E-9C33-1FB9E5E8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46AA65E-B94C-4B0E-8FE5-651210E1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1754651-3522-4F37-BD27-AD081A4B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STRATEGIC FIT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07A296D-8586-4C9D-97C4-74CACB1E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A persistent game gives players reasons to return.</a:t>
            </a:r>
            <a:endParaRPr sz="2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96E37C2-E5ED-4AA4-96CE-9C523CF8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562356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ED28199-E1F6-4866-B640-7A85F3C6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99032"/>
            <a:ext cx="1097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01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E51C23-EB1E-4D7C-8D6F-66C97D9A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37360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Accessible through Pi Browser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F0330AB-B5BD-4677-ABDF-C5B7080D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0"/>
            <a:ext cx="5074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A Unity WebGL path and Pi SDK bridge already exist. Funding targets loading, memory, touch usability, and real-browser reliability.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3755F5D-0D8D-40F0-BFAF-AE19A1B7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43000"/>
            <a:ext cx="562356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39EE00A-50EB-4985-9C95-FE3F6036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399032"/>
            <a:ext cx="1097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684BFF9-B1CD-413F-9B5A-A663A31F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737360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Progress that feels earned</a:t>
            </a:r>
            <a:endParaRPr sz="2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D279601-20F4-4814-93E8-6AFE3319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5074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An inherited base creates an immediate goal. Repairs, layout choices, raids, and later upgrades support short sessions with visible progress.</a:t>
            </a:r>
            <a:endParaRPr sz="14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D1B336B-6DC7-4612-8EB1-E0B02DD7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562356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B2C5F67-A3FE-4BEB-A420-5FABB315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67912"/>
            <a:ext cx="1097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03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C23B150-4820-464C-A695-BD822456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Useful Pi integration</a:t>
            </a:r>
            <a:endParaRPr sz="2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0C09974-6A0A-4140-A7A4-B4FC7A5A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5074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Pi identity, quoted purchases, and rewarded-ad integration are implemented in source. Production eligibility and runtime proof remain separate gates.</a:t>
            </a:r>
            <a:endParaRPr sz="14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D76F256-02F3-4747-A370-4C43B30D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11880"/>
            <a:ext cx="562356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F67DD8-09A8-48B2-A444-C319B552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867912"/>
            <a:ext cx="1097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04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6BA8187-1D7F-4FE1-9B3E-E5F3365C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206240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Guidance across languages</a:t>
            </a:r>
            <a:endParaRPr sz="2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39F6509-00B1-43A3-9333-6BF63490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663440"/>
            <a:ext cx="5074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Playable onboarding and localization make ownership, repair costs, and the next meaningful action understandable to more players.</a:t>
            </a:r>
            <a:endParaRPr sz="14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E22348A-BCF2-41F2-A8CB-D277DE84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62B2CDB-9E7F-4EED-A421-80A800D4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9CCF00B-78BA-4AF2-8E97-9D786568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290B655-4E25-4675-A19D-556C8A95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3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712980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5807251-B107-4208-A6DB-98E4E58F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F82E18C-D116-4AA6-AFE6-69A58EF5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DA1A63D-B6FD-4353-B50D-F35A2C08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CURRENT STATE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80EA09-1F35-460E-9127-3DEDF1A2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An existing game, with a Pi-specific path to finish.</a:t>
            </a:r>
            <a:endParaRPr sz="2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1209207-AABF-49A1-AE43-4F6B22B7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278892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0D16316-9567-4627-9686-8FDE6A85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ANDROID</a:t>
            </a:r>
            <a:endParaRPr sz="2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132D5FB-8AA6-4354-806C-9B82AF66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19072"/>
            <a:ext cx="2514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Published game foundation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3A93303-292E-4F6E-A229-552FE8FA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176272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Published on the Solana dApp Store for Android players.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B941767-5C03-48DD-A23D-484AAAFA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097280"/>
            <a:ext cx="278892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15D18B0-778B-4059-82AF-332D9FCC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23444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PI SDK</a:t>
            </a:r>
            <a:endParaRPr sz="2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C6665B-E70C-4EE8-92BD-6E8397AE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719072"/>
            <a:ext cx="2514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Auth, payments, ads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1F456D-C44A-4F4D-A8E2-C7A2975F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176272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Unity WebGL bridge and backend verification paths are present.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0FBC59D-492F-48FF-AC5C-CC063209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97280"/>
            <a:ext cx="278892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61EC65E-2EAA-4C59-8622-24EBAC3D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23444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PLAY</a:t>
            </a:r>
            <a:endParaRPr sz="2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04E061E-C9CF-4792-BF32-168BFC15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19072"/>
            <a:ext cx="2514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Story, raids, base systems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8069FD2-BCB2-4B17-A439-0C033245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176272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Existing combat, placement, economy, and management systems.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59EFEDE-8EA2-489E-9011-85977995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097280"/>
            <a:ext cx="278892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5875">
            <a:solidFill>
              <a:srgbClr val="C9A227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07E7A3B-67DE-408D-91AC-F713D349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23444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C9A227"/>
                </a:solidFill>
                <a:latin typeface="Georgia"/>
                <a:ea typeface="Georgia"/>
                <a:cs typeface="Georgia"/>
              </a:rPr>
              <a:t>NEXT</a:t>
            </a:r>
            <a:endParaRPr sz="2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9013DBC-0E76-49D3-BBE9-D5C4C3E9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9072"/>
            <a:ext cx="2514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Pi Browser production QA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99B29CA-AAE7-45FB-9F6D-8F980514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2176272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Load, memory, first-session, and approval evidence still needed.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C07B20E-68F0-4E53-9D95-08319F94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3280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FOUNDATION IN THE CURRENT CODEBASE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4423CC8-9672-4368-A3D4-2BE815A2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3320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—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48F13F9-43CD-415D-A413-1EB744CF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7498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Town management: build, upgrade, train, research, and work queues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95584D1-A5F7-4CE2-990B-38DA0076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87368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—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EAE058-3486-4182-8055-6938AAEC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7498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PvE raid combat, deployment, scoring, and loot flows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924F1DA-924B-4BCB-B3AE-E6FAC6C5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1416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—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8D00E97-309E-4EB8-8F9D-CC16380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71416"/>
            <a:ext cx="7498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Heroes, troops, defenses, crafting, storage, and resource economy</a:t>
            </a:r>
            <a:endParaRPr sz="14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FBA2123-8898-46A9-8614-1E3210DB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5464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—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1B192BA-4EEE-4A62-90A0-AB6CEC35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55464"/>
            <a:ext cx="7498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Work orders, regressions, device captures, and release gates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7BFD51A-2C02-4141-8766-15E2D03F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951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—</a:t>
            </a:r>
            <a:endParaRPr sz="14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1EFCCBE-6933-48CF-AE66-561B8EDA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39512"/>
            <a:ext cx="7498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Localization foundation and first-session improvements in progress</a:t>
            </a:r>
            <a:endParaRPr sz="14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FF6F385-202E-4EE9-9362-E0803217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383280"/>
            <a:ext cx="333756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74DB6EF-48A3-4C4D-8EB3-2AD13D12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566160"/>
            <a:ext cx="2971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PI BROWSER APP</a:t>
            </a:r>
            <a:endParaRPr sz="11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78212C0-6DCC-45F8-9A99-2E01CA64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93192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echoesofelarions6578.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pinet.com</a:t>
            </a:r>
            <a:endParaRPr sz="11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7B77EBD-E28D-4734-A486-3ED12839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800600"/>
            <a:ext cx="2971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WEB HOST</a:t>
            </a:r>
            <a:endParaRPr sz="11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DA664075-4403-4187-9033-9C1E3157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047488"/>
            <a:ext cx="2971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echoes-of-elarion.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vercel.app</a:t>
            </a:r>
            <a:endParaRPr sz="12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CAA21F5-AC8C-40CF-BC3A-70F55636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5441D9B1-5C14-44BE-A897-182285F5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2EA9CB90-619D-4CAB-8E53-DDBD18D9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B252029-CCFC-4713-AEA8-59A230AC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4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415034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1DECD6-31BD-43AE-BEBD-C4D62E27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E4AED0E-9670-47B8-B2F8-08544B6A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B82CA06-D788-4E39-BC98-CB07F991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TECHNICAL DEPTH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79E6A4B-45D2-40FB-880C-436BE000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Pi integration is already in the codebase.</a:t>
            </a:r>
            <a:endParaRPr sz="2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B12F775-2C3E-49A6-B246-0806ABCF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The proposal builds on an existing Unity WebGL bridge and backend. Code evidence establishes implementation; production validation and platform approvals are still explicit release gates.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979DC53-FA60-43C4-AB89-94679FBD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EF86B02-A2B0-4BF3-9D4F-84A3CEB5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64792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Pi authentication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EDA4EE5-DAA2-407A-9A94-664AB106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764792"/>
            <a:ext cx="141732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BBFA8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12B6C81-C0B1-4FD6-A2B6-7CE7E3A8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764792"/>
            <a:ext cx="1417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BUILT</a:t>
            </a:r>
            <a:endParaRPr sz="1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43FF0E9-970A-4FCA-9EA4-039CC086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655064"/>
            <a:ext cx="6126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The browser bridge initializes Pi SDK and requests authentication through the Pi platform adapter.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8A60E01-25CD-4D30-8ABF-708B490B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661FC90-BEFD-472F-87E9-392DA4BD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Server identity check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EF846DC-DE99-4A71-8693-C19EAD85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24912"/>
            <a:ext cx="141732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BBFA8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81D66E2-ABE7-4F76-B325-9760257E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24912"/>
            <a:ext cx="1417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BUILT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46DC804-429B-4053-853D-5E0BA5E8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615184"/>
            <a:ext cx="6126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The backend verifies the Pi access token against Pi identity before trusting the player account.</a:t>
            </a:r>
            <a:endParaRPr sz="13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DA0E55B-35A2-428D-B67C-90792593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493C2FC-D649-4120-9BA5-9F70DB9D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85032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Quoted payments</a:t>
            </a:r>
            <a:endParaRPr sz="16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FCFAA78-6DE2-4446-B87F-067771BA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685032"/>
            <a:ext cx="141732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BBFA8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33C24C6-0A4A-443C-ADD0-704E5296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685032"/>
            <a:ext cx="1417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BUILT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2065A25-A812-454E-B3B7-839D52B5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575304"/>
            <a:ext cx="6126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Server-owned quotes are compared with Pi payment details, including user, amount, and metadata, before approval.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DD07492-4713-4691-A74C-AB9BD5B1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912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7DE25E6-3FF8-4A09-A968-97E42F45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45152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Rewarded-ad path</a:t>
            </a:r>
            <a:endParaRPr sz="16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0151FB0-8FDB-4327-AA6E-CDBD68E3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645152"/>
            <a:ext cx="141732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9A227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1E35FAC-9E3A-4BAC-AAAC-C9A5AFDD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645152"/>
            <a:ext cx="1417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BUILT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1A5CFDB-D336-42C6-9E1E-902D2D5C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535424"/>
            <a:ext cx="6126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The WebGL platform exposes ad readiness and display; a backend verification path handles reward evidence.</a:t>
            </a:r>
            <a:endParaRPr sz="13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65FBF8-33B0-4092-9DA7-E15E12C6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924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6515ACB-FD51-4040-AAE5-F2E23E03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05272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Pi Browser release QA</a:t>
            </a:r>
            <a:endParaRPr sz="16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3224F57A-8FC3-4721-957C-483C0F4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605272"/>
            <a:ext cx="141732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B8CFF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B523BE4-FA8E-4BD6-94DA-6BC8273B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605272"/>
            <a:ext cx="1417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PROPOSED</a:t>
            </a:r>
            <a:endParaRPr sz="10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ABA66B2-B009-43F2-A10B-6220AD6B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5495544"/>
            <a:ext cx="6126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Validate loading, memory, sign-in, cancellation, purchase recovery, and approval requirements on supported devices.</a:t>
            </a:r>
            <a:endParaRPr sz="13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819A93C6-8181-450A-A0E5-8CAC0094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AB71BA08-A6E6-4E02-899A-7081AB21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2564127-6014-4943-A9C2-E4BDAB57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4ACC1A6-4A26-44E9-910B-D9AAB56A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5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836491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48DB2E-3506-4E46-ADF6-44963DA1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B064C11-97BC-406A-802C-055A6664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693E0E-C685-4330-B1BD-8DAE8DC3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BUSINESS MODEL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EB3CACD-EA75-47D3-8305-96BFD829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Free-to-play with optional purchases and rewarded ads</a:t>
            </a:r>
            <a:endParaRPr sz="2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685F197-9474-4F59-9675-238880A1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745236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26FA4C7-F7EC-4CA2-9EAA-DCA16881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7592"/>
            <a:ext cx="7040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Free-to-play strategy RPG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1ED62FD-2824-4D61-B288-394C4CCD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3352"/>
            <a:ext cx="70408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Players enter the core game without an upfront purchase. Raids, base development, and return play create the foundation for long-term engagement.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06A10B9-6BC8-4010-A04E-FD221717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745236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29DA08E-4323-4FFE-9C87-DF3432FF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7792"/>
            <a:ext cx="7040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Optional purchases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B142C41-BA4F-48F5-B3F1-9EF78B86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3552"/>
            <a:ext cx="70408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The catalog includes cosmetics, resource packs, and time-saving conveniences such as repairs and builder capacity. Stronger progression remains an earned long-term goal.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09F8649-7EC8-4F26-A88B-3CE7A6CB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745236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FC841CF-D944-4C28-9C62-591AD2CC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7992"/>
            <a:ext cx="7040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Opt-in rewarded ads</a:t>
            </a:r>
            <a:endParaRPr sz="1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299EFD-638F-4EB6-8638-EDD6A446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3752"/>
            <a:ext cx="70408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Players can choose to watch an ad for a defined in-game benefit. Verified ad rewards provide a second revenue stream alongside optional purchases.</a:t>
            </a:r>
            <a:endParaRPr sz="14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A732FEA-E5BB-4419-8FBF-32F55AEF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143000"/>
            <a:ext cx="361188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5875">
            <a:solidFill>
              <a:srgbClr val="C9A227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C237D66-81DF-48F7-87EE-2F259489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371600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COMMERCIAL VALIDATION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3BA4011-574F-4FFC-8E49-E1C73CC0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828800"/>
            <a:ext cx="3200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Player choice.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Measurable demand.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3E90160-F47A-4962-82DC-0C8F3D9E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108960"/>
            <a:ext cx="3200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Commercial testing to date has been limited to household use. An external revenue and retention baseline is not yet established.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FD13F66-13B6-4908-9B39-805A8BFA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617720"/>
            <a:ext cx="3200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Pi is a payment option, subject to production approval. Milestone 1 establishes the funnel baseline; later work measures return play and purchase completion.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476A840-47E7-42B1-99C5-BFD15535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3E82061-6EBD-486E-A2D4-5E54843C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1F8DA95-0E36-4886-AB94-AE8434C7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0AF1A45-278A-498F-BCA3-8C19D65E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6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707823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F468C1-F429-47FC-952D-21B226CD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62AD58D-6B99-48B0-B871-1787C638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0249409-0851-4556-BBF7-E6DC40EC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CAPTURE &amp; ONBOARDING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BC82ED1-9B2C-4430-B064-57AFEFF7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“This base is yours.” Then learn by doing.</a:t>
            </a:r>
            <a:endParaRPr sz="2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A011D13-E20B-46EB-AABD-9994F89A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Agreed product direction: inherit the captured base and its damage. A modest one-time grant covers essential repairs. The proposed first playable slice teaches ownership through four real actions.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4D2DBC8-B40E-4D51-B0A7-D9128703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27889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6E27A6E-A528-4296-B21A-E34B2404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OWNERSHIP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4F6BFA-61FE-4DAD-AC2A-82F733B8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86000"/>
            <a:ext cx="2514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Claim</a:t>
            </a:r>
            <a:endParaRPr sz="2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1765708-EE41-4851-AF1B-8C8CADA8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2514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Reveal your base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858E360-4029-431A-9B7F-8342790D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783080"/>
            <a:ext cx="27889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A70FD52-C568-4917-B004-F6D440ED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65960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ESSENTIALS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75723B4-32FC-44ED-8514-1B67BBE8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286000"/>
            <a:ext cx="2514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Repair</a:t>
            </a:r>
            <a:endParaRPr sz="2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B87F14-701B-45FE-BAF2-97844A5C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880360"/>
            <a:ext cx="2514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Use starter supplies</a:t>
            </a:r>
            <a:endParaRPr sz="14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4D368FB-E522-4F4B-828B-2B7FDC29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783080"/>
            <a:ext cx="27889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3FC625C-5AFE-4132-BB7E-EC6B2A93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965960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PLAYER CHOICE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ED7AA8E-8E74-48E3-8233-94C731C9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286000"/>
            <a:ext cx="2514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Design</a:t>
            </a:r>
            <a:endParaRPr sz="2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92EE1EA-EB46-43EE-AB74-A2D16D53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880360"/>
            <a:ext cx="2514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Move or improve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52F7F1B-678A-429A-8B24-51035E47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783080"/>
            <a:ext cx="27889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A3CA14D-AFD9-49E0-88D6-6FF1B2DB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65960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PROVE IT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D73A843-9840-4B4E-B1BC-B7E8B219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86000"/>
            <a:ext cx="2514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Test</a:t>
            </a:r>
            <a:endParaRPr sz="26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D523C23-0BFA-43E6-ABFF-C198C3F3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80360"/>
            <a:ext cx="2514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Short AI battle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B8D0D97-0461-486F-93F8-7FE41FFB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Grant size follows the actual essential-repair basket. One server settlement per capture entitlement prevents replay farming.</a:t>
            </a:r>
            <a:endParaRPr sz="13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05BCE57-B045-42C9-9E4E-C03E9F14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562356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F7AC965-7C25-4D5A-AB6D-7279C5B6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5212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A REASON TO COME BACK</a:t>
            </a:r>
            <a:endParaRPr sz="11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47751ED-B9B8-4DED-8249-009FA59F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52120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Keep meaningful early choices affordable. Earn stronger defenses, expansion, and later upgrades through continued play.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6B58E1C-F6B8-456C-ADBD-CDFCFA52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43400"/>
            <a:ext cx="544068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99254E6-884B-45EB-B205-D61679E3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26280"/>
            <a:ext cx="5029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THE COMPETITIVE PATH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05D6A08-C1FB-486B-AA27-5C283876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892040"/>
            <a:ext cx="50292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Use the customized base, defenses, hero, and squad in a shared AI/player arena design. Fair player battles need authoritative results and balance gates.</a:t>
            </a:r>
            <a:endParaRPr sz="14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C09E7C2-C98E-4A46-B2A3-2C46CB38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AA9063F-EA10-4A67-8497-FE4AC6A2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06891E5-6928-4C98-8DFF-5EE73105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2F23D17-DF1B-49C7-9DD6-F10F5F5D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7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499171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FC60C5-ED1E-4D61-99D5-5DDA26C2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7752FBB-5C5C-49FB-B6B5-BD7533CB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F2E16C-4813-47FE-AB0E-3DE0F40D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PROPOSED SCOPE · 12 WEEKS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4F03FC3-0961-41FC-9694-43D67790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What the funding delivers</a:t>
            </a:r>
            <a:endParaRPr sz="2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62BD3F9-F064-43AE-8410-3BBF4908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8992"/>
            <a:ext cx="11247120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549F260-1BF4-4423-B00A-5311F4C7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8992"/>
            <a:ext cx="640080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3241580-9AA2-4221-A657-C4DF9A84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8992"/>
            <a:ext cx="64008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0B1220"/>
                </a:solidFill>
                <a:latin typeface="Georgia"/>
                <a:ea typeface="Georgia"/>
                <a:cs typeface="Georgia"/>
              </a:rPr>
              <a:t>A</a:t>
            </a:r>
            <a:endParaRPr sz="2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2E2258-4267-4E6B-8516-A38CFD5C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207008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Pi Browser and SDK reliability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0374B1F-6BBD-48C3-B2ED-16F9EC44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536192"/>
            <a:ext cx="10149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Load and memory profiling; sign-in, cancel, retry, payment, and rewarded-ad test cases; documented production approval requirements.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06747B9-8E71-4A83-A8EA-45042CC3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9424"/>
            <a:ext cx="11247120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752BD95-4706-42A6-A8DF-C7321F5A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9424"/>
            <a:ext cx="640080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45ABBC1-14BC-4418-AC3F-A934CA00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9424"/>
            <a:ext cx="64008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0B1220"/>
                </a:solidFill>
                <a:latin typeface="Georgia"/>
                <a:ea typeface="Georgia"/>
                <a:cs typeface="Georgia"/>
              </a:rPr>
              <a:t>B</a:t>
            </a:r>
            <a:endParaRPr sz="2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4B1E256-5FAA-4C48-A3BD-D5E37C73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377440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Playable onboarding and localization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8217AC9-1066-4D03-A655-2D9DC9FD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706624"/>
            <a:ext cx="10149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Make core loops legible, remove dead ends, and ship priority first-session language coverage. Teach base ownership, essential repairs, and layout choice through actions that resume safely.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F19A5D4-8964-4C5E-8303-B322A80D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856"/>
            <a:ext cx="11247120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7CA9795-B4FC-4779-8678-013C02F8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856"/>
            <a:ext cx="640080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4EF094B-7E8A-42BC-9E56-3BC22791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856"/>
            <a:ext cx="64008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0B1220"/>
                </a:solidFill>
                <a:latin typeface="Georgia"/>
                <a:ea typeface="Georgia"/>
                <a:cs typeface="Georgia"/>
              </a:rPr>
              <a:t>C</a:t>
            </a:r>
            <a:endParaRPr sz="2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33ECBA8-B339-4922-ACE9-DDF55975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4787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Capture-and-rebuild proof slice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53FB6EE-B30E-4A2B-B5AE-489A746A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877056"/>
            <a:ext cx="10149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One inherited base, damage and essential repair flow, one-time grant settlement, layout persistence, and an AI test using that build. Competitive player matches follow later gates.</a:t>
            </a:r>
            <a:endParaRPr sz="13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4ED9785-FB1D-469A-BA1E-84962F61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0288"/>
            <a:ext cx="11247120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3D32A5C-A5CF-4E06-B730-0718E4BA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0288"/>
            <a:ext cx="640080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98F0F9B-5A86-46B5-92CE-19B51B02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0288"/>
            <a:ext cx="64008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0B1220"/>
                </a:solidFill>
                <a:latin typeface="Georgia"/>
                <a:ea typeface="Georgia"/>
                <a:cs typeface="Georgia"/>
              </a:rPr>
              <a:t>D</a:t>
            </a:r>
            <a:endParaRPr sz="2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7FA3001-3992-46C8-8E26-5C32511B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718304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Release evidence and contribution</a:t>
            </a:r>
            <a:endParaRPr sz="16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E8DFE63-BCAF-4335-9048-F291B94E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047488"/>
            <a:ext cx="10149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Device/browser regression, performance pass, release candidate, approval submission package, baseline metrics, and public integration notes.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9EE2760-A93B-41A5-99DE-1B7F60F9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8076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Bounded scope: prove the player journey on one base. Live competitive arena and broad content expansion are outside this initial funding request.</a:t>
            </a:r>
            <a:endParaRPr sz="13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9713F57-6885-4849-94B1-6F2E6D8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474D9EA-B69C-464B-B9DD-996D09E9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727C035-E682-4EE8-855C-FCF47B11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A0A8514-743B-4CF4-8BBA-BA294EFC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8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348138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541081A-C31F-4454-9507-36DA9B42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0DEEE22-8D21-448B-86E0-D8E00ADE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E4BB17F-2388-4525-BDBF-EF81E301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TIMELINE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55C8F2-885B-4192-912A-27F7EDDA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Four proposed milestones, with reviewable exits.</a:t>
            </a:r>
            <a:endParaRPr sz="2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E8FE8FF-6251-4063-8C3A-26B78D0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283464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0DD5092-F9F2-4A77-92F6-95AC84C0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2834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753D21D-C99A-4BF2-AA12-C3B71177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M1  ·  WEEKS 1–3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E266500-C6DF-422C-A69E-1BF11B48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2560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Pi Browser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&amp; baseline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70FD008-2C98-4C92-AF13-5C7654D2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68880"/>
            <a:ext cx="256032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Profile load and memory. Audit SDK flows and approval requirements. Capture baseline funnel metrics.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FA3D30F-6A18-4B9B-8970-EF1AED75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0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EXIT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8029BBE-54AA-41C9-8070-D8FFD3C9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34840"/>
            <a:ext cx="25603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Sign-in, cancel, retry, and payment cases have reproducible browser evidence; failures are visible.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C9C4556-2168-4A04-A03E-5E6E706A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097280"/>
            <a:ext cx="283464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7B95652-F5EC-4EE7-8A9B-5CA0B8D6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097280"/>
            <a:ext cx="2834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C1420E7-44D2-4D71-8038-2534346C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280160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M2  ·  WEEKS 4–6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064FD04-92C8-4A02-A511-9BEE3807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00200"/>
            <a:ext cx="2560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First session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&amp; localization</a:t>
            </a:r>
            <a:endParaRPr sz="1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69C8A98-B42D-413B-A989-2D0A927D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68880"/>
            <a:ext cx="256032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Core-loop guidance, resumable milestones, and priority language coverage. Remove first-session dead ends.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7B03B87-D709-49E0-B6A1-3427DC1D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206240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EXIT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7148D4E-C546-4228-AC42-4C3D8511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434840"/>
            <a:ext cx="25603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A new player reaches raids and understands the next objective without external instructions.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580740C-E159-4EC9-8F52-A57D9EAB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97280"/>
            <a:ext cx="283464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E7E4548-92A4-4E86-920F-91048CDA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97280"/>
            <a:ext cx="2834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DD7E73-AF93-40AB-A7BD-9EFDFDF9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280160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M3  ·  WEEKS 7–9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A7C4FBD-98F3-4035-9629-4582A45E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2560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Capture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&amp; AI proof</a:t>
            </a:r>
            <a:endParaRPr sz="1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F616050-EA8A-44CE-8725-A0F9143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68880"/>
            <a:ext cx="256032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Inherit one base. Repair, rearrange, persist, and test it against AI. Settle the starter grant once.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1327096-3E46-4401-A248-8C5EC0BE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206240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EXIT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48DD1F0-A3EB-4B9E-9C20-8D8FB552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434840"/>
            <a:ext cx="25603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Resume preserves choices; retries cannot repeat the grant; the AI test uses the saved layout.</a:t>
            </a:r>
            <a:endParaRPr sz="12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FF733B5-A4F3-4860-BEB9-103C2AD1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097280"/>
            <a:ext cx="283464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A864087-FEE8-4388-B02C-1856DF12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097280"/>
            <a:ext cx="2834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14429F6-5301-4F1D-A1A3-E0284E02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280160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M4  ·  WEEKS 10–12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782087C-8C98-45FD-8E42-B6DA83A1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600200"/>
            <a:ext cx="2560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Pi release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&amp; contribution</a:t>
            </a:r>
            <a:endParaRPr sz="18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35E141F-CE78-4487-9A8E-5E956598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468880"/>
            <a:ext cx="256032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Stability pass, release candidate, approval package, metrics report, and public developer notes.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BA36878-62F0-4F3B-A2B5-F057A080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206240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EXIT</a:t>
            </a:r>
            <a:endParaRPr sz="1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18B2D89-0CC1-4B16-B6AD-5FDD0FB1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434840"/>
            <a:ext cx="25603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Reviewable build and evidence delivered. External platform approval tracked separately.</a:t>
            </a:r>
            <a:endParaRPr sz="12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DF0400D-7DDB-463B-90C5-92414180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6BCCE14-5A37-44F6-8087-51A4AB4C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E524EDB-F5D2-4FC0-B82A-56146390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421ABF4-5D5D-48B6-B105-AD0188EB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9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576402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E251327-07FA-434A-9E97-59186DB5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EBAF52A-9246-4076-852E-C4B228C6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09230D-DE46-421A-9F5E-1291AB7F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USE OF FUNDS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912DC38-CBD7-460F-9964-68E03C3D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$25,000 proposed, across four milestones.</a:t>
            </a:r>
            <a:endParaRPr sz="2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3B7E56-2B77-4E4E-B295-F76152B3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383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Engineering &amp; Pi integration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0856B9D-78D8-4E84-91D5-8941DC0A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289304"/>
            <a:ext cx="402336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233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D24E887-EF34-45C1-8B5E-ADE8188A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289304"/>
            <a:ext cx="402336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67F2316-46BF-4D88-8193-8662233F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143000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$10,000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24CFC14-84E3-4A5E-9AD9-C1689372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3383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Mobile UI / art / content / localization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8CEBACA-F4DB-4367-A767-F323E06D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929384"/>
            <a:ext cx="402336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233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86524C7-B028-4125-BEE2-3557FB78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929384"/>
            <a:ext cx="160934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536B4F-5798-4F1E-BB9C-7C193C45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783080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$4,000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73D1620-F2B4-45F2-ADCF-0DB25791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3383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QA / devices / release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8978F42-25F3-491C-97E7-FC957527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69464"/>
            <a:ext cx="402336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233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194DA75-A7EF-4A3D-92CD-7C8466B2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69464"/>
            <a:ext cx="120700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137FB96-499E-46D6-A6E6-696D00C6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423160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$3,000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A317F59-9C7D-4882-8EE2-3B602640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3383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Launch / community / docs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A3FE669-FAF3-48AA-A1D1-3B1DD55B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209544"/>
            <a:ext cx="402336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233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2394CCB-FCE1-4D7A-9A1B-EB0D8D30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209544"/>
            <a:ext cx="120700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1202496-B268-4EE3-87F6-3FA7FEBD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063240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$3,000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DD77C6B-E939-47D9-B471-D743909C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3320"/>
            <a:ext cx="3383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Backend / telemetry</a:t>
            </a:r>
            <a:endParaRPr sz="13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C53DE87-F134-4D24-ABE1-3C5986AA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849624"/>
            <a:ext cx="402336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233"/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F20C0A5-4255-4453-A602-E7D85E76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849624"/>
            <a:ext cx="100584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4B749D0-7E08-4696-A316-7FB106E8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703320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$2,500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A200261-1640-4254-93D4-1A9C2F3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3383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Security / reliability</a:t>
            </a:r>
            <a:endParaRPr sz="13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E26F979-6D9A-4F12-8585-106C733F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489704"/>
            <a:ext cx="402336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233"/>
          </a:solidFill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C0489BF-84F7-4A65-8FEF-43D3D5A3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489704"/>
            <a:ext cx="100584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3B8C3D7-1331-41A9-AA1E-6BEC195D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343400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$2,500</a:t>
            </a:r>
            <a:endParaRPr sz="13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02A5786-19D8-4390-83D7-DC0370A8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143000"/>
            <a:ext cx="251460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335E178-EE42-41D3-8BE2-7A28FD12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37160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>
                <a:solidFill>
                  <a:srgbClr val="0B1220"/>
                </a:solidFill>
                <a:latin typeface="Georgia"/>
                <a:ea typeface="Georgia"/>
                <a:cs typeface="Georgia"/>
              </a:rPr>
              <a:t>$25,000</a:t>
            </a:r>
            <a:endParaRPr sz="24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F0D6353-FAFA-4A2F-9F92-0FBEF965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965960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Total requested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over 12 weeks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369DACC-5970-4B0D-8A57-1074AFE5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514600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Milestone-based terms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proposed for agreement.</a:t>
            </a:r>
            <a:endParaRPr sz="12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4616F38E-8B03-4345-B882-DAB6CFA8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383280"/>
            <a:ext cx="25146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32B964E-6559-45D6-980E-2415F25A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566160"/>
            <a:ext cx="2240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WHY THIS SIZE</a:t>
            </a:r>
            <a:endParaRPr sz="11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A11E042-63D7-41DA-BA99-3599CBC6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886200"/>
            <a:ext cx="224028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Engine, art pipeline, backend, and an Android release already exist. Funding focuses on Pi Browser reliability, the first session, localization, and a bounded capture-and-rebuild proof.</a:t>
            </a:r>
            <a:endParaRPr sz="13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FE1EAF1-8D01-4CBA-AEB5-645A6B7A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DB34CC80-C3EC-4A78-B384-461F1C0F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4CE6496-64AB-4D68-896E-3EC6A5D8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267143C-92C3-4429-8CB1-8792BB3B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10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015289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36B4B5D-B1BA-4CCD-9E40-890A5D69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66B64BC-8610-4D0E-B5E1-6F3F74F8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85F421-52B6-4D92-AA21-3249F85D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SUCCESS METRICS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3F67077-F555-4C66-8628-421C91FF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How we will know it worked.</a:t>
            </a:r>
            <a:endParaRPr sz="2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7F2E239-23F7-40D0-9D79-63BC0E49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Milestone 1 captures the baseline. Targets are agreed from measured starting points.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EDFBB8B-3A3E-4CCE-999D-7030C607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3657600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B7F4541-B421-4841-8B7B-2C8F16F1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312B183-B180-4424-AEB7-3CAE510D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4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ACTIVATION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5C55C67-14DD-43F4-9878-AC0C09BA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228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▸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1581FDD-C3C5-48A7-A029-569E13B8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40280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Qualified Pi Browser launches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B9CB807-ABCB-4CC1-A616-20284152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7208"/>
            <a:ext cx="228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▸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0A75A1B-EFF1-43A1-851B-9D85EA25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07208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Pi sign-in completion rate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BE33165-0204-4C82-AB25-9642E963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4136"/>
            <a:ext cx="228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▸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40E59FF-9C51-46F4-9E7F-A1AA6E51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74136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First-session completion rate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A6CF56-1E95-474F-9BFA-7928ECF0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1064"/>
            <a:ext cx="228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▸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D783D7-CDBA-4027-AE97-2C6BF7E8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41064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Time to first meaningful action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A242173-91F8-44EF-ABB3-8DABC825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7992"/>
            <a:ext cx="228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▸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A4CB446-4CD5-4821-9640-360288F0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07992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Locale coverage of first-session flows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CB24476-CA33-4FBD-8468-2C01AE72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508760"/>
            <a:ext cx="3657600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50D0935-7D15-429F-8467-4ACA83C4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50876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E0147A2-14AC-4CF5-89FA-ADA7FB01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737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4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PROGRESSION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58660ED-A91F-4991-A071-3F64B60A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240280"/>
            <a:ext cx="228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▸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EC66734-AE75-4295-810A-667D89C9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40280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First build, train, or research action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8B34C7C-11A1-4218-8372-C68B187D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807208"/>
            <a:ext cx="228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▸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3B8C737-8D40-4525-9235-60A72D2C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7208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Reaching and completing a first raid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1372BC8-8FBC-486B-8DC7-37312AE2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374136"/>
            <a:ext cx="228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▸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A9FB18F-B0DB-427E-A8BE-1027E4FC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74136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Capture and essential-repair completion</a:t>
            </a:r>
            <a:endParaRPr sz="14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8F2C7BE-E070-434E-B239-4987D6FB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941064"/>
            <a:ext cx="228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▸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34C774E-3F03-4758-A477-966C816C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41064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Saved layout and AI-test completion</a:t>
            </a:r>
            <a:endParaRPr sz="14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84E9EFC-75A8-4B4C-9087-BCEA39BA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508760"/>
            <a:ext cx="3657600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77E8A53-A79C-42A8-966C-0364D116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50876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AAEE444-2A17-47F0-881A-9BD5B305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737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4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HEALTH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563A818-353A-444C-A0B9-7B68CA3F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40280"/>
            <a:ext cx="228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▸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859BB89-2943-45A7-891F-F2428BD3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240280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D1 and D7 return rate</a:t>
            </a:r>
            <a:endParaRPr sz="14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BE2FB92-DFE9-44AC-9C96-1A902ADF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807208"/>
            <a:ext cx="228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▸</a:t>
            </a:r>
            <a:endParaRPr sz="12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EF9D39B-B8B9-490E-90A0-3C95790C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807208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Crash-free session rate</a:t>
            </a:r>
            <a:endParaRPr sz="14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DB036EB-BEF9-4367-8164-00C8D62B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374136"/>
            <a:ext cx="228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▸</a:t>
            </a:r>
            <a:endParaRPr sz="12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47DAD618-0DF6-404C-A5E1-0DC3D3B0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374136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Payment and ad-settlement failure rate</a:t>
            </a:r>
            <a:endParaRPr sz="14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87351D3-EFCE-4357-BCAF-CFED02E9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941064"/>
            <a:ext cx="228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▸</a:t>
            </a:r>
            <a:endParaRPr sz="12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55D25CE-0546-4700-BDF0-0A1383A3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941064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Browser load time and memory failures</a:t>
            </a:r>
            <a:endParaRPr sz="14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ADD59E7-6A18-4F9F-BE8B-A8F2B48D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F66D2930-39DD-4B1E-AECE-B8186D82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CF95442-1A13-4C54-82F9-4D9ACB47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519452A-08A6-4CC0-9A23-83E9AB80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11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1613397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DB17A30-6AED-4D32-A40D-93CBDF6B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375B72-2D53-48BB-86AD-B5E2B068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79AE20-E73E-42E6-9253-F64ADF6D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RISK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30FFEEB-137F-4DF5-B713-59E144D4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Delivery risks and mitigations</a:t>
            </a:r>
            <a:endParaRPr sz="2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2BEBAD5-C93B-4044-87AC-2DAC8EA6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56235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AECE83C-72A3-4FF6-882D-0C32B370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4168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Browser load and memory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58E5599-8C95-41F8-9391-360C1E9A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5166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Profile real Pi Browser devices; prioritize asset loading and measured memory fixes.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03C18BA-C255-469F-BBFB-1CB2947E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43000"/>
            <a:ext cx="56235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A013277-894E-4CE0-BAA9-CCBDF94F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344168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Sign-in or purchase interruption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6AAEB2E-031B-4557-B66E-D7BEE30D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83080"/>
            <a:ext cx="5166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Explicit cancel, retry, and recovery cases with server checks and browser evidence.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3213BB1-6419-4405-B07B-50033E71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56235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0A79953-6CF7-480D-8E2A-78E70163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5808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Scope exceeds a small team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0827F69-6E1E-4055-8FF8-2FFD7091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4720"/>
            <a:ext cx="5166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One captured base and one AI proof slice; competitive player matches follow separate gates.</a:t>
            </a:r>
            <a:endParaRPr sz="14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0BFF466-CC8C-43A5-A30E-57CFFA9D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834640"/>
            <a:ext cx="56235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FBD8B0B-F1EF-4B64-8D05-92EED15B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35808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Platform approval timing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64684B3-6F97-4144-919E-0764B4E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74720"/>
            <a:ext cx="5166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Prepare required evidence early. Track Mainnet and ad eligibility separately from code delivery.</a:t>
            </a:r>
            <a:endParaRPr sz="14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B4B30B3-3CB4-4847-BEB6-F8F3D8FB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6280"/>
            <a:ext cx="56235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BE3DFF3-A696-4848-AC1A-1AF5E4DB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7448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Untrusted competitive results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EEB55C9-F0B6-484C-8E8F-89E1A15F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5166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Keep ranked rewards gated until authoritative match settlement and replay-abuse tests pass.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C9E44C4-1633-4833-B37E-BFF52256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526280"/>
            <a:ext cx="56235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DEEB8E5-C52A-4CAE-A713-66DB68C2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27448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Localization quality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1BB6C48-8284-4989-A4CB-470B11E5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166360"/>
            <a:ext cx="5166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Prioritize first-session strings and layout expansion. Review translations in the playable flow.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8A52FFF-3A10-4054-B362-A65B8F48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2DD85A2-C0F1-4B85-B729-434533C4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B559FDC-FFAC-4474-B773-F2E1875D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B0B1E8D-82E2-4288-979D-EBAF53EC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12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311859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A99D2B1-5802-4A28-84F6-3AE86DE2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83EB3F8-0D39-46CF-8CDA-81982656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2D0A9DB-F841-4E09-A3AE-D6B1E4A0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EXECUTION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3FB0AC1-ADA0-4B17-9015-D1FFFBF5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An existing foundation. Accountable delivery.</a:t>
            </a:r>
            <a:endParaRPr sz="2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8FC375-4467-42F6-8149-EEED5573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7040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Led by a hands-on technical product lead with two decades in complex software delivery, spanning release quality, regression, requirements, and cross-functional execution.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760F97A-D99A-47C7-835C-C28A571D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10972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3D6DFC-CC71-4B54-BA17-634C14CD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6766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Published Android game on the Solana dApp Store</a:t>
            </a:r>
            <a:endParaRPr sz="15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F091B9A-1230-41EC-A41E-0C8FEEE8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0972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36FEDB2-A6AF-43CC-9F9C-76160690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6766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Structured work orders with acceptance criteria and named owners</a:t>
            </a:r>
            <a:endParaRPr sz="15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E2EEA3C-6A15-47C0-99D5-DE12DE8D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10972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77F250F-6451-4212-93F6-8039F0F9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0"/>
            <a:ext cx="6766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Automated regression suites for core systems</a:t>
            </a:r>
            <a:endParaRPr sz="15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1C92FE2-B1C6-42F5-9226-E506AA50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10972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18FE6F-938B-4D62-A5F9-874143AC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6766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Headless captures and on-device verification workflows</a:t>
            </a:r>
            <a:endParaRPr sz="15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9C8982B-0F0A-45F6-8AF4-3AA2C2E6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9120"/>
            <a:ext cx="10972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A90D503-8418-43DA-8CCF-1319A13F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89120"/>
            <a:ext cx="6766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Build gates tied to recorded test results</a:t>
            </a:r>
            <a:endParaRPr sz="15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B77A6FF-74D5-401A-A207-D7D53EF5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972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6225ADA-69C5-48B7-956F-46D946E7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6766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Release notes and tracked acceptance criteria</a:t>
            </a:r>
            <a:endParaRPr sz="15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F56CA7F-0C02-43F1-9ACB-43BD0A28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051560"/>
            <a:ext cx="3931920" cy="5074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7D9C832-AA42-4FD6-A797-7CD36B6D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25880"/>
            <a:ext cx="3520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FUNDED WORK YOU CAN REVIEW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91CC99-D713-4570-BBAF-BF4241EE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83080"/>
            <a:ext cx="35204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0B1220"/>
                </a:solidFill>
                <a:latin typeface="Georgia"/>
                <a:ea typeface="Georgia"/>
                <a:cs typeface="Georgia"/>
              </a:rPr>
              <a:t>Playable milestones. Visible progress.</a:t>
            </a:r>
            <a:endParaRPr sz="2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4E517DB-CDA9-468F-B8E4-574CBE16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52044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Existing combat, base-building tools, and backend systems let funding focus on player experience. Each increment produces a working build, browser test evidence, and a clear next decision.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55DB5B2-E9C6-40E4-A38B-18835E5F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74920"/>
            <a:ext cx="3520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Review delivery against agreed acceptance criteria and measured player outcomes before the next milestone.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26C1CC4-A19A-41C4-9FF7-F5A6E920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EFB97A2-4569-470E-937E-27546839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858A2C6-42A4-4DCC-8981-2644FD4B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E59A922-FF8C-4C53-A3FC-942689C6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13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6912476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7D6F351-2B6D-4DFD-B4C5-FF0C7934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6B98C04-1F58-4245-BFF4-B57D6CE2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C2338BA-C9A0-4264-A212-786484E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D18F87C-2186-47D2-B0CE-0E9F9CD2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"/>
            <a:ext cx="9144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PROPOSED FUNDING REQUEST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155657-A52C-4DFB-9737-F94CBF31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685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solidFill>
                  <a:srgbClr val="F4F1E8"/>
                </a:solidFill>
                <a:latin typeface="Georgia"/>
                <a:ea typeface="Georgia"/>
                <a:cs typeface="Georgia"/>
              </a:rPr>
              <a:t>$25,000</a:t>
            </a:r>
            <a:endParaRPr sz="4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077399-3283-4D39-A2BD-569B1DED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6858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i="1">
                <a:solidFill>
                  <a:srgbClr val="C9A227"/>
                </a:solidFill>
                <a:latin typeface="Georgia"/>
                <a:ea typeface="Georgia"/>
                <a:cs typeface="Georgia"/>
              </a:rPr>
              <a:t>over 12 weeks</a:t>
            </a:r>
            <a:endParaRPr sz="2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23C02ED-D29D-442F-AD11-48A8BEB8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9494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To bring an existing mobile strategy RPG through a focused Pi Browser release cycle: reliable SDK flows, clear first-session guidance, priority localization, and a capture-and-rebuild proof that leads toward AI and player arena battles.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E899E7-6AFC-4F7D-A278-9BC0E7FA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4680"/>
            <a:ext cx="6949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4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PUBLIC-GOOD COMMITMENT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11AEC07-A227-478B-BDAD-98A2AF8A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0"/>
            <a:ext cx="694944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AA3B5"/>
                </a:solidFill>
                <a:latin typeface="Calibri"/>
                <a:ea typeface="Calibri"/>
                <a:cs typeface="Calibri"/>
              </a:rPr>
              <a:t>Publish practical Pi SDK and Unity WebGL integration lessons, interruption and recovery cases, browser performance findings, and localization notes. Share small reusable utilities where they do not expose game IP.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FFB9EA4-0AD5-45E4-B741-278577EF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23560"/>
            <a:ext cx="6949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Defenders of the Realm: Echoes of Elarion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44F6212-1AFD-4FE0-AB0E-FFC595C0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97880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Pi Browser   echoesofelarions6578.pinet.com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B497288-55EB-456C-A48A-5CD8F396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2920"/>
            <a:ext cx="4023360" cy="5852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2E"/>
          </a:solidFill>
          <a:ln xmlns:a="http://schemas.openxmlformats.org/drawingml/2006/main" w="12700">
            <a:solidFill>
              <a:srgbClr val="243049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B02CAB5-3B7F-4721-B901-042CB555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731520"/>
            <a:ext cx="3611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2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REVIEW PACKAGE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88C156A-E91A-4CCD-9405-0F617957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14300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01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CC0015B-4619-4EE2-8FD8-CECBCC3A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14300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Pi Browser build and version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DF64A49-E9D9-4B4D-BAC4-A660BB30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8308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02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84F1909-4AB8-4F33-BD25-A78F54F8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78308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SDK integration and approval-status evidence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CA17C45-2CB3-4FEB-ADE1-0CABAFA0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42316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03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CE29F0B-6BAE-4F53-B69C-C9B5D572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42316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Gameplay trailer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45A4D19-12EA-481B-9825-22E99EE3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06324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DB8E8BE-6591-4ACC-893F-619C6FE7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06324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Repository or commit evidence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E664BBD-943D-460E-9ED1-DE68F008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7033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05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50391BB-6478-47C9-8A8B-6D0AA841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70332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Dated launch, session, and retention baselines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42896D2-A03B-471E-91ED-E81E3112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34340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06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D2D98EE-AA67-4A2D-BC85-091E4133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Legal entity and contact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03FCF2B-7067-4AD4-8019-5277D73D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98348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07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347110-8E75-4289-B293-0B017460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98348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4F1E8"/>
                </a:solidFill>
                <a:latin typeface="Calibri"/>
                <a:ea typeface="Calibri"/>
                <a:cs typeface="Calibri"/>
              </a:rPr>
              <a:t>Funding terms and payment details by agreement</a:t>
            </a:r>
            <a:endParaRPr sz="13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898A6DB-0476-422D-A18D-6F3DDA5A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63ACE18-F154-4214-88F1-AF79BB10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6152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C6FE2D1-8A9F-422F-9F7E-6704EBBF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675120"/>
            <a:ext cx="7498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6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DENELLE STUDIOS  ·  CONFIDENTIAL FUNDING PROPOSAL</a:t>
            </a:r>
            <a:endParaRPr sz="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ED57806-56F4-4524-BC61-2A425CAB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675120"/>
            <a:ext cx="3886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789"/>
                </a:solidFill>
                <a:latin typeface="Calibri"/>
                <a:ea typeface="Calibri"/>
                <a:cs typeface="Calibri"/>
              </a:rPr>
              <a:t>ECHOES OF ELARION  ·  14 / 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0681309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2026-09-11T02:00:46.3410000Z</dcterms:created>
  <dcterms:modified xsi:type="dcterms:W3CDTF">2026-09-11T02:00:46.3410000Z</dcterms:modified>
</coreProperties>
</file>