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B1220"/>
          </a:solidFill>
          <a:ln/>
        </p:spPr>
      </p:sp>
      <p:sp>
        <p:nvSpPr>
          <p:cNvPr id="3" name="Shape 1"/>
          <p:cNvSpPr/>
          <p:nvPr/>
        </p:nvSpPr>
        <p:spPr>
          <a:xfrm>
            <a:off x="0" y="0"/>
            <a:ext cx="109728" cy="6858000"/>
          </a:xfrm>
          <a:prstGeom prst="rect">
            <a:avLst/>
          </a:prstGeom>
          <a:solidFill>
            <a:srgbClr val="C9A227"/>
          </a:solidFill>
          <a:ln/>
        </p:spPr>
      </p:sp>
      <p:sp>
        <p:nvSpPr>
          <p:cNvPr id="4" name="Text 2"/>
          <p:cNvSpPr/>
          <p:nvPr/>
        </p:nvSpPr>
        <p:spPr>
          <a:xfrm>
            <a:off x="640080" y="1051560"/>
            <a:ext cx="10972800" cy="256032"/>
          </a:xfrm>
          <a:prstGeom prst="rect">
            <a:avLst/>
          </a:prstGeom>
          <a:noFill/>
          <a:ln/>
        </p:spPr>
        <p:txBody>
          <a:bodyPr wrap="square" lIns="0" tIns="0" rIns="0" bIns="0" rtlCol="0" anchor="ctr"/>
          <a:lstStyle/>
          <a:p>
            <a:pPr indent="0" marL="0">
              <a:buNone/>
            </a:pPr>
            <a:r>
              <a:rPr lang="en-US" sz="1300" b="1" spc="240" kern="0" dirty="0">
                <a:solidFill>
                  <a:srgbClr val="C9A227"/>
                </a:solidFill>
                <a:latin typeface="Calibri" pitchFamily="34" charset="0"/>
                <a:ea typeface="Calibri" pitchFamily="34" charset="-122"/>
                <a:cs typeface="Calibri" pitchFamily="34" charset="-120"/>
              </a:rPr>
              <a:t>SOLANA MOBILE BUILDER GRANT</a:t>
            </a:r>
            <a:endParaRPr lang="en-US" sz="1300" dirty="0"/>
          </a:p>
        </p:txBody>
      </p:sp>
      <p:sp>
        <p:nvSpPr>
          <p:cNvPr id="5" name="Text 3"/>
          <p:cNvSpPr/>
          <p:nvPr/>
        </p:nvSpPr>
        <p:spPr>
          <a:xfrm>
            <a:off x="640080" y="1417320"/>
            <a:ext cx="10972800" cy="566928"/>
          </a:xfrm>
          <a:prstGeom prst="rect">
            <a:avLst/>
          </a:prstGeom>
          <a:noFill/>
          <a:ln/>
        </p:spPr>
        <p:txBody>
          <a:bodyPr wrap="square" lIns="0" tIns="0" rIns="0" bIns="0" rtlCol="0" anchor="ctr"/>
          <a:lstStyle/>
          <a:p>
            <a:pPr indent="0" marL="0">
              <a:buNone/>
            </a:pPr>
            <a:r>
              <a:rPr lang="en-US" sz="3600" dirty="0">
                <a:solidFill>
                  <a:srgbClr val="F4F1E8"/>
                </a:solidFill>
                <a:latin typeface="Georgia" pitchFamily="34" charset="0"/>
                <a:ea typeface="Georgia" pitchFamily="34" charset="-122"/>
                <a:cs typeface="Georgia" pitchFamily="34" charset="-120"/>
              </a:rPr>
              <a:t>Defenders of the Realm</a:t>
            </a:r>
            <a:endParaRPr lang="en-US" sz="3600" dirty="0"/>
          </a:p>
        </p:txBody>
      </p:sp>
      <p:sp>
        <p:nvSpPr>
          <p:cNvPr id="6" name="Text 4"/>
          <p:cNvSpPr/>
          <p:nvPr/>
        </p:nvSpPr>
        <p:spPr>
          <a:xfrm>
            <a:off x="640080" y="1993392"/>
            <a:ext cx="10972800" cy="384048"/>
          </a:xfrm>
          <a:prstGeom prst="rect">
            <a:avLst/>
          </a:prstGeom>
          <a:noFill/>
          <a:ln/>
        </p:spPr>
        <p:txBody>
          <a:bodyPr wrap="square" lIns="0" tIns="0" rIns="0" bIns="0" rtlCol="0" anchor="ctr"/>
          <a:lstStyle/>
          <a:p>
            <a:pPr indent="0" marL="0">
              <a:buNone/>
            </a:pPr>
            <a:r>
              <a:rPr lang="en-US" sz="2400" i="1" dirty="0">
                <a:solidFill>
                  <a:srgbClr val="C9A227"/>
                </a:solidFill>
                <a:latin typeface="Georgia" pitchFamily="34" charset="0"/>
                <a:ea typeface="Georgia" pitchFamily="34" charset="-122"/>
                <a:cs typeface="Georgia" pitchFamily="34" charset="-120"/>
              </a:rPr>
              <a:t>Echoes of Elarion</a:t>
            </a:r>
            <a:endParaRPr lang="en-US" sz="2400" dirty="0"/>
          </a:p>
        </p:txBody>
      </p:sp>
      <p:sp>
        <p:nvSpPr>
          <p:cNvPr id="7" name="Text 5"/>
          <p:cNvSpPr/>
          <p:nvPr/>
        </p:nvSpPr>
        <p:spPr>
          <a:xfrm>
            <a:off x="640080" y="2514600"/>
            <a:ext cx="8595360" cy="777240"/>
          </a:xfrm>
          <a:prstGeom prst="rect">
            <a:avLst/>
          </a:prstGeom>
          <a:noFill/>
          <a:ln/>
        </p:spPr>
        <p:txBody>
          <a:bodyPr wrap="square" lIns="0" tIns="0" rIns="0" bIns="0" rtlCol="0" anchor="ctr"/>
          <a:lstStyle/>
          <a:p>
            <a:pPr indent="0" marL="0">
              <a:buNone/>
            </a:pPr>
            <a:r>
              <a:rPr lang="en-US" sz="1500" dirty="0">
                <a:solidFill>
                  <a:srgbClr val="9AA3B5"/>
                </a:solidFill>
                <a:latin typeface="Calibri" pitchFamily="34" charset="0"/>
                <a:ea typeface="Calibri" pitchFamily="34" charset="-122"/>
                <a:cs typeface="Calibri" pitchFamily="34" charset="-120"/>
              </a:rPr>
              <a:t>A mobile-first strategy RPG, live on the Solana dApp Store. This proposal funds Seeker-native depth, first-session conversion, multi-language support, and a measurable production release.</a:t>
            </a:r>
            <a:endParaRPr lang="en-US" sz="1500" dirty="0"/>
          </a:p>
        </p:txBody>
      </p:sp>
      <p:sp>
        <p:nvSpPr>
          <p:cNvPr id="8" name="Shape 6"/>
          <p:cNvSpPr/>
          <p:nvPr/>
        </p:nvSpPr>
        <p:spPr>
          <a:xfrm>
            <a:off x="640080" y="3520440"/>
            <a:ext cx="2606040" cy="1234440"/>
          </a:xfrm>
          <a:prstGeom prst="rect">
            <a:avLst/>
          </a:prstGeom>
          <a:solidFill>
            <a:srgbClr val="151C2E"/>
          </a:solidFill>
          <a:ln w="12700">
            <a:solidFill>
              <a:srgbClr val="243049"/>
            </a:solidFill>
            <a:prstDash val="solid"/>
          </a:ln>
        </p:spPr>
      </p:sp>
      <p:sp>
        <p:nvSpPr>
          <p:cNvPr id="9" name="Text 7"/>
          <p:cNvSpPr/>
          <p:nvPr/>
        </p:nvSpPr>
        <p:spPr>
          <a:xfrm>
            <a:off x="640080" y="3657600"/>
            <a:ext cx="2606040" cy="502920"/>
          </a:xfrm>
          <a:prstGeom prst="rect">
            <a:avLst/>
          </a:prstGeom>
          <a:noFill/>
          <a:ln/>
        </p:spPr>
        <p:txBody>
          <a:bodyPr wrap="square" lIns="0" tIns="0" rIns="0" bIns="0" rtlCol="0" anchor="ctr"/>
          <a:lstStyle/>
          <a:p>
            <a:pPr algn="ctr" indent="0" marL="0">
              <a:buNone/>
            </a:pPr>
            <a:r>
              <a:rPr lang="en-US" sz="2200" dirty="0">
                <a:solidFill>
                  <a:srgbClr val="F4F1E8"/>
                </a:solidFill>
                <a:latin typeface="Georgia" pitchFamily="34" charset="0"/>
                <a:ea typeface="Georgia" pitchFamily="34" charset="-122"/>
                <a:cs typeface="Georgia" pitchFamily="34" charset="-120"/>
              </a:rPr>
              <a:t>$25,000</a:t>
            </a:r>
            <a:endParaRPr lang="en-US" sz="2200" dirty="0"/>
          </a:p>
        </p:txBody>
      </p:sp>
      <p:sp>
        <p:nvSpPr>
          <p:cNvPr id="10" name="Text 8"/>
          <p:cNvSpPr/>
          <p:nvPr/>
        </p:nvSpPr>
        <p:spPr>
          <a:xfrm>
            <a:off x="731520" y="4160520"/>
            <a:ext cx="2423160" cy="365760"/>
          </a:xfrm>
          <a:prstGeom prst="rect">
            <a:avLst/>
          </a:prstGeom>
          <a:noFill/>
          <a:ln/>
        </p:spPr>
        <p:txBody>
          <a:bodyPr wrap="square" lIns="0" tIns="0" rIns="0" bIns="0" rtlCol="0" anchor="ctr"/>
          <a:lstStyle/>
          <a:p>
            <a:pPr algn="ctr" indent="0" marL="0">
              <a:buNone/>
            </a:pPr>
            <a:r>
              <a:rPr lang="en-US" sz="1200" dirty="0">
                <a:solidFill>
                  <a:srgbClr val="9AA3B5"/>
                </a:solidFill>
                <a:latin typeface="Calibri" pitchFamily="34" charset="0"/>
                <a:ea typeface="Calibri" pitchFamily="34" charset="-122"/>
                <a:cs typeface="Calibri" pitchFamily="34" charset="-120"/>
              </a:rPr>
              <a:t>Requested</a:t>
            </a:r>
            <a:endParaRPr lang="en-US" sz="1200" dirty="0"/>
          </a:p>
        </p:txBody>
      </p:sp>
      <p:sp>
        <p:nvSpPr>
          <p:cNvPr id="11" name="Shape 9"/>
          <p:cNvSpPr/>
          <p:nvPr/>
        </p:nvSpPr>
        <p:spPr>
          <a:xfrm>
            <a:off x="3429000" y="3520440"/>
            <a:ext cx="2606040" cy="1234440"/>
          </a:xfrm>
          <a:prstGeom prst="rect">
            <a:avLst/>
          </a:prstGeom>
          <a:solidFill>
            <a:srgbClr val="151C2E"/>
          </a:solidFill>
          <a:ln w="12700">
            <a:solidFill>
              <a:srgbClr val="243049"/>
            </a:solidFill>
            <a:prstDash val="solid"/>
          </a:ln>
        </p:spPr>
      </p:sp>
      <p:sp>
        <p:nvSpPr>
          <p:cNvPr id="12" name="Text 10"/>
          <p:cNvSpPr/>
          <p:nvPr/>
        </p:nvSpPr>
        <p:spPr>
          <a:xfrm>
            <a:off x="3429000" y="3657600"/>
            <a:ext cx="2606040" cy="502920"/>
          </a:xfrm>
          <a:prstGeom prst="rect">
            <a:avLst/>
          </a:prstGeom>
          <a:noFill/>
          <a:ln/>
        </p:spPr>
        <p:txBody>
          <a:bodyPr wrap="square" lIns="0" tIns="0" rIns="0" bIns="0" rtlCol="0" anchor="ctr"/>
          <a:lstStyle/>
          <a:p>
            <a:pPr algn="ctr" indent="0" marL="0">
              <a:buNone/>
            </a:pPr>
            <a:r>
              <a:rPr lang="en-US" sz="2200" dirty="0">
                <a:solidFill>
                  <a:srgbClr val="F4F1E8"/>
                </a:solidFill>
                <a:latin typeface="Georgia" pitchFamily="34" charset="0"/>
                <a:ea typeface="Georgia" pitchFamily="34" charset="-122"/>
                <a:cs typeface="Georgia" pitchFamily="34" charset="-120"/>
              </a:rPr>
              <a:t>12 weeks</a:t>
            </a:r>
            <a:endParaRPr lang="en-US" sz="2200" dirty="0"/>
          </a:p>
        </p:txBody>
      </p:sp>
      <p:sp>
        <p:nvSpPr>
          <p:cNvPr id="13" name="Text 11"/>
          <p:cNvSpPr/>
          <p:nvPr/>
        </p:nvSpPr>
        <p:spPr>
          <a:xfrm>
            <a:off x="3520440" y="4160520"/>
            <a:ext cx="2423160" cy="365760"/>
          </a:xfrm>
          <a:prstGeom prst="rect">
            <a:avLst/>
          </a:prstGeom>
          <a:noFill/>
          <a:ln/>
        </p:spPr>
        <p:txBody>
          <a:bodyPr wrap="square" lIns="0" tIns="0" rIns="0" bIns="0" rtlCol="0" anchor="ctr"/>
          <a:lstStyle/>
          <a:p>
            <a:pPr algn="ctr" indent="0" marL="0">
              <a:buNone/>
            </a:pPr>
            <a:r>
              <a:rPr lang="en-US" sz="1200" dirty="0">
                <a:solidFill>
                  <a:srgbClr val="9AA3B5"/>
                </a:solidFill>
                <a:latin typeface="Calibri" pitchFamily="34" charset="0"/>
                <a:ea typeface="Calibri" pitchFamily="34" charset="-122"/>
                <a:cs typeface="Calibri" pitchFamily="34" charset="-120"/>
              </a:rPr>
              <a:t>Four funded milestones</a:t>
            </a:r>
            <a:endParaRPr lang="en-US" sz="1200" dirty="0"/>
          </a:p>
        </p:txBody>
      </p:sp>
      <p:sp>
        <p:nvSpPr>
          <p:cNvPr id="14" name="Shape 12"/>
          <p:cNvSpPr/>
          <p:nvPr/>
        </p:nvSpPr>
        <p:spPr>
          <a:xfrm>
            <a:off x="6217920" y="3520440"/>
            <a:ext cx="2606040" cy="1234440"/>
          </a:xfrm>
          <a:prstGeom prst="rect">
            <a:avLst/>
          </a:prstGeom>
          <a:solidFill>
            <a:srgbClr val="151C2E"/>
          </a:solidFill>
          <a:ln w="12700">
            <a:solidFill>
              <a:srgbClr val="243049"/>
            </a:solidFill>
            <a:prstDash val="solid"/>
          </a:ln>
        </p:spPr>
      </p:sp>
      <p:sp>
        <p:nvSpPr>
          <p:cNvPr id="15" name="Text 13"/>
          <p:cNvSpPr/>
          <p:nvPr/>
        </p:nvSpPr>
        <p:spPr>
          <a:xfrm>
            <a:off x="6217920" y="3657600"/>
            <a:ext cx="2606040" cy="502920"/>
          </a:xfrm>
          <a:prstGeom prst="rect">
            <a:avLst/>
          </a:prstGeom>
          <a:noFill/>
          <a:ln/>
        </p:spPr>
        <p:txBody>
          <a:bodyPr wrap="square" lIns="0" tIns="0" rIns="0" bIns="0" rtlCol="0" anchor="ctr"/>
          <a:lstStyle/>
          <a:p>
            <a:pPr algn="ctr" indent="0" marL="0">
              <a:buNone/>
            </a:pPr>
            <a:r>
              <a:rPr lang="en-US" sz="2200" dirty="0">
                <a:solidFill>
                  <a:srgbClr val="F4F1E8"/>
                </a:solidFill>
                <a:latin typeface="Georgia" pitchFamily="34" charset="0"/>
                <a:ea typeface="Georgia" pitchFamily="34" charset="-122"/>
                <a:cs typeface="Georgia" pitchFamily="34" charset="-120"/>
              </a:rPr>
              <a:t>Live</a:t>
            </a:r>
            <a:endParaRPr lang="en-US" sz="2200" dirty="0"/>
          </a:p>
        </p:txBody>
      </p:sp>
      <p:sp>
        <p:nvSpPr>
          <p:cNvPr id="16" name="Text 14"/>
          <p:cNvSpPr/>
          <p:nvPr/>
        </p:nvSpPr>
        <p:spPr>
          <a:xfrm>
            <a:off x="6309360" y="4160520"/>
            <a:ext cx="2423160" cy="365760"/>
          </a:xfrm>
          <a:prstGeom prst="rect">
            <a:avLst/>
          </a:prstGeom>
          <a:noFill/>
          <a:ln/>
        </p:spPr>
        <p:txBody>
          <a:bodyPr wrap="square" lIns="0" tIns="0" rIns="0" bIns="0" rtlCol="0" anchor="ctr"/>
          <a:lstStyle/>
          <a:p>
            <a:pPr algn="ctr" indent="0" marL="0">
              <a:buNone/>
            </a:pPr>
            <a:r>
              <a:rPr lang="en-US" sz="1200" dirty="0">
                <a:solidFill>
                  <a:srgbClr val="9AA3B5"/>
                </a:solidFill>
                <a:latin typeface="Calibri" pitchFamily="34" charset="0"/>
                <a:ea typeface="Calibri" pitchFamily="34" charset="-122"/>
                <a:cs typeface="Calibri" pitchFamily="34" charset="-120"/>
              </a:rPr>
              <a:t>Solana dApp Store</a:t>
            </a:r>
            <a:endParaRPr lang="en-US" sz="1200" dirty="0"/>
          </a:p>
        </p:txBody>
      </p:sp>
      <p:sp>
        <p:nvSpPr>
          <p:cNvPr id="17" name="Shape 15"/>
          <p:cNvSpPr/>
          <p:nvPr/>
        </p:nvSpPr>
        <p:spPr>
          <a:xfrm>
            <a:off x="9006840" y="3520440"/>
            <a:ext cx="2606040" cy="1234440"/>
          </a:xfrm>
          <a:prstGeom prst="rect">
            <a:avLst/>
          </a:prstGeom>
          <a:solidFill>
            <a:srgbClr val="151C2E"/>
          </a:solidFill>
          <a:ln w="12700">
            <a:solidFill>
              <a:srgbClr val="243049"/>
            </a:solidFill>
            <a:prstDash val="solid"/>
          </a:ln>
        </p:spPr>
      </p:sp>
      <p:sp>
        <p:nvSpPr>
          <p:cNvPr id="18" name="Text 16"/>
          <p:cNvSpPr/>
          <p:nvPr/>
        </p:nvSpPr>
        <p:spPr>
          <a:xfrm>
            <a:off x="9006840" y="3657600"/>
            <a:ext cx="2606040" cy="502920"/>
          </a:xfrm>
          <a:prstGeom prst="rect">
            <a:avLst/>
          </a:prstGeom>
          <a:noFill/>
          <a:ln/>
        </p:spPr>
        <p:txBody>
          <a:bodyPr wrap="square" lIns="0" tIns="0" rIns="0" bIns="0" rtlCol="0" anchor="ctr"/>
          <a:lstStyle/>
          <a:p>
            <a:pPr algn="ctr" indent="0" marL="0">
              <a:buNone/>
            </a:pPr>
            <a:r>
              <a:rPr lang="en-US" sz="2200" dirty="0">
                <a:solidFill>
                  <a:srgbClr val="F4F1E8"/>
                </a:solidFill>
                <a:latin typeface="Georgia" pitchFamily="34" charset="0"/>
                <a:ea typeface="Georgia" pitchFamily="34" charset="-122"/>
                <a:cs typeface="Georgia" pitchFamily="34" charset="-120"/>
              </a:rPr>
              <a:t>In build</a:t>
            </a:r>
            <a:endParaRPr lang="en-US" sz="2200" dirty="0"/>
          </a:p>
        </p:txBody>
      </p:sp>
      <p:sp>
        <p:nvSpPr>
          <p:cNvPr id="19" name="Text 17"/>
          <p:cNvSpPr/>
          <p:nvPr/>
        </p:nvSpPr>
        <p:spPr>
          <a:xfrm>
            <a:off x="9098280" y="4160520"/>
            <a:ext cx="2423160" cy="365760"/>
          </a:xfrm>
          <a:prstGeom prst="rect">
            <a:avLst/>
          </a:prstGeom>
          <a:noFill/>
          <a:ln/>
        </p:spPr>
        <p:txBody>
          <a:bodyPr wrap="square" lIns="0" tIns="0" rIns="0" bIns="0" rtlCol="0" anchor="ctr"/>
          <a:lstStyle/>
          <a:p>
            <a:pPr algn="ctr" indent="0" marL="0">
              <a:buNone/>
            </a:pPr>
            <a:r>
              <a:rPr lang="en-US" sz="1200" dirty="0">
                <a:solidFill>
                  <a:srgbClr val="9AA3B5"/>
                </a:solidFill>
                <a:latin typeface="Calibri" pitchFamily="34" charset="0"/>
                <a:ea typeface="Calibri" pitchFamily="34" charset="-122"/>
                <a:cs typeface="Calibri" pitchFamily="34" charset="-120"/>
              </a:rPr>
              <a:t>Multi-language support</a:t>
            </a:r>
            <a:endParaRPr lang="en-US" sz="1200" dirty="0"/>
          </a:p>
        </p:txBody>
      </p:sp>
      <p:sp>
        <p:nvSpPr>
          <p:cNvPr id="20" name="Text 18"/>
          <p:cNvSpPr/>
          <p:nvPr/>
        </p:nvSpPr>
        <p:spPr>
          <a:xfrm>
            <a:off x="640080" y="5029200"/>
            <a:ext cx="10972800" cy="256032"/>
          </a:xfrm>
          <a:prstGeom prst="rect">
            <a:avLst/>
          </a:prstGeom>
          <a:noFill/>
          <a:ln/>
        </p:spPr>
        <p:txBody>
          <a:bodyPr wrap="square" lIns="0" tIns="0" rIns="0" bIns="0" rtlCol="0" anchor="ctr"/>
          <a:lstStyle/>
          <a:p>
            <a:pPr indent="0" marL="0">
              <a:buNone/>
            </a:pPr>
            <a:r>
              <a:rPr lang="en-US" sz="1200" dirty="0">
                <a:solidFill>
                  <a:srgbClr val="6E7789"/>
                </a:solidFill>
                <a:latin typeface="Calibri" pitchFamily="34" charset="0"/>
                <a:ea typeface="Calibri" pitchFamily="34" charset="-122"/>
                <a:cs typeface="Calibri" pitchFamily="34" charset="-120"/>
              </a:rPr>
              <a:t>Applicant   DeNelle Studios     ·     Package   com.denellestudios.echoesofelarion     ·     Stack   Unity 6 / Android / Solana Mobile     ·     September 2026</a:t>
            </a:r>
            <a:endParaRPr lang="en-US" sz="1200" dirty="0"/>
          </a:p>
        </p:txBody>
      </p:sp>
      <p:sp>
        <p:nvSpPr>
          <p:cNvPr id="21" name="Shape 19"/>
          <p:cNvSpPr/>
          <p:nvPr/>
        </p:nvSpPr>
        <p:spPr>
          <a:xfrm>
            <a:off x="0" y="6656832"/>
            <a:ext cx="12161520" cy="201168"/>
          </a:xfrm>
          <a:prstGeom prst="rect">
            <a:avLst/>
          </a:prstGeom>
          <a:solidFill>
            <a:srgbClr val="0B1220"/>
          </a:solidFill>
          <a:ln/>
        </p:spPr>
      </p:sp>
      <p:sp>
        <p:nvSpPr>
          <p:cNvPr id="22" name="Shape 20"/>
          <p:cNvSpPr/>
          <p:nvPr/>
        </p:nvSpPr>
        <p:spPr>
          <a:xfrm>
            <a:off x="0" y="6656832"/>
            <a:ext cx="12161520" cy="13716"/>
          </a:xfrm>
          <a:prstGeom prst="rect">
            <a:avLst/>
          </a:prstGeom>
          <a:solidFill>
            <a:srgbClr val="243049"/>
          </a:solidFill>
          <a:ln/>
        </p:spPr>
      </p:sp>
      <p:sp>
        <p:nvSpPr>
          <p:cNvPr id="23" name="Text 21"/>
          <p:cNvSpPr/>
          <p:nvPr/>
        </p:nvSpPr>
        <p:spPr>
          <a:xfrm>
            <a:off x="411480" y="6675120"/>
            <a:ext cx="7498080" cy="164592"/>
          </a:xfrm>
          <a:prstGeom prst="rect">
            <a:avLst/>
          </a:prstGeom>
          <a:noFill/>
          <a:ln/>
        </p:spPr>
        <p:txBody>
          <a:bodyPr wrap="square" lIns="0" tIns="0" rIns="0" bIns="0" rtlCol="0" anchor="ctr"/>
          <a:lstStyle/>
          <a:p>
            <a:pPr indent="0" marL="0">
              <a:buNone/>
            </a:pPr>
            <a:r>
              <a:rPr lang="en-US" sz="900" spc="60" kern="0" dirty="0">
                <a:solidFill>
                  <a:srgbClr val="6E7789"/>
                </a:solidFill>
                <a:latin typeface="Calibri" pitchFamily="34" charset="0"/>
                <a:ea typeface="Calibri" pitchFamily="34" charset="-122"/>
                <a:cs typeface="Calibri" pitchFamily="34" charset="-120"/>
              </a:rPr>
              <a:t>DENELLE STUDIOS  ·  CONFIDENTIAL GRANT APPLICATION</a:t>
            </a:r>
            <a:endParaRPr lang="en-US" sz="900" dirty="0"/>
          </a:p>
        </p:txBody>
      </p:sp>
      <p:sp>
        <p:nvSpPr>
          <p:cNvPr id="24" name="Text 22"/>
          <p:cNvSpPr/>
          <p:nvPr/>
        </p:nvSpPr>
        <p:spPr>
          <a:xfrm>
            <a:off x="7863840" y="6675120"/>
            <a:ext cx="3886200" cy="164592"/>
          </a:xfrm>
          <a:prstGeom prst="rect">
            <a:avLst/>
          </a:prstGeom>
          <a:noFill/>
          <a:ln/>
        </p:spPr>
        <p:txBody>
          <a:bodyPr wrap="square" lIns="0" tIns="0" rIns="0" bIns="0" rtlCol="0" anchor="ctr"/>
          <a:lstStyle/>
          <a:p>
            <a:pPr algn="r" indent="0" marL="0">
              <a:buNone/>
            </a:pPr>
            <a:r>
              <a:rPr lang="en-US" sz="900" dirty="0">
                <a:solidFill>
                  <a:srgbClr val="6E7789"/>
                </a:solidFill>
                <a:latin typeface="Calibri" pitchFamily="34" charset="0"/>
                <a:ea typeface="Calibri" pitchFamily="34" charset="-122"/>
                <a:cs typeface="Calibri" pitchFamily="34" charset="-120"/>
              </a:rPr>
              <a:t>ECHOES OF ELARION  ·  1 / 14</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B1220"/>
          </a:solidFill>
          <a:ln/>
        </p:spPr>
      </p:sp>
      <p:sp>
        <p:nvSpPr>
          <p:cNvPr id="3" name="Shape 1"/>
          <p:cNvSpPr/>
          <p:nvPr/>
        </p:nvSpPr>
        <p:spPr>
          <a:xfrm>
            <a:off x="457200" y="256032"/>
            <a:ext cx="164592" cy="164592"/>
          </a:xfrm>
          <a:prstGeom prst="rect">
            <a:avLst/>
          </a:prstGeom>
          <a:solidFill>
            <a:srgbClr val="C9A227"/>
          </a:solidFill>
          <a:ln/>
        </p:spPr>
      </p:sp>
      <p:sp>
        <p:nvSpPr>
          <p:cNvPr id="4" name="Text 2"/>
          <p:cNvSpPr/>
          <p:nvPr/>
        </p:nvSpPr>
        <p:spPr>
          <a:xfrm>
            <a:off x="731520" y="219456"/>
            <a:ext cx="9144000" cy="237744"/>
          </a:xfrm>
          <a:prstGeom prst="rect">
            <a:avLst/>
          </a:prstGeom>
          <a:noFill/>
          <a:ln/>
        </p:spPr>
        <p:txBody>
          <a:bodyPr wrap="square" lIns="0" tIns="0" rIns="0" bIns="0" rtlCol="0" anchor="ctr"/>
          <a:lstStyle/>
          <a:p>
            <a:pPr indent="0" marL="0">
              <a:buNone/>
            </a:pPr>
            <a:r>
              <a:rPr lang="en-US" sz="1100" b="1" spc="160" kern="0" dirty="0">
                <a:solidFill>
                  <a:srgbClr val="C9A227"/>
                </a:solidFill>
                <a:latin typeface="Calibri" pitchFamily="34" charset="0"/>
                <a:ea typeface="Calibri" pitchFamily="34" charset="-122"/>
                <a:cs typeface="Calibri" pitchFamily="34" charset="-120"/>
              </a:rPr>
              <a:t>THE PRODUCT</a:t>
            </a:r>
            <a:endParaRPr lang="en-US" sz="1100" dirty="0"/>
          </a:p>
        </p:txBody>
      </p:sp>
      <p:sp>
        <p:nvSpPr>
          <p:cNvPr id="5" name="Text 3"/>
          <p:cNvSpPr/>
          <p:nvPr/>
        </p:nvSpPr>
        <p:spPr>
          <a:xfrm>
            <a:off x="457200" y="475488"/>
            <a:ext cx="11247120" cy="502920"/>
          </a:xfrm>
          <a:prstGeom prst="rect">
            <a:avLst/>
          </a:prstGeom>
          <a:noFill/>
          <a:ln/>
        </p:spPr>
        <p:txBody>
          <a:bodyPr wrap="square" lIns="0" tIns="0" rIns="0" bIns="0" rtlCol="0" anchor="ctr"/>
          <a:lstStyle/>
          <a:p>
            <a:pPr indent="0" marL="0">
              <a:buNone/>
            </a:pPr>
            <a:r>
              <a:rPr lang="en-US" sz="2800" dirty="0">
                <a:solidFill>
                  <a:srgbClr val="F4F1E8"/>
                </a:solidFill>
                <a:latin typeface="Georgia" pitchFamily="34" charset="0"/>
                <a:ea typeface="Georgia" pitchFamily="34" charset="-122"/>
                <a:cs typeface="Georgia" pitchFamily="34" charset="-120"/>
              </a:rPr>
              <a:t>A shipping game. Solana is infrastructure, not the pitch.</a:t>
            </a:r>
            <a:endParaRPr lang="en-US" sz="2800" dirty="0"/>
          </a:p>
        </p:txBody>
      </p:sp>
      <p:sp>
        <p:nvSpPr>
          <p:cNvPr id="6" name="Text 4"/>
          <p:cNvSpPr/>
          <p:nvPr/>
        </p:nvSpPr>
        <p:spPr>
          <a:xfrm>
            <a:off x="457200" y="1051560"/>
            <a:ext cx="11247120" cy="502920"/>
          </a:xfrm>
          <a:prstGeom prst="rect">
            <a:avLst/>
          </a:prstGeom>
          <a:noFill/>
          <a:ln/>
        </p:spPr>
        <p:txBody>
          <a:bodyPr wrap="square" lIns="0" tIns="0" rIns="0" bIns="0" rtlCol="0" anchor="ctr"/>
          <a:lstStyle/>
          <a:p>
            <a:pPr indent="0" marL="0">
              <a:buNone/>
            </a:pPr>
            <a:r>
              <a:rPr lang="en-US" sz="1500" dirty="0">
                <a:solidFill>
                  <a:srgbClr val="9AA3B5"/>
                </a:solidFill>
                <a:latin typeface="Calibri" pitchFamily="34" charset="0"/>
                <a:ea typeface="Calibri" pitchFamily="34" charset="-122"/>
                <a:cs typeface="Calibri" pitchFamily="34" charset="-120"/>
              </a:rPr>
              <a:t>Players build and upgrade a medieval settlement, train an army, research advancements, defend the realm, and raid enemy strongholds. Sessions are short. Progression is persistent.</a:t>
            </a:r>
            <a:endParaRPr lang="en-US" sz="1500" dirty="0"/>
          </a:p>
        </p:txBody>
      </p:sp>
      <p:sp>
        <p:nvSpPr>
          <p:cNvPr id="7" name="Shape 5"/>
          <p:cNvSpPr/>
          <p:nvPr/>
        </p:nvSpPr>
        <p:spPr>
          <a:xfrm>
            <a:off x="457200" y="1691640"/>
            <a:ext cx="2788920" cy="2331720"/>
          </a:xfrm>
          <a:prstGeom prst="rect">
            <a:avLst/>
          </a:prstGeom>
          <a:solidFill>
            <a:srgbClr val="151C2E"/>
          </a:solidFill>
          <a:ln w="12700">
            <a:solidFill>
              <a:srgbClr val="243049"/>
            </a:solidFill>
            <a:prstDash val="solid"/>
          </a:ln>
        </p:spPr>
      </p:sp>
      <p:sp>
        <p:nvSpPr>
          <p:cNvPr id="8" name="Text 6"/>
          <p:cNvSpPr/>
          <p:nvPr/>
        </p:nvSpPr>
        <p:spPr>
          <a:xfrm>
            <a:off x="640080" y="1874520"/>
            <a:ext cx="2423160" cy="292608"/>
          </a:xfrm>
          <a:prstGeom prst="rect">
            <a:avLst/>
          </a:prstGeom>
          <a:noFill/>
          <a:ln/>
        </p:spPr>
        <p:txBody>
          <a:bodyPr wrap="square" lIns="0" tIns="0" rIns="0" bIns="0" rtlCol="0" anchor="ctr"/>
          <a:lstStyle/>
          <a:p>
            <a:pPr indent="0" marL="0">
              <a:buNone/>
            </a:pPr>
            <a:r>
              <a:rPr lang="en-US" sz="1200" b="1" spc="120" kern="0" dirty="0">
                <a:solidFill>
                  <a:srgbClr val="C9A227"/>
                </a:solidFill>
                <a:latin typeface="Calibri" pitchFamily="34" charset="0"/>
                <a:ea typeface="Calibri" pitchFamily="34" charset="-122"/>
                <a:cs typeface="Calibri" pitchFamily="34" charset="-120"/>
              </a:rPr>
              <a:t>01</a:t>
            </a:r>
            <a:endParaRPr lang="en-US" sz="1200" dirty="0"/>
          </a:p>
        </p:txBody>
      </p:sp>
      <p:sp>
        <p:nvSpPr>
          <p:cNvPr id="9" name="Text 7"/>
          <p:cNvSpPr/>
          <p:nvPr/>
        </p:nvSpPr>
        <p:spPr>
          <a:xfrm>
            <a:off x="640080" y="2212848"/>
            <a:ext cx="2423160" cy="384048"/>
          </a:xfrm>
          <a:prstGeom prst="rect">
            <a:avLst/>
          </a:prstGeom>
          <a:noFill/>
          <a:ln/>
        </p:spPr>
        <p:txBody>
          <a:bodyPr wrap="square" lIns="0" tIns="0" rIns="0" bIns="0" rtlCol="0" anchor="ctr"/>
          <a:lstStyle/>
          <a:p>
            <a:pPr indent="0" marL="0">
              <a:buNone/>
            </a:pPr>
            <a:r>
              <a:rPr lang="en-US" sz="2200" dirty="0">
                <a:solidFill>
                  <a:srgbClr val="F4F1E8"/>
                </a:solidFill>
                <a:latin typeface="Georgia" pitchFamily="34" charset="0"/>
                <a:ea typeface="Georgia" pitchFamily="34" charset="-122"/>
                <a:cs typeface="Georgia" pitchFamily="34" charset="-120"/>
              </a:rPr>
              <a:t>BUILD</a:t>
            </a:r>
            <a:endParaRPr lang="en-US" sz="2200" dirty="0"/>
          </a:p>
        </p:txBody>
      </p:sp>
      <p:sp>
        <p:nvSpPr>
          <p:cNvPr id="10" name="Text 8"/>
          <p:cNvSpPr/>
          <p:nvPr/>
        </p:nvSpPr>
        <p:spPr>
          <a:xfrm>
            <a:off x="640080" y="2697480"/>
            <a:ext cx="2423160" cy="1051560"/>
          </a:xfrm>
          <a:prstGeom prst="rect">
            <a:avLst/>
          </a:prstGeom>
          <a:noFill/>
          <a:ln/>
        </p:spPr>
        <p:txBody>
          <a:bodyPr wrap="square" lIns="0" tIns="0" rIns="0" bIns="0" rtlCol="0" anchor="ctr"/>
          <a:lstStyle/>
          <a:p>
            <a:pPr indent="0" marL="0">
              <a:buNone/>
            </a:pPr>
            <a:r>
              <a:rPr lang="en-US" sz="1400" dirty="0">
                <a:solidFill>
                  <a:srgbClr val="9AA3B5"/>
                </a:solidFill>
                <a:latin typeface="Calibri" pitchFamily="34" charset="0"/>
                <a:ea typeface="Calibri" pitchFamily="34" charset="-122"/>
                <a:cs typeface="Calibri" pitchFamily="34" charset="-120"/>
              </a:rPr>
              <a:t>Place and upgrade the settlement on a persistent grid.</a:t>
            </a:r>
            <a:endParaRPr lang="en-US" sz="1400" dirty="0"/>
          </a:p>
        </p:txBody>
      </p:sp>
      <p:sp>
        <p:nvSpPr>
          <p:cNvPr id="11" name="Shape 9"/>
          <p:cNvSpPr/>
          <p:nvPr/>
        </p:nvSpPr>
        <p:spPr>
          <a:xfrm>
            <a:off x="3383280" y="1691640"/>
            <a:ext cx="2788920" cy="2331720"/>
          </a:xfrm>
          <a:prstGeom prst="rect">
            <a:avLst/>
          </a:prstGeom>
          <a:solidFill>
            <a:srgbClr val="151C2E"/>
          </a:solidFill>
          <a:ln w="12700">
            <a:solidFill>
              <a:srgbClr val="243049"/>
            </a:solidFill>
            <a:prstDash val="solid"/>
          </a:ln>
        </p:spPr>
      </p:sp>
      <p:sp>
        <p:nvSpPr>
          <p:cNvPr id="12" name="Text 10"/>
          <p:cNvSpPr/>
          <p:nvPr/>
        </p:nvSpPr>
        <p:spPr>
          <a:xfrm>
            <a:off x="3566160" y="1874520"/>
            <a:ext cx="2423160" cy="292608"/>
          </a:xfrm>
          <a:prstGeom prst="rect">
            <a:avLst/>
          </a:prstGeom>
          <a:noFill/>
          <a:ln/>
        </p:spPr>
        <p:txBody>
          <a:bodyPr wrap="square" lIns="0" tIns="0" rIns="0" bIns="0" rtlCol="0" anchor="ctr"/>
          <a:lstStyle/>
          <a:p>
            <a:pPr indent="0" marL="0">
              <a:buNone/>
            </a:pPr>
            <a:r>
              <a:rPr lang="en-US" sz="1200" b="1" spc="120" kern="0" dirty="0">
                <a:solidFill>
                  <a:srgbClr val="C9A227"/>
                </a:solidFill>
                <a:latin typeface="Calibri" pitchFamily="34" charset="0"/>
                <a:ea typeface="Calibri" pitchFamily="34" charset="-122"/>
                <a:cs typeface="Calibri" pitchFamily="34" charset="-120"/>
              </a:rPr>
              <a:t>02</a:t>
            </a:r>
            <a:endParaRPr lang="en-US" sz="1200" dirty="0"/>
          </a:p>
        </p:txBody>
      </p:sp>
      <p:sp>
        <p:nvSpPr>
          <p:cNvPr id="13" name="Text 11"/>
          <p:cNvSpPr/>
          <p:nvPr/>
        </p:nvSpPr>
        <p:spPr>
          <a:xfrm>
            <a:off x="3566160" y="2212848"/>
            <a:ext cx="2423160" cy="384048"/>
          </a:xfrm>
          <a:prstGeom prst="rect">
            <a:avLst/>
          </a:prstGeom>
          <a:noFill/>
          <a:ln/>
        </p:spPr>
        <p:txBody>
          <a:bodyPr wrap="square" lIns="0" tIns="0" rIns="0" bIns="0" rtlCol="0" anchor="ctr"/>
          <a:lstStyle/>
          <a:p>
            <a:pPr indent="0" marL="0">
              <a:buNone/>
            </a:pPr>
            <a:r>
              <a:rPr lang="en-US" sz="2200" dirty="0">
                <a:solidFill>
                  <a:srgbClr val="F4F1E8"/>
                </a:solidFill>
                <a:latin typeface="Georgia" pitchFamily="34" charset="0"/>
                <a:ea typeface="Georgia" pitchFamily="34" charset="-122"/>
                <a:cs typeface="Georgia" pitchFamily="34" charset="-120"/>
              </a:rPr>
              <a:t>TRAIN</a:t>
            </a:r>
            <a:endParaRPr lang="en-US" sz="2200" dirty="0"/>
          </a:p>
        </p:txBody>
      </p:sp>
      <p:sp>
        <p:nvSpPr>
          <p:cNvPr id="14" name="Text 12"/>
          <p:cNvSpPr/>
          <p:nvPr/>
        </p:nvSpPr>
        <p:spPr>
          <a:xfrm>
            <a:off x="3566160" y="2697480"/>
            <a:ext cx="2423160" cy="1051560"/>
          </a:xfrm>
          <a:prstGeom prst="rect">
            <a:avLst/>
          </a:prstGeom>
          <a:noFill/>
          <a:ln/>
        </p:spPr>
        <p:txBody>
          <a:bodyPr wrap="square" lIns="0" tIns="0" rIns="0" bIns="0" rtlCol="0" anchor="ctr"/>
          <a:lstStyle/>
          <a:p>
            <a:pPr indent="0" marL="0">
              <a:buNone/>
            </a:pPr>
            <a:r>
              <a:rPr lang="en-US" sz="1400" dirty="0">
                <a:solidFill>
                  <a:srgbClr val="9AA3B5"/>
                </a:solidFill>
                <a:latin typeface="Calibri" pitchFamily="34" charset="0"/>
                <a:ea typeface="Calibri" pitchFamily="34" charset="-122"/>
                <a:cs typeface="Calibri" pitchFamily="34" charset="-120"/>
              </a:rPr>
              <a:t>Nine troop types, gated by research and economy.</a:t>
            </a:r>
            <a:endParaRPr lang="en-US" sz="1400" dirty="0"/>
          </a:p>
        </p:txBody>
      </p:sp>
      <p:sp>
        <p:nvSpPr>
          <p:cNvPr id="15" name="Shape 13"/>
          <p:cNvSpPr/>
          <p:nvPr/>
        </p:nvSpPr>
        <p:spPr>
          <a:xfrm>
            <a:off x="6309360" y="1691640"/>
            <a:ext cx="2788920" cy="2331720"/>
          </a:xfrm>
          <a:prstGeom prst="rect">
            <a:avLst/>
          </a:prstGeom>
          <a:solidFill>
            <a:srgbClr val="151C2E"/>
          </a:solidFill>
          <a:ln w="12700">
            <a:solidFill>
              <a:srgbClr val="243049"/>
            </a:solidFill>
            <a:prstDash val="solid"/>
          </a:ln>
        </p:spPr>
      </p:sp>
      <p:sp>
        <p:nvSpPr>
          <p:cNvPr id="16" name="Text 14"/>
          <p:cNvSpPr/>
          <p:nvPr/>
        </p:nvSpPr>
        <p:spPr>
          <a:xfrm>
            <a:off x="6492240" y="1874520"/>
            <a:ext cx="2423160" cy="292608"/>
          </a:xfrm>
          <a:prstGeom prst="rect">
            <a:avLst/>
          </a:prstGeom>
          <a:noFill/>
          <a:ln/>
        </p:spPr>
        <p:txBody>
          <a:bodyPr wrap="square" lIns="0" tIns="0" rIns="0" bIns="0" rtlCol="0" anchor="ctr"/>
          <a:lstStyle/>
          <a:p>
            <a:pPr indent="0" marL="0">
              <a:buNone/>
            </a:pPr>
            <a:r>
              <a:rPr lang="en-US" sz="1200" b="1" spc="120" kern="0" dirty="0">
                <a:solidFill>
                  <a:srgbClr val="C9A227"/>
                </a:solidFill>
                <a:latin typeface="Calibri" pitchFamily="34" charset="0"/>
                <a:ea typeface="Calibri" pitchFamily="34" charset="-122"/>
                <a:cs typeface="Calibri" pitchFamily="34" charset="-120"/>
              </a:rPr>
              <a:t>03</a:t>
            </a:r>
            <a:endParaRPr lang="en-US" sz="1200" dirty="0"/>
          </a:p>
        </p:txBody>
      </p:sp>
      <p:sp>
        <p:nvSpPr>
          <p:cNvPr id="17" name="Text 15"/>
          <p:cNvSpPr/>
          <p:nvPr/>
        </p:nvSpPr>
        <p:spPr>
          <a:xfrm>
            <a:off x="6492240" y="2212848"/>
            <a:ext cx="2423160" cy="384048"/>
          </a:xfrm>
          <a:prstGeom prst="rect">
            <a:avLst/>
          </a:prstGeom>
          <a:noFill/>
          <a:ln/>
        </p:spPr>
        <p:txBody>
          <a:bodyPr wrap="square" lIns="0" tIns="0" rIns="0" bIns="0" rtlCol="0" anchor="ctr"/>
          <a:lstStyle/>
          <a:p>
            <a:pPr indent="0" marL="0">
              <a:buNone/>
            </a:pPr>
            <a:r>
              <a:rPr lang="en-US" sz="2200" dirty="0">
                <a:solidFill>
                  <a:srgbClr val="F4F1E8"/>
                </a:solidFill>
                <a:latin typeface="Georgia" pitchFamily="34" charset="0"/>
                <a:ea typeface="Georgia" pitchFamily="34" charset="-122"/>
                <a:cs typeface="Georgia" pitchFamily="34" charset="-120"/>
              </a:rPr>
              <a:t>RAID</a:t>
            </a:r>
            <a:endParaRPr lang="en-US" sz="2200" dirty="0"/>
          </a:p>
        </p:txBody>
      </p:sp>
      <p:sp>
        <p:nvSpPr>
          <p:cNvPr id="18" name="Text 16"/>
          <p:cNvSpPr/>
          <p:nvPr/>
        </p:nvSpPr>
        <p:spPr>
          <a:xfrm>
            <a:off x="6492240" y="2697480"/>
            <a:ext cx="2423160" cy="1051560"/>
          </a:xfrm>
          <a:prstGeom prst="rect">
            <a:avLst/>
          </a:prstGeom>
          <a:noFill/>
          <a:ln/>
        </p:spPr>
        <p:txBody>
          <a:bodyPr wrap="square" lIns="0" tIns="0" rIns="0" bIns="0" rtlCol="0" anchor="ctr"/>
          <a:lstStyle/>
          <a:p>
            <a:pPr indent="0" marL="0">
              <a:buNone/>
            </a:pPr>
            <a:r>
              <a:rPr lang="en-US" sz="1400" dirty="0">
                <a:solidFill>
                  <a:srgbClr val="9AA3B5"/>
                </a:solidFill>
                <a:latin typeface="Calibri" pitchFamily="34" charset="0"/>
                <a:ea typeface="Calibri" pitchFamily="34" charset="-122"/>
                <a:cs typeface="Calibri" pitchFamily="34" charset="-120"/>
              </a:rPr>
              <a:t>PvE strongholds with deploy, scoring, and loot.</a:t>
            </a:r>
            <a:endParaRPr lang="en-US" sz="1400" dirty="0"/>
          </a:p>
        </p:txBody>
      </p:sp>
      <p:sp>
        <p:nvSpPr>
          <p:cNvPr id="19" name="Shape 17"/>
          <p:cNvSpPr/>
          <p:nvPr/>
        </p:nvSpPr>
        <p:spPr>
          <a:xfrm>
            <a:off x="9235440" y="1691640"/>
            <a:ext cx="2788920" cy="2331720"/>
          </a:xfrm>
          <a:prstGeom prst="rect">
            <a:avLst/>
          </a:prstGeom>
          <a:solidFill>
            <a:srgbClr val="151C2E"/>
          </a:solidFill>
          <a:ln w="12700">
            <a:solidFill>
              <a:srgbClr val="243049"/>
            </a:solidFill>
            <a:prstDash val="solid"/>
          </a:ln>
        </p:spPr>
      </p:sp>
      <p:sp>
        <p:nvSpPr>
          <p:cNvPr id="20" name="Text 18"/>
          <p:cNvSpPr/>
          <p:nvPr/>
        </p:nvSpPr>
        <p:spPr>
          <a:xfrm>
            <a:off x="9418320" y="1874520"/>
            <a:ext cx="2423160" cy="292608"/>
          </a:xfrm>
          <a:prstGeom prst="rect">
            <a:avLst/>
          </a:prstGeom>
          <a:noFill/>
          <a:ln/>
        </p:spPr>
        <p:txBody>
          <a:bodyPr wrap="square" lIns="0" tIns="0" rIns="0" bIns="0" rtlCol="0" anchor="ctr"/>
          <a:lstStyle/>
          <a:p>
            <a:pPr indent="0" marL="0">
              <a:buNone/>
            </a:pPr>
            <a:r>
              <a:rPr lang="en-US" sz="1200" b="1" spc="120" kern="0" dirty="0">
                <a:solidFill>
                  <a:srgbClr val="C9A227"/>
                </a:solidFill>
                <a:latin typeface="Calibri" pitchFamily="34" charset="0"/>
                <a:ea typeface="Calibri" pitchFamily="34" charset="-122"/>
                <a:cs typeface="Calibri" pitchFamily="34" charset="-120"/>
              </a:rPr>
              <a:t>04</a:t>
            </a:r>
            <a:endParaRPr lang="en-US" sz="1200" dirty="0"/>
          </a:p>
        </p:txBody>
      </p:sp>
      <p:sp>
        <p:nvSpPr>
          <p:cNvPr id="21" name="Text 19"/>
          <p:cNvSpPr/>
          <p:nvPr/>
        </p:nvSpPr>
        <p:spPr>
          <a:xfrm>
            <a:off x="9418320" y="2212848"/>
            <a:ext cx="2423160" cy="384048"/>
          </a:xfrm>
          <a:prstGeom prst="rect">
            <a:avLst/>
          </a:prstGeom>
          <a:noFill/>
          <a:ln/>
        </p:spPr>
        <p:txBody>
          <a:bodyPr wrap="square" lIns="0" tIns="0" rIns="0" bIns="0" rtlCol="0" anchor="ctr"/>
          <a:lstStyle/>
          <a:p>
            <a:pPr indent="0" marL="0">
              <a:buNone/>
            </a:pPr>
            <a:r>
              <a:rPr lang="en-US" sz="2200" dirty="0">
                <a:solidFill>
                  <a:srgbClr val="F4F1E8"/>
                </a:solidFill>
                <a:latin typeface="Georgia" pitchFamily="34" charset="0"/>
                <a:ea typeface="Georgia" pitchFamily="34" charset="-122"/>
                <a:cs typeface="Georgia" pitchFamily="34" charset="-120"/>
              </a:rPr>
              <a:t>RETURN</a:t>
            </a:r>
            <a:endParaRPr lang="en-US" sz="2200" dirty="0"/>
          </a:p>
        </p:txBody>
      </p:sp>
      <p:sp>
        <p:nvSpPr>
          <p:cNvPr id="22" name="Text 20"/>
          <p:cNvSpPr/>
          <p:nvPr/>
        </p:nvSpPr>
        <p:spPr>
          <a:xfrm>
            <a:off x="9418320" y="2697480"/>
            <a:ext cx="2423160" cy="1051560"/>
          </a:xfrm>
          <a:prstGeom prst="rect">
            <a:avLst/>
          </a:prstGeom>
          <a:noFill/>
          <a:ln/>
        </p:spPr>
        <p:txBody>
          <a:bodyPr wrap="square" lIns="0" tIns="0" rIns="0" bIns="0" rtlCol="0" anchor="ctr"/>
          <a:lstStyle/>
          <a:p>
            <a:pPr indent="0" marL="0">
              <a:buNone/>
            </a:pPr>
            <a:r>
              <a:rPr lang="en-US" sz="1400" dirty="0">
                <a:solidFill>
                  <a:srgbClr val="9AA3B5"/>
                </a:solidFill>
                <a:latin typeface="Calibri" pitchFamily="34" charset="0"/>
                <a:ea typeface="Calibri" pitchFamily="34" charset="-122"/>
                <a:cs typeface="Calibri" pitchFamily="34" charset="-120"/>
              </a:rPr>
              <a:t>Timers, queues, and daily progression that pull players back.</a:t>
            </a:r>
            <a:endParaRPr lang="en-US" sz="1400" dirty="0"/>
          </a:p>
        </p:txBody>
      </p:sp>
      <p:sp>
        <p:nvSpPr>
          <p:cNvPr id="23" name="Shape 21"/>
          <p:cNvSpPr/>
          <p:nvPr/>
        </p:nvSpPr>
        <p:spPr>
          <a:xfrm>
            <a:off x="457200" y="4206240"/>
            <a:ext cx="11247120" cy="2148840"/>
          </a:xfrm>
          <a:prstGeom prst="rect">
            <a:avLst/>
          </a:prstGeom>
          <a:solidFill>
            <a:srgbClr val="151C2E"/>
          </a:solidFill>
          <a:ln w="12700">
            <a:solidFill>
              <a:srgbClr val="243049"/>
            </a:solidFill>
            <a:prstDash val="solid"/>
          </a:ln>
        </p:spPr>
      </p:sp>
      <p:sp>
        <p:nvSpPr>
          <p:cNvPr id="24" name="Shape 22"/>
          <p:cNvSpPr/>
          <p:nvPr/>
        </p:nvSpPr>
        <p:spPr>
          <a:xfrm>
            <a:off x="457200" y="4206240"/>
            <a:ext cx="91440" cy="2148840"/>
          </a:xfrm>
          <a:prstGeom prst="rect">
            <a:avLst/>
          </a:prstGeom>
          <a:solidFill>
            <a:srgbClr val="C9A227"/>
          </a:solidFill>
          <a:ln/>
        </p:spPr>
      </p:sp>
      <p:sp>
        <p:nvSpPr>
          <p:cNvPr id="25" name="Text 23"/>
          <p:cNvSpPr/>
          <p:nvPr/>
        </p:nvSpPr>
        <p:spPr>
          <a:xfrm>
            <a:off x="777240" y="4343400"/>
            <a:ext cx="10698480" cy="256032"/>
          </a:xfrm>
          <a:prstGeom prst="rect">
            <a:avLst/>
          </a:prstGeom>
          <a:noFill/>
          <a:ln/>
        </p:spPr>
        <p:txBody>
          <a:bodyPr wrap="square" lIns="0" tIns="0" rIns="0" bIns="0" rtlCol="0" anchor="ctr"/>
          <a:lstStyle/>
          <a:p>
            <a:pPr indent="0" marL="0">
              <a:buNone/>
            </a:pPr>
            <a:r>
              <a:rPr lang="en-US" sz="1100" b="1" spc="140" kern="0" dirty="0">
                <a:solidFill>
                  <a:srgbClr val="C9A227"/>
                </a:solidFill>
                <a:latin typeface="Calibri" pitchFamily="34" charset="0"/>
                <a:ea typeface="Calibri" pitchFamily="34" charset="-122"/>
                <a:cs typeface="Calibri" pitchFamily="34" charset="-120"/>
              </a:rPr>
              <a:t>DESIGN PRINCIPLE</a:t>
            </a:r>
            <a:endParaRPr lang="en-US" sz="1100" dirty="0"/>
          </a:p>
        </p:txBody>
      </p:sp>
      <p:sp>
        <p:nvSpPr>
          <p:cNvPr id="26" name="Text 24"/>
          <p:cNvSpPr/>
          <p:nvPr/>
        </p:nvSpPr>
        <p:spPr>
          <a:xfrm>
            <a:off x="777240" y="4663440"/>
            <a:ext cx="10698480" cy="640080"/>
          </a:xfrm>
          <a:prstGeom prst="rect">
            <a:avLst/>
          </a:prstGeom>
          <a:noFill/>
          <a:ln/>
        </p:spPr>
        <p:txBody>
          <a:bodyPr wrap="square" lIns="0" tIns="0" rIns="0" bIns="0" rtlCol="0" anchor="ctr"/>
          <a:lstStyle/>
          <a:p>
            <a:pPr indent="0" marL="0">
              <a:buNone/>
            </a:pPr>
            <a:r>
              <a:rPr lang="en-US" sz="1600" dirty="0">
                <a:solidFill>
                  <a:srgbClr val="F4F1E8"/>
                </a:solidFill>
                <a:latin typeface="Calibri" pitchFamily="34" charset="0"/>
                <a:ea typeface="Calibri" pitchFamily="34" charset="-122"/>
                <a:cs typeface="Calibri" pitchFamily="34" charset="-120"/>
              </a:rPr>
              <a:t>Players should enjoy Echoes of Elarion as a game first. Seeker and Solana handle identity, payments, and distribution in the background — never as a tutorial the player has to survive before the game begins.</a:t>
            </a:r>
            <a:endParaRPr lang="en-US" sz="1600" dirty="0"/>
          </a:p>
        </p:txBody>
      </p:sp>
      <p:sp>
        <p:nvSpPr>
          <p:cNvPr id="27" name="Text 25"/>
          <p:cNvSpPr/>
          <p:nvPr/>
        </p:nvSpPr>
        <p:spPr>
          <a:xfrm>
            <a:off x="777240" y="5349240"/>
            <a:ext cx="10698480" cy="777240"/>
          </a:xfrm>
          <a:prstGeom prst="rect">
            <a:avLst/>
          </a:prstGeom>
          <a:noFill/>
          <a:ln/>
        </p:spPr>
        <p:txBody>
          <a:bodyPr wrap="square" lIns="0" tIns="0" rIns="0" bIns="0" rtlCol="0" anchor="ctr"/>
          <a:lstStyle/>
          <a:p>
            <a:pPr indent="0" marL="0">
              <a:buNone/>
            </a:pPr>
            <a:r>
              <a:rPr lang="en-US" sz="1400" dirty="0">
                <a:solidFill>
                  <a:srgbClr val="9AA3B5"/>
                </a:solidFill>
                <a:latin typeface="Calibri" pitchFamily="34" charset="0"/>
                <a:ea typeface="Calibri" pitchFamily="34" charset="-122"/>
                <a:cs typeface="Calibri" pitchFamily="34" charset="-120"/>
              </a:rPr>
              <a:t>Multi-language support is now in active development so that first session, onboarding, and system messaging can reach Seeker players beyond a single locale.</a:t>
            </a:r>
            <a:endParaRPr lang="en-US" sz="1400" dirty="0"/>
          </a:p>
        </p:txBody>
      </p:sp>
      <p:sp>
        <p:nvSpPr>
          <p:cNvPr id="28" name="Shape 26"/>
          <p:cNvSpPr/>
          <p:nvPr/>
        </p:nvSpPr>
        <p:spPr>
          <a:xfrm>
            <a:off x="0" y="6656832"/>
            <a:ext cx="12161520" cy="201168"/>
          </a:xfrm>
          <a:prstGeom prst="rect">
            <a:avLst/>
          </a:prstGeom>
          <a:solidFill>
            <a:srgbClr val="0B1220"/>
          </a:solidFill>
          <a:ln/>
        </p:spPr>
      </p:sp>
      <p:sp>
        <p:nvSpPr>
          <p:cNvPr id="29" name="Shape 27"/>
          <p:cNvSpPr/>
          <p:nvPr/>
        </p:nvSpPr>
        <p:spPr>
          <a:xfrm>
            <a:off x="0" y="6656832"/>
            <a:ext cx="12161520" cy="13716"/>
          </a:xfrm>
          <a:prstGeom prst="rect">
            <a:avLst/>
          </a:prstGeom>
          <a:solidFill>
            <a:srgbClr val="243049"/>
          </a:solidFill>
          <a:ln/>
        </p:spPr>
      </p:sp>
      <p:sp>
        <p:nvSpPr>
          <p:cNvPr id="30" name="Text 28"/>
          <p:cNvSpPr/>
          <p:nvPr/>
        </p:nvSpPr>
        <p:spPr>
          <a:xfrm>
            <a:off x="411480" y="6675120"/>
            <a:ext cx="7498080" cy="164592"/>
          </a:xfrm>
          <a:prstGeom prst="rect">
            <a:avLst/>
          </a:prstGeom>
          <a:noFill/>
          <a:ln/>
        </p:spPr>
        <p:txBody>
          <a:bodyPr wrap="square" lIns="0" tIns="0" rIns="0" bIns="0" rtlCol="0" anchor="ctr"/>
          <a:lstStyle/>
          <a:p>
            <a:pPr indent="0" marL="0">
              <a:buNone/>
            </a:pPr>
            <a:r>
              <a:rPr lang="en-US" sz="900" spc="60" kern="0" dirty="0">
                <a:solidFill>
                  <a:srgbClr val="6E7789"/>
                </a:solidFill>
                <a:latin typeface="Calibri" pitchFamily="34" charset="0"/>
                <a:ea typeface="Calibri" pitchFamily="34" charset="-122"/>
                <a:cs typeface="Calibri" pitchFamily="34" charset="-120"/>
              </a:rPr>
              <a:t>DENELLE STUDIOS  ·  CONFIDENTIAL GRANT APPLICATION</a:t>
            </a:r>
            <a:endParaRPr lang="en-US" sz="900" dirty="0"/>
          </a:p>
        </p:txBody>
      </p:sp>
      <p:sp>
        <p:nvSpPr>
          <p:cNvPr id="31" name="Text 29"/>
          <p:cNvSpPr/>
          <p:nvPr/>
        </p:nvSpPr>
        <p:spPr>
          <a:xfrm>
            <a:off x="7863840" y="6675120"/>
            <a:ext cx="3886200" cy="164592"/>
          </a:xfrm>
          <a:prstGeom prst="rect">
            <a:avLst/>
          </a:prstGeom>
          <a:noFill/>
          <a:ln/>
        </p:spPr>
        <p:txBody>
          <a:bodyPr wrap="square" lIns="0" tIns="0" rIns="0" bIns="0" rtlCol="0" anchor="ctr"/>
          <a:lstStyle/>
          <a:p>
            <a:pPr algn="r" indent="0" marL="0">
              <a:buNone/>
            </a:pPr>
            <a:r>
              <a:rPr lang="en-US" sz="900" dirty="0">
                <a:solidFill>
                  <a:srgbClr val="6E7789"/>
                </a:solidFill>
                <a:latin typeface="Calibri" pitchFamily="34" charset="0"/>
                <a:ea typeface="Calibri" pitchFamily="34" charset="-122"/>
                <a:cs typeface="Calibri" pitchFamily="34" charset="-120"/>
              </a:rPr>
              <a:t>ECHOES OF ELARION  ·  2 / 14</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B1220"/>
          </a:solidFill>
          <a:ln/>
        </p:spPr>
      </p:sp>
      <p:sp>
        <p:nvSpPr>
          <p:cNvPr id="3" name="Shape 1"/>
          <p:cNvSpPr/>
          <p:nvPr/>
        </p:nvSpPr>
        <p:spPr>
          <a:xfrm>
            <a:off x="457200" y="256032"/>
            <a:ext cx="164592" cy="164592"/>
          </a:xfrm>
          <a:prstGeom prst="rect">
            <a:avLst/>
          </a:prstGeom>
          <a:solidFill>
            <a:srgbClr val="C9A227"/>
          </a:solidFill>
          <a:ln/>
        </p:spPr>
      </p:sp>
      <p:sp>
        <p:nvSpPr>
          <p:cNvPr id="4" name="Text 2"/>
          <p:cNvSpPr/>
          <p:nvPr/>
        </p:nvSpPr>
        <p:spPr>
          <a:xfrm>
            <a:off x="731520" y="219456"/>
            <a:ext cx="9144000" cy="237744"/>
          </a:xfrm>
          <a:prstGeom prst="rect">
            <a:avLst/>
          </a:prstGeom>
          <a:noFill/>
          <a:ln/>
        </p:spPr>
        <p:txBody>
          <a:bodyPr wrap="square" lIns="0" tIns="0" rIns="0" bIns="0" rtlCol="0" anchor="ctr"/>
          <a:lstStyle/>
          <a:p>
            <a:pPr indent="0" marL="0">
              <a:buNone/>
            </a:pPr>
            <a:r>
              <a:rPr lang="en-US" sz="1100" b="1" spc="160" kern="0" dirty="0">
                <a:solidFill>
                  <a:srgbClr val="C9A227"/>
                </a:solidFill>
                <a:latin typeface="Calibri" pitchFamily="34" charset="0"/>
                <a:ea typeface="Calibri" pitchFamily="34" charset="-122"/>
                <a:cs typeface="Calibri" pitchFamily="34" charset="-120"/>
              </a:rPr>
              <a:t>STRATEGIC FIT</a:t>
            </a:r>
            <a:endParaRPr lang="en-US" sz="1100" dirty="0"/>
          </a:p>
        </p:txBody>
      </p:sp>
      <p:sp>
        <p:nvSpPr>
          <p:cNvPr id="5" name="Text 3"/>
          <p:cNvSpPr/>
          <p:nvPr/>
        </p:nvSpPr>
        <p:spPr>
          <a:xfrm>
            <a:off x="457200" y="475488"/>
            <a:ext cx="11247120" cy="502920"/>
          </a:xfrm>
          <a:prstGeom prst="rect">
            <a:avLst/>
          </a:prstGeom>
          <a:noFill/>
          <a:ln/>
        </p:spPr>
        <p:txBody>
          <a:bodyPr wrap="square" lIns="0" tIns="0" rIns="0" bIns="0" rtlCol="0" anchor="ctr"/>
          <a:lstStyle/>
          <a:p>
            <a:pPr indent="0" marL="0">
              <a:buNone/>
            </a:pPr>
            <a:r>
              <a:rPr lang="en-US" sz="2800" dirty="0">
                <a:solidFill>
                  <a:srgbClr val="F4F1E8"/>
                </a:solidFill>
                <a:latin typeface="Georgia" pitchFamily="34" charset="0"/>
                <a:ea typeface="Georgia" pitchFamily="34" charset="-122"/>
                <a:cs typeface="Georgia" pitchFamily="34" charset="-120"/>
              </a:rPr>
              <a:t>The gap is not more apps. It is more games that stay.</a:t>
            </a:r>
            <a:endParaRPr lang="en-US" sz="2800" dirty="0"/>
          </a:p>
        </p:txBody>
      </p:sp>
      <p:sp>
        <p:nvSpPr>
          <p:cNvPr id="6" name="Shape 4"/>
          <p:cNvSpPr/>
          <p:nvPr/>
        </p:nvSpPr>
        <p:spPr>
          <a:xfrm>
            <a:off x="457200" y="1143000"/>
            <a:ext cx="5623560" cy="2286000"/>
          </a:xfrm>
          <a:prstGeom prst="rect">
            <a:avLst/>
          </a:prstGeom>
          <a:solidFill>
            <a:srgbClr val="151C2E"/>
          </a:solidFill>
          <a:ln w="12700">
            <a:solidFill>
              <a:srgbClr val="243049"/>
            </a:solidFill>
            <a:prstDash val="solid"/>
          </a:ln>
        </p:spPr>
      </p:sp>
      <p:sp>
        <p:nvSpPr>
          <p:cNvPr id="7" name="Text 5"/>
          <p:cNvSpPr/>
          <p:nvPr/>
        </p:nvSpPr>
        <p:spPr>
          <a:xfrm>
            <a:off x="731520" y="1399032"/>
            <a:ext cx="1097280" cy="292608"/>
          </a:xfrm>
          <a:prstGeom prst="rect">
            <a:avLst/>
          </a:prstGeom>
          <a:noFill/>
          <a:ln/>
        </p:spPr>
        <p:txBody>
          <a:bodyPr wrap="square" lIns="0" tIns="0" rIns="0" bIns="0" rtlCol="0" anchor="ctr"/>
          <a:lstStyle/>
          <a:p>
            <a:pPr indent="0" marL="0">
              <a:buNone/>
            </a:pPr>
            <a:r>
              <a:rPr lang="en-US" sz="1200" b="1" dirty="0">
                <a:solidFill>
                  <a:srgbClr val="C9A227"/>
                </a:solidFill>
                <a:latin typeface="Calibri" pitchFamily="34" charset="0"/>
                <a:ea typeface="Calibri" pitchFamily="34" charset="-122"/>
                <a:cs typeface="Calibri" pitchFamily="34" charset="-120"/>
              </a:rPr>
              <a:t>01</a:t>
            </a:r>
            <a:endParaRPr lang="en-US" sz="1200" dirty="0"/>
          </a:p>
        </p:txBody>
      </p:sp>
      <p:sp>
        <p:nvSpPr>
          <p:cNvPr id="8" name="Text 6"/>
          <p:cNvSpPr/>
          <p:nvPr/>
        </p:nvSpPr>
        <p:spPr>
          <a:xfrm>
            <a:off x="731520" y="1737360"/>
            <a:ext cx="5074920" cy="365760"/>
          </a:xfrm>
          <a:prstGeom prst="rect">
            <a:avLst/>
          </a:prstGeom>
          <a:noFill/>
          <a:ln/>
        </p:spPr>
        <p:txBody>
          <a:bodyPr wrap="square" lIns="0" tIns="0" rIns="0" bIns="0" rtlCol="0" anchor="ctr"/>
          <a:lstStyle/>
          <a:p>
            <a:pPr indent="0" marL="0">
              <a:buNone/>
            </a:pPr>
            <a:r>
              <a:rPr lang="en-US" sz="2000" dirty="0">
                <a:solidFill>
                  <a:srgbClr val="F4F1E8"/>
                </a:solidFill>
                <a:latin typeface="Georgia" pitchFamily="34" charset="0"/>
                <a:ea typeface="Georgia" pitchFamily="34" charset="-122"/>
                <a:cs typeface="Georgia" pitchFamily="34" charset="-120"/>
              </a:rPr>
              <a:t>Mobile-first, not a port</a:t>
            </a:r>
            <a:endParaRPr lang="en-US" sz="2000" dirty="0"/>
          </a:p>
        </p:txBody>
      </p:sp>
      <p:sp>
        <p:nvSpPr>
          <p:cNvPr id="9" name="Text 7"/>
          <p:cNvSpPr/>
          <p:nvPr/>
        </p:nvSpPr>
        <p:spPr>
          <a:xfrm>
            <a:off x="731520" y="2194560"/>
            <a:ext cx="5074920" cy="1005840"/>
          </a:xfrm>
          <a:prstGeom prst="rect">
            <a:avLst/>
          </a:prstGeom>
          <a:noFill/>
          <a:ln/>
        </p:spPr>
        <p:txBody>
          <a:bodyPr wrap="square" lIns="0" tIns="0" rIns="0" bIns="0" rtlCol="0" anchor="ctr"/>
          <a:lstStyle/>
          <a:p>
            <a:pPr indent="0" marL="0">
              <a:buNone/>
            </a:pPr>
            <a:r>
              <a:rPr lang="en-US" sz="1400" dirty="0">
                <a:solidFill>
                  <a:srgbClr val="9AA3B5"/>
                </a:solidFill>
                <a:latin typeface="Calibri" pitchFamily="34" charset="0"/>
                <a:ea typeface="Calibri" pitchFamily="34" charset="-122"/>
                <a:cs typeface="Calibri" pitchFamily="34" charset="-120"/>
              </a:rPr>
              <a:t>Designed as an Android game: touch-native input, phone-aspect UI verified panel by panel, and device QA on Seeker.</a:t>
            </a:r>
            <a:endParaRPr lang="en-US" sz="1400" dirty="0"/>
          </a:p>
        </p:txBody>
      </p:sp>
      <p:sp>
        <p:nvSpPr>
          <p:cNvPr id="10" name="Shape 8"/>
          <p:cNvSpPr/>
          <p:nvPr/>
        </p:nvSpPr>
        <p:spPr>
          <a:xfrm>
            <a:off x="6309360" y="1143000"/>
            <a:ext cx="5623560" cy="2286000"/>
          </a:xfrm>
          <a:prstGeom prst="rect">
            <a:avLst/>
          </a:prstGeom>
          <a:solidFill>
            <a:srgbClr val="151C2E"/>
          </a:solidFill>
          <a:ln w="12700">
            <a:solidFill>
              <a:srgbClr val="243049"/>
            </a:solidFill>
            <a:prstDash val="solid"/>
          </a:ln>
        </p:spPr>
      </p:sp>
      <p:sp>
        <p:nvSpPr>
          <p:cNvPr id="11" name="Text 9"/>
          <p:cNvSpPr/>
          <p:nvPr/>
        </p:nvSpPr>
        <p:spPr>
          <a:xfrm>
            <a:off x="6583680" y="1399032"/>
            <a:ext cx="1097280" cy="292608"/>
          </a:xfrm>
          <a:prstGeom prst="rect">
            <a:avLst/>
          </a:prstGeom>
          <a:noFill/>
          <a:ln/>
        </p:spPr>
        <p:txBody>
          <a:bodyPr wrap="square" lIns="0" tIns="0" rIns="0" bIns="0" rtlCol="0" anchor="ctr"/>
          <a:lstStyle/>
          <a:p>
            <a:pPr indent="0" marL="0">
              <a:buNone/>
            </a:pPr>
            <a:r>
              <a:rPr lang="en-US" sz="1200" b="1" dirty="0">
                <a:solidFill>
                  <a:srgbClr val="C9A227"/>
                </a:solidFill>
                <a:latin typeface="Calibri" pitchFamily="34" charset="0"/>
                <a:ea typeface="Calibri" pitchFamily="34" charset="-122"/>
                <a:cs typeface="Calibri" pitchFamily="34" charset="-120"/>
              </a:rPr>
              <a:t>02</a:t>
            </a:r>
            <a:endParaRPr lang="en-US" sz="1200" dirty="0"/>
          </a:p>
        </p:txBody>
      </p:sp>
      <p:sp>
        <p:nvSpPr>
          <p:cNvPr id="12" name="Text 10"/>
          <p:cNvSpPr/>
          <p:nvPr/>
        </p:nvSpPr>
        <p:spPr>
          <a:xfrm>
            <a:off x="6583680" y="1737360"/>
            <a:ext cx="5074920" cy="365760"/>
          </a:xfrm>
          <a:prstGeom prst="rect">
            <a:avLst/>
          </a:prstGeom>
          <a:noFill/>
          <a:ln/>
        </p:spPr>
        <p:txBody>
          <a:bodyPr wrap="square" lIns="0" tIns="0" rIns="0" bIns="0" rtlCol="0" anchor="ctr"/>
          <a:lstStyle/>
          <a:p>
            <a:pPr indent="0" marL="0">
              <a:buNone/>
            </a:pPr>
            <a:r>
              <a:rPr lang="en-US" sz="2000" dirty="0">
                <a:solidFill>
                  <a:srgbClr val="F4F1E8"/>
                </a:solidFill>
                <a:latin typeface="Georgia" pitchFamily="34" charset="0"/>
                <a:ea typeface="Georgia" pitchFamily="34" charset="-122"/>
                <a:cs typeface="Georgia" pitchFamily="34" charset="-120"/>
              </a:rPr>
              <a:t>Repeatable engagement</a:t>
            </a:r>
            <a:endParaRPr lang="en-US" sz="2000" dirty="0"/>
          </a:p>
        </p:txBody>
      </p:sp>
      <p:sp>
        <p:nvSpPr>
          <p:cNvPr id="13" name="Text 11"/>
          <p:cNvSpPr/>
          <p:nvPr/>
        </p:nvSpPr>
        <p:spPr>
          <a:xfrm>
            <a:off x="6583680" y="2194560"/>
            <a:ext cx="5074920" cy="1005840"/>
          </a:xfrm>
          <a:prstGeom prst="rect">
            <a:avLst/>
          </a:prstGeom>
          <a:noFill/>
          <a:ln/>
        </p:spPr>
        <p:txBody>
          <a:bodyPr wrap="square" lIns="0" tIns="0" rIns="0" bIns="0" rtlCol="0" anchor="ctr"/>
          <a:lstStyle/>
          <a:p>
            <a:pPr indent="0" marL="0">
              <a:buNone/>
            </a:pPr>
            <a:r>
              <a:rPr lang="en-US" sz="1400" dirty="0">
                <a:solidFill>
                  <a:srgbClr val="9AA3B5"/>
                </a:solidFill>
                <a:latin typeface="Calibri" pitchFamily="34" charset="0"/>
                <a:ea typeface="Calibri" pitchFamily="34" charset="-122"/>
                <a:cs typeface="Calibri" pitchFamily="34" charset="-120"/>
              </a:rPr>
              <a:t>Construction timers, training, research, raids, and seasonal systems create real reasons to return — the behavior Solana Mobile needs from consumer titles.</a:t>
            </a:r>
            <a:endParaRPr lang="en-US" sz="1400" dirty="0"/>
          </a:p>
        </p:txBody>
      </p:sp>
      <p:sp>
        <p:nvSpPr>
          <p:cNvPr id="14" name="Shape 12"/>
          <p:cNvSpPr/>
          <p:nvPr/>
        </p:nvSpPr>
        <p:spPr>
          <a:xfrm>
            <a:off x="457200" y="3611880"/>
            <a:ext cx="5623560" cy="2286000"/>
          </a:xfrm>
          <a:prstGeom prst="rect">
            <a:avLst/>
          </a:prstGeom>
          <a:solidFill>
            <a:srgbClr val="151C2E"/>
          </a:solidFill>
          <a:ln w="12700">
            <a:solidFill>
              <a:srgbClr val="243049"/>
            </a:solidFill>
            <a:prstDash val="solid"/>
          </a:ln>
        </p:spPr>
      </p:sp>
      <p:sp>
        <p:nvSpPr>
          <p:cNvPr id="15" name="Text 13"/>
          <p:cNvSpPr/>
          <p:nvPr/>
        </p:nvSpPr>
        <p:spPr>
          <a:xfrm>
            <a:off x="731520" y="3867912"/>
            <a:ext cx="1097280" cy="292608"/>
          </a:xfrm>
          <a:prstGeom prst="rect">
            <a:avLst/>
          </a:prstGeom>
          <a:noFill/>
          <a:ln/>
        </p:spPr>
        <p:txBody>
          <a:bodyPr wrap="square" lIns="0" tIns="0" rIns="0" bIns="0" rtlCol="0" anchor="ctr"/>
          <a:lstStyle/>
          <a:p>
            <a:pPr indent="0" marL="0">
              <a:buNone/>
            </a:pPr>
            <a:r>
              <a:rPr lang="en-US" sz="1200" b="1" dirty="0">
                <a:solidFill>
                  <a:srgbClr val="C9A227"/>
                </a:solidFill>
                <a:latin typeface="Calibri" pitchFamily="34" charset="0"/>
                <a:ea typeface="Calibri" pitchFamily="34" charset="-122"/>
                <a:cs typeface="Calibri" pitchFamily="34" charset="-120"/>
              </a:rPr>
              <a:t>03</a:t>
            </a:r>
            <a:endParaRPr lang="en-US" sz="1200" dirty="0"/>
          </a:p>
        </p:txBody>
      </p:sp>
      <p:sp>
        <p:nvSpPr>
          <p:cNvPr id="16" name="Text 14"/>
          <p:cNvSpPr/>
          <p:nvPr/>
        </p:nvSpPr>
        <p:spPr>
          <a:xfrm>
            <a:off x="731520" y="4206240"/>
            <a:ext cx="5074920" cy="365760"/>
          </a:xfrm>
          <a:prstGeom prst="rect">
            <a:avLst/>
          </a:prstGeom>
          <a:noFill/>
          <a:ln/>
        </p:spPr>
        <p:txBody>
          <a:bodyPr wrap="square" lIns="0" tIns="0" rIns="0" bIns="0" rtlCol="0" anchor="ctr"/>
          <a:lstStyle/>
          <a:p>
            <a:pPr indent="0" marL="0">
              <a:buNone/>
            </a:pPr>
            <a:r>
              <a:rPr lang="en-US" sz="2000" dirty="0">
                <a:solidFill>
                  <a:srgbClr val="F4F1E8"/>
                </a:solidFill>
                <a:latin typeface="Georgia" pitchFamily="34" charset="0"/>
                <a:ea typeface="Georgia" pitchFamily="34" charset="-122"/>
                <a:cs typeface="Georgia" pitchFamily="34" charset="-120"/>
              </a:rPr>
              <a:t>Solana-native distribution</a:t>
            </a:r>
            <a:endParaRPr lang="en-US" sz="2000" dirty="0"/>
          </a:p>
        </p:txBody>
      </p:sp>
      <p:sp>
        <p:nvSpPr>
          <p:cNvPr id="17" name="Text 15"/>
          <p:cNvSpPr/>
          <p:nvPr/>
        </p:nvSpPr>
        <p:spPr>
          <a:xfrm>
            <a:off x="731520" y="4663440"/>
            <a:ext cx="5074920" cy="1005840"/>
          </a:xfrm>
          <a:prstGeom prst="rect">
            <a:avLst/>
          </a:prstGeom>
          <a:noFill/>
          <a:ln/>
        </p:spPr>
        <p:txBody>
          <a:bodyPr wrap="square" lIns="0" tIns="0" rIns="0" bIns="0" rtlCol="0" anchor="ctr"/>
          <a:lstStyle/>
          <a:p>
            <a:pPr indent="0" marL="0">
              <a:buNone/>
            </a:pPr>
            <a:r>
              <a:rPr lang="en-US" sz="1400" dirty="0">
                <a:solidFill>
                  <a:srgbClr val="9AA3B5"/>
                </a:solidFill>
                <a:latin typeface="Calibri" pitchFamily="34" charset="0"/>
                <a:ea typeface="Calibri" pitchFamily="34" charset="-122"/>
                <a:cs typeface="Calibri" pitchFamily="34" charset="-120"/>
              </a:rPr>
              <a:t>Already published and updating through the Solana dApp Store, with a release pipeline purpose-built for that store rather than adapted after the fact.</a:t>
            </a:r>
            <a:endParaRPr lang="en-US" sz="1400" dirty="0"/>
          </a:p>
        </p:txBody>
      </p:sp>
      <p:sp>
        <p:nvSpPr>
          <p:cNvPr id="18" name="Shape 16"/>
          <p:cNvSpPr/>
          <p:nvPr/>
        </p:nvSpPr>
        <p:spPr>
          <a:xfrm>
            <a:off x="6309360" y="3611880"/>
            <a:ext cx="5623560" cy="2286000"/>
          </a:xfrm>
          <a:prstGeom prst="rect">
            <a:avLst/>
          </a:prstGeom>
          <a:solidFill>
            <a:srgbClr val="151C2E"/>
          </a:solidFill>
          <a:ln w="12700">
            <a:solidFill>
              <a:srgbClr val="243049"/>
            </a:solidFill>
            <a:prstDash val="solid"/>
          </a:ln>
        </p:spPr>
      </p:sp>
      <p:sp>
        <p:nvSpPr>
          <p:cNvPr id="19" name="Text 17"/>
          <p:cNvSpPr/>
          <p:nvPr/>
        </p:nvSpPr>
        <p:spPr>
          <a:xfrm>
            <a:off x="6583680" y="3867912"/>
            <a:ext cx="1097280" cy="292608"/>
          </a:xfrm>
          <a:prstGeom prst="rect">
            <a:avLst/>
          </a:prstGeom>
          <a:noFill/>
          <a:ln/>
        </p:spPr>
        <p:txBody>
          <a:bodyPr wrap="square" lIns="0" tIns="0" rIns="0" bIns="0" rtlCol="0" anchor="ctr"/>
          <a:lstStyle/>
          <a:p>
            <a:pPr indent="0" marL="0">
              <a:buNone/>
            </a:pPr>
            <a:r>
              <a:rPr lang="en-US" sz="1200" b="1" dirty="0">
                <a:solidFill>
                  <a:srgbClr val="C9A227"/>
                </a:solidFill>
                <a:latin typeface="Calibri" pitchFamily="34" charset="0"/>
                <a:ea typeface="Calibri" pitchFamily="34" charset="-122"/>
                <a:cs typeface="Calibri" pitchFamily="34" charset="-120"/>
              </a:rPr>
              <a:t>04</a:t>
            </a:r>
            <a:endParaRPr lang="en-US" sz="1200" dirty="0"/>
          </a:p>
        </p:txBody>
      </p:sp>
      <p:sp>
        <p:nvSpPr>
          <p:cNvPr id="20" name="Text 18"/>
          <p:cNvSpPr/>
          <p:nvPr/>
        </p:nvSpPr>
        <p:spPr>
          <a:xfrm>
            <a:off x="6583680" y="4206240"/>
            <a:ext cx="5074920" cy="365760"/>
          </a:xfrm>
          <a:prstGeom prst="rect">
            <a:avLst/>
          </a:prstGeom>
          <a:noFill/>
          <a:ln/>
        </p:spPr>
        <p:txBody>
          <a:bodyPr wrap="square" lIns="0" tIns="0" rIns="0" bIns="0" rtlCol="0" anchor="ctr"/>
          <a:lstStyle/>
          <a:p>
            <a:pPr indent="0" marL="0">
              <a:buNone/>
            </a:pPr>
            <a:r>
              <a:rPr lang="en-US" sz="2000" dirty="0">
                <a:solidFill>
                  <a:srgbClr val="F4F1E8"/>
                </a:solidFill>
                <a:latin typeface="Georgia" pitchFamily="34" charset="0"/>
                <a:ea typeface="Georgia" pitchFamily="34" charset="-122"/>
                <a:cs typeface="Georgia" pitchFamily="34" charset="-120"/>
              </a:rPr>
              <a:t>Room to go deeper</a:t>
            </a:r>
            <a:endParaRPr lang="en-US" sz="2000" dirty="0"/>
          </a:p>
        </p:txBody>
      </p:sp>
      <p:sp>
        <p:nvSpPr>
          <p:cNvPr id="21" name="Text 19"/>
          <p:cNvSpPr/>
          <p:nvPr/>
        </p:nvSpPr>
        <p:spPr>
          <a:xfrm>
            <a:off x="6583680" y="4663440"/>
            <a:ext cx="5074920" cy="1005840"/>
          </a:xfrm>
          <a:prstGeom prst="rect">
            <a:avLst/>
          </a:prstGeom>
          <a:noFill/>
          <a:ln/>
        </p:spPr>
        <p:txBody>
          <a:bodyPr wrap="square" lIns="0" tIns="0" rIns="0" bIns="0" rtlCol="0" anchor="ctr"/>
          <a:lstStyle/>
          <a:p>
            <a:pPr indent="0" marL="0">
              <a:buNone/>
            </a:pPr>
            <a:r>
              <a:rPr lang="en-US" sz="1400" dirty="0">
                <a:solidFill>
                  <a:srgbClr val="9AA3B5"/>
                </a:solidFill>
                <a:latin typeface="Calibri" pitchFamily="34" charset="0"/>
                <a:ea typeface="Calibri" pitchFamily="34" charset="-122"/>
                <a:cs typeface="Calibri" pitchFamily="34" charset="-120"/>
              </a:rPr>
              <a:t>Wallet, signing, identity, activation, and localization can feel native instead of bolted on. That depth is what this grant funds.</a:t>
            </a:r>
            <a:endParaRPr lang="en-US" sz="1400" dirty="0"/>
          </a:p>
        </p:txBody>
      </p:sp>
      <p:sp>
        <p:nvSpPr>
          <p:cNvPr id="22" name="Shape 20"/>
          <p:cNvSpPr/>
          <p:nvPr/>
        </p:nvSpPr>
        <p:spPr>
          <a:xfrm>
            <a:off x="0" y="6656832"/>
            <a:ext cx="12161520" cy="201168"/>
          </a:xfrm>
          <a:prstGeom prst="rect">
            <a:avLst/>
          </a:prstGeom>
          <a:solidFill>
            <a:srgbClr val="0B1220"/>
          </a:solidFill>
          <a:ln/>
        </p:spPr>
      </p:sp>
      <p:sp>
        <p:nvSpPr>
          <p:cNvPr id="23" name="Shape 21"/>
          <p:cNvSpPr/>
          <p:nvPr/>
        </p:nvSpPr>
        <p:spPr>
          <a:xfrm>
            <a:off x="0" y="6656832"/>
            <a:ext cx="12161520" cy="13716"/>
          </a:xfrm>
          <a:prstGeom prst="rect">
            <a:avLst/>
          </a:prstGeom>
          <a:solidFill>
            <a:srgbClr val="243049"/>
          </a:solidFill>
          <a:ln/>
        </p:spPr>
      </p:sp>
      <p:sp>
        <p:nvSpPr>
          <p:cNvPr id="24" name="Text 22"/>
          <p:cNvSpPr/>
          <p:nvPr/>
        </p:nvSpPr>
        <p:spPr>
          <a:xfrm>
            <a:off x="411480" y="6675120"/>
            <a:ext cx="7498080" cy="164592"/>
          </a:xfrm>
          <a:prstGeom prst="rect">
            <a:avLst/>
          </a:prstGeom>
          <a:noFill/>
          <a:ln/>
        </p:spPr>
        <p:txBody>
          <a:bodyPr wrap="square" lIns="0" tIns="0" rIns="0" bIns="0" rtlCol="0" anchor="ctr"/>
          <a:lstStyle/>
          <a:p>
            <a:pPr indent="0" marL="0">
              <a:buNone/>
            </a:pPr>
            <a:r>
              <a:rPr lang="en-US" sz="900" spc="60" kern="0" dirty="0">
                <a:solidFill>
                  <a:srgbClr val="6E7789"/>
                </a:solidFill>
                <a:latin typeface="Calibri" pitchFamily="34" charset="0"/>
                <a:ea typeface="Calibri" pitchFamily="34" charset="-122"/>
                <a:cs typeface="Calibri" pitchFamily="34" charset="-120"/>
              </a:rPr>
              <a:t>DENELLE STUDIOS  ·  CONFIDENTIAL GRANT APPLICATION</a:t>
            </a:r>
            <a:endParaRPr lang="en-US" sz="900" dirty="0"/>
          </a:p>
        </p:txBody>
      </p:sp>
      <p:sp>
        <p:nvSpPr>
          <p:cNvPr id="25" name="Text 23"/>
          <p:cNvSpPr/>
          <p:nvPr/>
        </p:nvSpPr>
        <p:spPr>
          <a:xfrm>
            <a:off x="7863840" y="6675120"/>
            <a:ext cx="3886200" cy="164592"/>
          </a:xfrm>
          <a:prstGeom prst="rect">
            <a:avLst/>
          </a:prstGeom>
          <a:noFill/>
          <a:ln/>
        </p:spPr>
        <p:txBody>
          <a:bodyPr wrap="square" lIns="0" tIns="0" rIns="0" bIns="0" rtlCol="0" anchor="ctr"/>
          <a:lstStyle/>
          <a:p>
            <a:pPr algn="r" indent="0" marL="0">
              <a:buNone/>
            </a:pPr>
            <a:r>
              <a:rPr lang="en-US" sz="900" dirty="0">
                <a:solidFill>
                  <a:srgbClr val="6E7789"/>
                </a:solidFill>
                <a:latin typeface="Calibri" pitchFamily="34" charset="0"/>
                <a:ea typeface="Calibri" pitchFamily="34" charset="-122"/>
                <a:cs typeface="Calibri" pitchFamily="34" charset="-120"/>
              </a:rPr>
              <a:t>ECHOES OF ELARION  ·  3 / 14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B1220"/>
          </a:solidFill>
          <a:ln/>
        </p:spPr>
      </p:sp>
      <p:sp>
        <p:nvSpPr>
          <p:cNvPr id="3" name="Shape 1"/>
          <p:cNvSpPr/>
          <p:nvPr/>
        </p:nvSpPr>
        <p:spPr>
          <a:xfrm>
            <a:off x="457200" y="256032"/>
            <a:ext cx="164592" cy="164592"/>
          </a:xfrm>
          <a:prstGeom prst="rect">
            <a:avLst/>
          </a:prstGeom>
          <a:solidFill>
            <a:srgbClr val="C9A227"/>
          </a:solidFill>
          <a:ln/>
        </p:spPr>
      </p:sp>
      <p:sp>
        <p:nvSpPr>
          <p:cNvPr id="4" name="Text 2"/>
          <p:cNvSpPr/>
          <p:nvPr/>
        </p:nvSpPr>
        <p:spPr>
          <a:xfrm>
            <a:off x="731520" y="219456"/>
            <a:ext cx="9144000" cy="237744"/>
          </a:xfrm>
          <a:prstGeom prst="rect">
            <a:avLst/>
          </a:prstGeom>
          <a:noFill/>
          <a:ln/>
        </p:spPr>
        <p:txBody>
          <a:bodyPr wrap="square" lIns="0" tIns="0" rIns="0" bIns="0" rtlCol="0" anchor="ctr"/>
          <a:lstStyle/>
          <a:p>
            <a:pPr indent="0" marL="0">
              <a:buNone/>
            </a:pPr>
            <a:r>
              <a:rPr lang="en-US" sz="1100" b="1" spc="160" kern="0" dirty="0">
                <a:solidFill>
                  <a:srgbClr val="C9A227"/>
                </a:solidFill>
                <a:latin typeface="Calibri" pitchFamily="34" charset="0"/>
                <a:ea typeface="Calibri" pitchFamily="34" charset="-122"/>
                <a:cs typeface="Calibri" pitchFamily="34" charset="-120"/>
              </a:rPr>
              <a:t>CURRENT STATE</a:t>
            </a:r>
            <a:endParaRPr lang="en-US" sz="1100" dirty="0"/>
          </a:p>
        </p:txBody>
      </p:sp>
      <p:sp>
        <p:nvSpPr>
          <p:cNvPr id="5" name="Text 3"/>
          <p:cNvSpPr/>
          <p:nvPr/>
        </p:nvSpPr>
        <p:spPr>
          <a:xfrm>
            <a:off x="457200" y="475488"/>
            <a:ext cx="11247120" cy="502920"/>
          </a:xfrm>
          <a:prstGeom prst="rect">
            <a:avLst/>
          </a:prstGeom>
          <a:noFill/>
          <a:ln/>
        </p:spPr>
        <p:txBody>
          <a:bodyPr wrap="square" lIns="0" tIns="0" rIns="0" bIns="0" rtlCol="0" anchor="ctr"/>
          <a:lstStyle/>
          <a:p>
            <a:pPr indent="0" marL="0">
              <a:buNone/>
            </a:pPr>
            <a:r>
              <a:rPr lang="en-US" sz="2800" dirty="0">
                <a:solidFill>
                  <a:srgbClr val="F4F1E8"/>
                </a:solidFill>
                <a:latin typeface="Georgia" pitchFamily="34" charset="0"/>
                <a:ea typeface="Georgia" pitchFamily="34" charset="-122"/>
                <a:cs typeface="Georgia" pitchFamily="34" charset="-120"/>
              </a:rPr>
              <a:t>This is not a concept. It is in players’ hands.</a:t>
            </a:r>
            <a:endParaRPr lang="en-US" sz="2800" dirty="0"/>
          </a:p>
        </p:txBody>
      </p:sp>
      <p:sp>
        <p:nvSpPr>
          <p:cNvPr id="6" name="Shape 4"/>
          <p:cNvSpPr/>
          <p:nvPr/>
        </p:nvSpPr>
        <p:spPr>
          <a:xfrm>
            <a:off x="457200" y="1097280"/>
            <a:ext cx="2788920" cy="2148840"/>
          </a:xfrm>
          <a:prstGeom prst="rect">
            <a:avLst/>
          </a:prstGeom>
          <a:solidFill>
            <a:srgbClr val="151C2E"/>
          </a:solidFill>
          <a:ln w="12700">
            <a:solidFill>
              <a:srgbClr val="243049"/>
            </a:solidFill>
            <a:prstDash val="solid"/>
          </a:ln>
        </p:spPr>
      </p:sp>
      <p:sp>
        <p:nvSpPr>
          <p:cNvPr id="7" name="Text 5"/>
          <p:cNvSpPr/>
          <p:nvPr/>
        </p:nvSpPr>
        <p:spPr>
          <a:xfrm>
            <a:off x="594360" y="1234440"/>
            <a:ext cx="2514600" cy="457200"/>
          </a:xfrm>
          <a:prstGeom prst="rect">
            <a:avLst/>
          </a:prstGeom>
          <a:noFill/>
          <a:ln/>
        </p:spPr>
        <p:txBody>
          <a:bodyPr wrap="square" lIns="0" tIns="0" rIns="0" bIns="0" rtlCol="0" anchor="ctr"/>
          <a:lstStyle/>
          <a:p>
            <a:pPr algn="ctr" indent="0" marL="0">
              <a:buNone/>
            </a:pPr>
            <a:r>
              <a:rPr lang="en-US" sz="2200" dirty="0">
                <a:solidFill>
                  <a:srgbClr val="F4F1E8"/>
                </a:solidFill>
                <a:latin typeface="Georgia" pitchFamily="34" charset="0"/>
                <a:ea typeface="Georgia" pitchFamily="34" charset="-122"/>
                <a:cs typeface="Georgia" pitchFamily="34" charset="-120"/>
              </a:rPr>
              <a:t>LIVE</a:t>
            </a:r>
            <a:endParaRPr lang="en-US" sz="2200" dirty="0"/>
          </a:p>
        </p:txBody>
      </p:sp>
      <p:sp>
        <p:nvSpPr>
          <p:cNvPr id="8" name="Text 6"/>
          <p:cNvSpPr/>
          <p:nvPr/>
        </p:nvSpPr>
        <p:spPr>
          <a:xfrm>
            <a:off x="594360" y="1719072"/>
            <a:ext cx="2514600" cy="411480"/>
          </a:xfrm>
          <a:prstGeom prst="rect">
            <a:avLst/>
          </a:prstGeom>
          <a:noFill/>
          <a:ln/>
        </p:spPr>
        <p:txBody>
          <a:bodyPr wrap="square" lIns="0" tIns="0" rIns="0" bIns="0" rtlCol="0" anchor="ctr"/>
          <a:lstStyle/>
          <a:p>
            <a:pPr algn="ctr" indent="0" marL="0">
              <a:buNone/>
            </a:pPr>
            <a:r>
              <a:rPr lang="en-US" sz="1300" b="1" dirty="0">
                <a:solidFill>
                  <a:srgbClr val="F4F1E8"/>
                </a:solidFill>
                <a:latin typeface="Calibri" pitchFamily="34" charset="0"/>
                <a:ea typeface="Calibri" pitchFamily="34" charset="-122"/>
                <a:cs typeface="Calibri" pitchFamily="34" charset="-120"/>
              </a:rPr>
              <a:t>Solana dApp Store</a:t>
            </a:r>
            <a:endParaRPr lang="en-US" sz="1300" dirty="0"/>
          </a:p>
        </p:txBody>
      </p:sp>
      <p:sp>
        <p:nvSpPr>
          <p:cNvPr id="9" name="Text 7"/>
          <p:cNvSpPr/>
          <p:nvPr/>
        </p:nvSpPr>
        <p:spPr>
          <a:xfrm>
            <a:off x="621792" y="2176272"/>
            <a:ext cx="2468880" cy="868680"/>
          </a:xfrm>
          <a:prstGeom prst="rect">
            <a:avLst/>
          </a:prstGeom>
          <a:noFill/>
          <a:ln/>
        </p:spPr>
        <p:txBody>
          <a:bodyPr wrap="square" lIns="0" tIns="0" rIns="0" bIns="0" rtlCol="0" anchor="ctr"/>
          <a:lstStyle/>
          <a:p>
            <a:pPr algn="ctr" indent="0" marL="0">
              <a:buNone/>
            </a:pPr>
            <a:r>
              <a:rPr lang="en-US" sz="1200" dirty="0">
                <a:solidFill>
                  <a:srgbClr val="9AA3B5"/>
                </a:solidFill>
                <a:latin typeface="Calibri" pitchFamily="34" charset="0"/>
                <a:ea typeface="Calibri" pitchFamily="34" charset="-122"/>
                <a:cs typeface="Calibri" pitchFamily="34" charset="-120"/>
              </a:rPr>
              <a:t>On a Seeker device the listing reads Open, not Install.</a:t>
            </a:r>
            <a:endParaRPr lang="en-US" sz="1200" dirty="0"/>
          </a:p>
        </p:txBody>
      </p:sp>
      <p:sp>
        <p:nvSpPr>
          <p:cNvPr id="10" name="Shape 8"/>
          <p:cNvSpPr/>
          <p:nvPr/>
        </p:nvSpPr>
        <p:spPr>
          <a:xfrm>
            <a:off x="3383280" y="1097280"/>
            <a:ext cx="2788920" cy="2148840"/>
          </a:xfrm>
          <a:prstGeom prst="rect">
            <a:avLst/>
          </a:prstGeom>
          <a:solidFill>
            <a:srgbClr val="151C2E"/>
          </a:solidFill>
          <a:ln w="12700">
            <a:solidFill>
              <a:srgbClr val="243049"/>
            </a:solidFill>
            <a:prstDash val="solid"/>
          </a:ln>
        </p:spPr>
      </p:sp>
      <p:sp>
        <p:nvSpPr>
          <p:cNvPr id="11" name="Text 9"/>
          <p:cNvSpPr/>
          <p:nvPr/>
        </p:nvSpPr>
        <p:spPr>
          <a:xfrm>
            <a:off x="3520440" y="1234440"/>
            <a:ext cx="2514600" cy="457200"/>
          </a:xfrm>
          <a:prstGeom prst="rect">
            <a:avLst/>
          </a:prstGeom>
          <a:noFill/>
          <a:ln/>
        </p:spPr>
        <p:txBody>
          <a:bodyPr wrap="square" lIns="0" tIns="0" rIns="0" bIns="0" rtlCol="0" anchor="ctr"/>
          <a:lstStyle/>
          <a:p>
            <a:pPr algn="ctr" indent="0" marL="0">
              <a:buNone/>
            </a:pPr>
            <a:r>
              <a:rPr lang="en-US" sz="2200" dirty="0">
                <a:solidFill>
                  <a:srgbClr val="F4F1E8"/>
                </a:solidFill>
                <a:latin typeface="Georgia" pitchFamily="34" charset="0"/>
                <a:ea typeface="Georgia" pitchFamily="34" charset="-122"/>
                <a:cs typeface="Georgia" pitchFamily="34" charset="-120"/>
              </a:rPr>
              <a:t>08.17</a:t>
            </a:r>
            <a:endParaRPr lang="en-US" sz="2200" dirty="0"/>
          </a:p>
        </p:txBody>
      </p:sp>
      <p:sp>
        <p:nvSpPr>
          <p:cNvPr id="12" name="Text 10"/>
          <p:cNvSpPr/>
          <p:nvPr/>
        </p:nvSpPr>
        <p:spPr>
          <a:xfrm>
            <a:off x="3520440" y="1719072"/>
            <a:ext cx="2514600" cy="411480"/>
          </a:xfrm>
          <a:prstGeom prst="rect">
            <a:avLst/>
          </a:prstGeom>
          <a:noFill/>
          <a:ln/>
        </p:spPr>
        <p:txBody>
          <a:bodyPr wrap="square" lIns="0" tIns="0" rIns="0" bIns="0" rtlCol="0" anchor="ctr"/>
          <a:lstStyle/>
          <a:p>
            <a:pPr algn="ctr" indent="0" marL="0">
              <a:buNone/>
            </a:pPr>
            <a:r>
              <a:rPr lang="en-US" sz="1300" b="1" dirty="0">
                <a:solidFill>
                  <a:srgbClr val="F4F1E8"/>
                </a:solidFill>
                <a:latin typeface="Calibri" pitchFamily="34" charset="0"/>
                <a:ea typeface="Calibri" pitchFamily="34" charset="-122"/>
                <a:cs typeface="Calibri" pitchFamily="34" charset="-120"/>
              </a:rPr>
              <a:t>Release published, 2026</a:t>
            </a:r>
            <a:endParaRPr lang="en-US" sz="1300" dirty="0"/>
          </a:p>
        </p:txBody>
      </p:sp>
      <p:sp>
        <p:nvSpPr>
          <p:cNvPr id="13" name="Text 11"/>
          <p:cNvSpPr/>
          <p:nvPr/>
        </p:nvSpPr>
        <p:spPr>
          <a:xfrm>
            <a:off x="3547872" y="2176272"/>
            <a:ext cx="2468880" cy="868680"/>
          </a:xfrm>
          <a:prstGeom prst="rect">
            <a:avLst/>
          </a:prstGeom>
          <a:noFill/>
          <a:ln/>
        </p:spPr>
        <p:txBody>
          <a:bodyPr wrap="square" lIns="0" tIns="0" rIns="0" bIns="0" rtlCol="0" anchor="ctr"/>
          <a:lstStyle/>
          <a:p>
            <a:pPr algn="ctr" indent="0" marL="0">
              <a:buNone/>
            </a:pPr>
            <a:r>
              <a:rPr lang="en-US" sz="1200" dirty="0">
                <a:solidFill>
                  <a:srgbClr val="9AA3B5"/>
                </a:solidFill>
                <a:latin typeface="Calibri" pitchFamily="34" charset="0"/>
                <a:ea typeface="Calibri" pitchFamily="34" charset="-122"/>
                <a:cs typeface="Calibri" pitchFamily="34" charset="-120"/>
              </a:rPr>
              <a:t>The next submission is an update, not a first listing.</a:t>
            </a:r>
            <a:endParaRPr lang="en-US" sz="1200" dirty="0"/>
          </a:p>
        </p:txBody>
      </p:sp>
      <p:sp>
        <p:nvSpPr>
          <p:cNvPr id="14" name="Shape 12"/>
          <p:cNvSpPr/>
          <p:nvPr/>
        </p:nvSpPr>
        <p:spPr>
          <a:xfrm>
            <a:off x="6309360" y="1097280"/>
            <a:ext cx="2788920" cy="2148840"/>
          </a:xfrm>
          <a:prstGeom prst="rect">
            <a:avLst/>
          </a:prstGeom>
          <a:solidFill>
            <a:srgbClr val="151C2E"/>
          </a:solidFill>
          <a:ln w="12700">
            <a:solidFill>
              <a:srgbClr val="243049"/>
            </a:solidFill>
            <a:prstDash val="solid"/>
          </a:ln>
        </p:spPr>
      </p:sp>
      <p:sp>
        <p:nvSpPr>
          <p:cNvPr id="15" name="Text 13"/>
          <p:cNvSpPr/>
          <p:nvPr/>
        </p:nvSpPr>
        <p:spPr>
          <a:xfrm>
            <a:off x="6446520" y="1234440"/>
            <a:ext cx="2514600" cy="457200"/>
          </a:xfrm>
          <a:prstGeom prst="rect">
            <a:avLst/>
          </a:prstGeom>
          <a:noFill/>
          <a:ln/>
        </p:spPr>
        <p:txBody>
          <a:bodyPr wrap="square" lIns="0" tIns="0" rIns="0" bIns="0" rtlCol="0" anchor="ctr"/>
          <a:lstStyle/>
          <a:p>
            <a:pPr algn="ctr" indent="0" marL="0">
              <a:buNone/>
            </a:pPr>
            <a:r>
              <a:rPr lang="en-US" sz="2200" dirty="0">
                <a:solidFill>
                  <a:srgbClr val="F4F1E8"/>
                </a:solidFill>
                <a:latin typeface="Georgia" pitchFamily="34" charset="0"/>
                <a:ea typeface="Georgia" pitchFamily="34" charset="-122"/>
                <a:cs typeface="Georgia" pitchFamily="34" charset="-120"/>
              </a:rPr>
              <a:t>26 / 26</a:t>
            </a:r>
            <a:endParaRPr lang="en-US" sz="2200" dirty="0"/>
          </a:p>
        </p:txBody>
      </p:sp>
      <p:sp>
        <p:nvSpPr>
          <p:cNvPr id="16" name="Text 14"/>
          <p:cNvSpPr/>
          <p:nvPr/>
        </p:nvSpPr>
        <p:spPr>
          <a:xfrm>
            <a:off x="6446520" y="1719072"/>
            <a:ext cx="2514600" cy="411480"/>
          </a:xfrm>
          <a:prstGeom prst="rect">
            <a:avLst/>
          </a:prstGeom>
          <a:noFill/>
          <a:ln/>
        </p:spPr>
        <p:txBody>
          <a:bodyPr wrap="square" lIns="0" tIns="0" rIns="0" bIns="0" rtlCol="0" anchor="ctr"/>
          <a:lstStyle/>
          <a:p>
            <a:pPr algn="ctr" indent="0" marL="0">
              <a:buNone/>
            </a:pPr>
            <a:r>
              <a:rPr lang="en-US" sz="1300" b="1" dirty="0">
                <a:solidFill>
                  <a:srgbClr val="F4F1E8"/>
                </a:solidFill>
                <a:latin typeface="Calibri" pitchFamily="34" charset="0"/>
                <a:ea typeface="Calibri" pitchFamily="34" charset="-122"/>
                <a:cs typeface="Calibri" pitchFamily="34" charset="-120"/>
              </a:rPr>
              <a:t>Build tiles art-dressed</a:t>
            </a:r>
            <a:endParaRPr lang="en-US" sz="1300" dirty="0"/>
          </a:p>
        </p:txBody>
      </p:sp>
      <p:sp>
        <p:nvSpPr>
          <p:cNvPr id="17" name="Text 15"/>
          <p:cNvSpPr/>
          <p:nvPr/>
        </p:nvSpPr>
        <p:spPr>
          <a:xfrm>
            <a:off x="6473952" y="2176272"/>
            <a:ext cx="2468880" cy="868680"/>
          </a:xfrm>
          <a:prstGeom prst="rect">
            <a:avLst/>
          </a:prstGeom>
          <a:noFill/>
          <a:ln/>
        </p:spPr>
        <p:txBody>
          <a:bodyPr wrap="square" lIns="0" tIns="0" rIns="0" bIns="0" rtlCol="0" anchor="ctr"/>
          <a:lstStyle/>
          <a:p>
            <a:pPr algn="ctr" indent="0" marL="0">
              <a:buNone/>
            </a:pPr>
            <a:r>
              <a:rPr lang="en-US" sz="1200" dirty="0">
                <a:solidFill>
                  <a:srgbClr val="9AA3B5"/>
                </a:solidFill>
                <a:latin typeface="Calibri" pitchFamily="34" charset="0"/>
                <a:ea typeface="Calibri" pitchFamily="34" charset="-122"/>
                <a:cs typeface="Calibri" pitchFamily="34" charset="-120"/>
              </a:rPr>
              <a:t>Every structure the grid offers now resolves its portrait.</a:t>
            </a:r>
            <a:endParaRPr lang="en-US" sz="1200" dirty="0"/>
          </a:p>
        </p:txBody>
      </p:sp>
      <p:sp>
        <p:nvSpPr>
          <p:cNvPr id="18" name="Shape 16"/>
          <p:cNvSpPr/>
          <p:nvPr/>
        </p:nvSpPr>
        <p:spPr>
          <a:xfrm>
            <a:off x="9235440" y="1097280"/>
            <a:ext cx="2788920" cy="2148840"/>
          </a:xfrm>
          <a:prstGeom prst="rect">
            <a:avLst/>
          </a:prstGeom>
          <a:solidFill>
            <a:srgbClr val="151C2E"/>
          </a:solidFill>
          <a:ln w="15875">
            <a:solidFill>
              <a:srgbClr val="C9A227"/>
            </a:solidFill>
            <a:prstDash val="solid"/>
          </a:ln>
        </p:spPr>
      </p:sp>
      <p:sp>
        <p:nvSpPr>
          <p:cNvPr id="19" name="Text 17"/>
          <p:cNvSpPr/>
          <p:nvPr/>
        </p:nvSpPr>
        <p:spPr>
          <a:xfrm>
            <a:off x="9372600" y="1234440"/>
            <a:ext cx="2514600" cy="457200"/>
          </a:xfrm>
          <a:prstGeom prst="rect">
            <a:avLst/>
          </a:prstGeom>
          <a:noFill/>
          <a:ln/>
        </p:spPr>
        <p:txBody>
          <a:bodyPr wrap="square" lIns="0" tIns="0" rIns="0" bIns="0" rtlCol="0" anchor="ctr"/>
          <a:lstStyle/>
          <a:p>
            <a:pPr algn="ctr" indent="0" marL="0">
              <a:buNone/>
            </a:pPr>
            <a:r>
              <a:rPr lang="en-US" sz="2200" dirty="0">
                <a:solidFill>
                  <a:srgbClr val="C9A227"/>
                </a:solidFill>
                <a:latin typeface="Georgia" pitchFamily="34" charset="0"/>
                <a:ea typeface="Georgia" pitchFamily="34" charset="-122"/>
                <a:cs typeface="Georgia" pitchFamily="34" charset="-120"/>
              </a:rPr>
              <a:t>NOW</a:t>
            </a:r>
            <a:endParaRPr lang="en-US" sz="2200" dirty="0"/>
          </a:p>
        </p:txBody>
      </p:sp>
      <p:sp>
        <p:nvSpPr>
          <p:cNvPr id="20" name="Text 18"/>
          <p:cNvSpPr/>
          <p:nvPr/>
        </p:nvSpPr>
        <p:spPr>
          <a:xfrm>
            <a:off x="9372600" y="1719072"/>
            <a:ext cx="2514600" cy="411480"/>
          </a:xfrm>
          <a:prstGeom prst="rect">
            <a:avLst/>
          </a:prstGeom>
          <a:noFill/>
          <a:ln/>
        </p:spPr>
        <p:txBody>
          <a:bodyPr wrap="square" lIns="0" tIns="0" rIns="0" bIns="0" rtlCol="0" anchor="ctr"/>
          <a:lstStyle/>
          <a:p>
            <a:pPr algn="ctr" indent="0" marL="0">
              <a:buNone/>
            </a:pPr>
            <a:r>
              <a:rPr lang="en-US" sz="1300" b="1" dirty="0">
                <a:solidFill>
                  <a:srgbClr val="F4F1E8"/>
                </a:solidFill>
                <a:latin typeface="Calibri" pitchFamily="34" charset="0"/>
                <a:ea typeface="Calibri" pitchFamily="34" charset="-122"/>
                <a:cs typeface="Calibri" pitchFamily="34" charset="-120"/>
              </a:rPr>
              <a:t>Multi-language support</a:t>
            </a:r>
            <a:endParaRPr lang="en-US" sz="1300" dirty="0"/>
          </a:p>
        </p:txBody>
      </p:sp>
      <p:sp>
        <p:nvSpPr>
          <p:cNvPr id="21" name="Text 19"/>
          <p:cNvSpPr/>
          <p:nvPr/>
        </p:nvSpPr>
        <p:spPr>
          <a:xfrm>
            <a:off x="9400032" y="2176272"/>
            <a:ext cx="2468880" cy="868680"/>
          </a:xfrm>
          <a:prstGeom prst="rect">
            <a:avLst/>
          </a:prstGeom>
          <a:noFill/>
          <a:ln/>
        </p:spPr>
        <p:txBody>
          <a:bodyPr wrap="square" lIns="0" tIns="0" rIns="0" bIns="0" rtlCol="0" anchor="ctr"/>
          <a:lstStyle/>
          <a:p>
            <a:pPr algn="ctr" indent="0" marL="0">
              <a:buNone/>
            </a:pPr>
            <a:r>
              <a:rPr lang="en-US" sz="1200" dirty="0">
                <a:solidFill>
                  <a:srgbClr val="9AA3B5"/>
                </a:solidFill>
                <a:latin typeface="Calibri" pitchFamily="34" charset="0"/>
                <a:ea typeface="Calibri" pitchFamily="34" charset="-122"/>
                <a:cs typeface="Calibri" pitchFamily="34" charset="-120"/>
              </a:rPr>
              <a:t>Localization architecture is in active build — not a future phase.</a:t>
            </a:r>
            <a:endParaRPr lang="en-US" sz="1200" dirty="0"/>
          </a:p>
        </p:txBody>
      </p:sp>
      <p:sp>
        <p:nvSpPr>
          <p:cNvPr id="22" name="Text 20"/>
          <p:cNvSpPr/>
          <p:nvPr/>
        </p:nvSpPr>
        <p:spPr>
          <a:xfrm>
            <a:off x="457200" y="3383280"/>
            <a:ext cx="7315200" cy="256032"/>
          </a:xfrm>
          <a:prstGeom prst="rect">
            <a:avLst/>
          </a:prstGeom>
          <a:noFill/>
          <a:ln/>
        </p:spPr>
        <p:txBody>
          <a:bodyPr wrap="square" lIns="0" tIns="0" rIns="0" bIns="0" rtlCol="0" anchor="ctr"/>
          <a:lstStyle/>
          <a:p>
            <a:pPr indent="0" marL="0">
              <a:buNone/>
            </a:pPr>
            <a:r>
              <a:rPr lang="en-US" sz="1100" b="1" spc="140" kern="0" dirty="0">
                <a:solidFill>
                  <a:srgbClr val="C9A227"/>
                </a:solidFill>
                <a:latin typeface="Calibri" pitchFamily="34" charset="0"/>
                <a:ea typeface="Calibri" pitchFamily="34" charset="-122"/>
                <a:cs typeface="Calibri" pitchFamily="34" charset="-120"/>
              </a:rPr>
              <a:t>SHIPPING SYSTEMS TODAY</a:t>
            </a:r>
            <a:endParaRPr lang="en-US" sz="1100" dirty="0"/>
          </a:p>
        </p:txBody>
      </p:sp>
      <p:sp>
        <p:nvSpPr>
          <p:cNvPr id="23" name="Text 21"/>
          <p:cNvSpPr/>
          <p:nvPr/>
        </p:nvSpPr>
        <p:spPr>
          <a:xfrm>
            <a:off x="457200" y="3703320"/>
            <a:ext cx="228600" cy="347472"/>
          </a:xfrm>
          <a:prstGeom prst="rect">
            <a:avLst/>
          </a:prstGeom>
          <a:noFill/>
          <a:ln/>
        </p:spPr>
        <p:txBody>
          <a:bodyPr wrap="square" lIns="0" tIns="0" rIns="0" bIns="0" rtlCol="0" anchor="ctr"/>
          <a:lstStyle/>
          <a:p>
            <a:pPr indent="0" marL="0">
              <a:buNone/>
            </a:pPr>
            <a:r>
              <a:rPr lang="en-US" sz="1400" dirty="0">
                <a:solidFill>
                  <a:srgbClr val="C9A227"/>
                </a:solidFill>
                <a:latin typeface="Calibri" pitchFamily="34" charset="0"/>
                <a:ea typeface="Calibri" pitchFamily="34" charset="-122"/>
                <a:cs typeface="Calibri" pitchFamily="34" charset="-120"/>
              </a:rPr>
              <a:t>—</a:t>
            </a:r>
            <a:endParaRPr lang="en-US" sz="1400" dirty="0"/>
          </a:p>
        </p:txBody>
      </p:sp>
      <p:sp>
        <p:nvSpPr>
          <p:cNvPr id="24" name="Text 22"/>
          <p:cNvSpPr/>
          <p:nvPr/>
        </p:nvSpPr>
        <p:spPr>
          <a:xfrm>
            <a:off x="731520" y="3703320"/>
            <a:ext cx="7498080" cy="347472"/>
          </a:xfrm>
          <a:prstGeom prst="rect">
            <a:avLst/>
          </a:prstGeom>
          <a:noFill/>
          <a:ln/>
        </p:spPr>
        <p:txBody>
          <a:bodyPr wrap="square" lIns="0" tIns="0" rIns="0" bIns="0" rtlCol="0" anchor="ctr"/>
          <a:lstStyle/>
          <a:p>
            <a:pPr indent="0" marL="0">
              <a:buNone/>
            </a:pPr>
            <a:r>
              <a:rPr lang="en-US" sz="1400" dirty="0">
                <a:solidFill>
                  <a:srgbClr val="9AA3B5"/>
                </a:solidFill>
                <a:latin typeface="Calibri" pitchFamily="34" charset="0"/>
                <a:ea typeface="Calibri" pitchFamily="34" charset="-122"/>
                <a:cs typeface="Calibri" pitchFamily="34" charset="-120"/>
              </a:rPr>
              <a:t>Town management — build, upgrade, train, research, one unified work queue</a:t>
            </a:r>
            <a:endParaRPr lang="en-US" sz="1400" dirty="0"/>
          </a:p>
        </p:txBody>
      </p:sp>
      <p:sp>
        <p:nvSpPr>
          <p:cNvPr id="25" name="Text 23"/>
          <p:cNvSpPr/>
          <p:nvPr/>
        </p:nvSpPr>
        <p:spPr>
          <a:xfrm>
            <a:off x="457200" y="4087368"/>
            <a:ext cx="228600" cy="347472"/>
          </a:xfrm>
          <a:prstGeom prst="rect">
            <a:avLst/>
          </a:prstGeom>
          <a:noFill/>
          <a:ln/>
        </p:spPr>
        <p:txBody>
          <a:bodyPr wrap="square" lIns="0" tIns="0" rIns="0" bIns="0" rtlCol="0" anchor="ctr"/>
          <a:lstStyle/>
          <a:p>
            <a:pPr indent="0" marL="0">
              <a:buNone/>
            </a:pPr>
            <a:r>
              <a:rPr lang="en-US" sz="1400" dirty="0">
                <a:solidFill>
                  <a:srgbClr val="C9A227"/>
                </a:solidFill>
                <a:latin typeface="Calibri" pitchFamily="34" charset="0"/>
                <a:ea typeface="Calibri" pitchFamily="34" charset="-122"/>
                <a:cs typeface="Calibri" pitchFamily="34" charset="-120"/>
              </a:rPr>
              <a:t>—</a:t>
            </a:r>
            <a:endParaRPr lang="en-US" sz="1400" dirty="0"/>
          </a:p>
        </p:txBody>
      </p:sp>
      <p:sp>
        <p:nvSpPr>
          <p:cNvPr id="26" name="Text 24"/>
          <p:cNvSpPr/>
          <p:nvPr/>
        </p:nvSpPr>
        <p:spPr>
          <a:xfrm>
            <a:off x="731520" y="4087368"/>
            <a:ext cx="7498080" cy="347472"/>
          </a:xfrm>
          <a:prstGeom prst="rect">
            <a:avLst/>
          </a:prstGeom>
          <a:noFill/>
          <a:ln/>
        </p:spPr>
        <p:txBody>
          <a:bodyPr wrap="square" lIns="0" tIns="0" rIns="0" bIns="0" rtlCol="0" anchor="ctr"/>
          <a:lstStyle/>
          <a:p>
            <a:pPr indent="0" marL="0">
              <a:buNone/>
            </a:pPr>
            <a:r>
              <a:rPr lang="en-US" sz="1400" dirty="0">
                <a:solidFill>
                  <a:srgbClr val="9AA3B5"/>
                </a:solidFill>
                <a:latin typeface="Calibri" pitchFamily="34" charset="0"/>
                <a:ea typeface="Calibri" pitchFamily="34" charset="-122"/>
                <a:cs typeface="Calibri" pitchFamily="34" charset="-120"/>
              </a:rPr>
              <a:t>PvE raids with deploy, scoring, and loot settlement</a:t>
            </a:r>
            <a:endParaRPr lang="en-US" sz="1400" dirty="0"/>
          </a:p>
        </p:txBody>
      </p:sp>
      <p:sp>
        <p:nvSpPr>
          <p:cNvPr id="27" name="Text 25"/>
          <p:cNvSpPr/>
          <p:nvPr/>
        </p:nvSpPr>
        <p:spPr>
          <a:xfrm>
            <a:off x="457200" y="4471416"/>
            <a:ext cx="228600" cy="347472"/>
          </a:xfrm>
          <a:prstGeom prst="rect">
            <a:avLst/>
          </a:prstGeom>
          <a:noFill/>
          <a:ln/>
        </p:spPr>
        <p:txBody>
          <a:bodyPr wrap="square" lIns="0" tIns="0" rIns="0" bIns="0" rtlCol="0" anchor="ctr"/>
          <a:lstStyle/>
          <a:p>
            <a:pPr indent="0" marL="0">
              <a:buNone/>
            </a:pPr>
            <a:r>
              <a:rPr lang="en-US" sz="1400" dirty="0">
                <a:solidFill>
                  <a:srgbClr val="C9A227"/>
                </a:solidFill>
                <a:latin typeface="Calibri" pitchFamily="34" charset="0"/>
                <a:ea typeface="Calibri" pitchFamily="34" charset="-122"/>
                <a:cs typeface="Calibri" pitchFamily="34" charset="-120"/>
              </a:rPr>
              <a:t>—</a:t>
            </a:r>
            <a:endParaRPr lang="en-US" sz="1400" dirty="0"/>
          </a:p>
        </p:txBody>
      </p:sp>
      <p:sp>
        <p:nvSpPr>
          <p:cNvPr id="28" name="Text 26"/>
          <p:cNvSpPr/>
          <p:nvPr/>
        </p:nvSpPr>
        <p:spPr>
          <a:xfrm>
            <a:off x="731520" y="4471416"/>
            <a:ext cx="7498080" cy="347472"/>
          </a:xfrm>
          <a:prstGeom prst="rect">
            <a:avLst/>
          </a:prstGeom>
          <a:noFill/>
          <a:ln/>
        </p:spPr>
        <p:txBody>
          <a:bodyPr wrap="square" lIns="0" tIns="0" rIns="0" bIns="0" rtlCol="0" anchor="ctr"/>
          <a:lstStyle/>
          <a:p>
            <a:pPr indent="0" marL="0">
              <a:buNone/>
            </a:pPr>
            <a:r>
              <a:rPr lang="en-US" sz="1400" dirty="0">
                <a:solidFill>
                  <a:srgbClr val="9AA3B5"/>
                </a:solidFill>
                <a:latin typeface="Calibri" pitchFamily="34" charset="0"/>
                <a:ea typeface="Calibri" pitchFamily="34" charset="-122"/>
                <a:cs typeface="Calibri" pitchFamily="34" charset="-120"/>
              </a:rPr>
              <a:t>Heroes, troops, defenses, crafting, storage, and a full resource economy</a:t>
            </a:r>
            <a:endParaRPr lang="en-US" sz="1400" dirty="0"/>
          </a:p>
        </p:txBody>
      </p:sp>
      <p:sp>
        <p:nvSpPr>
          <p:cNvPr id="29" name="Text 27"/>
          <p:cNvSpPr/>
          <p:nvPr/>
        </p:nvSpPr>
        <p:spPr>
          <a:xfrm>
            <a:off x="457200" y="4855464"/>
            <a:ext cx="228600" cy="347472"/>
          </a:xfrm>
          <a:prstGeom prst="rect">
            <a:avLst/>
          </a:prstGeom>
          <a:noFill/>
          <a:ln/>
        </p:spPr>
        <p:txBody>
          <a:bodyPr wrap="square" lIns="0" tIns="0" rIns="0" bIns="0" rtlCol="0" anchor="ctr"/>
          <a:lstStyle/>
          <a:p>
            <a:pPr indent="0" marL="0">
              <a:buNone/>
            </a:pPr>
            <a:r>
              <a:rPr lang="en-US" sz="1400" dirty="0">
                <a:solidFill>
                  <a:srgbClr val="C9A227"/>
                </a:solidFill>
                <a:latin typeface="Calibri" pitchFamily="34" charset="0"/>
                <a:ea typeface="Calibri" pitchFamily="34" charset="-122"/>
                <a:cs typeface="Calibri" pitchFamily="34" charset="-120"/>
              </a:rPr>
              <a:t>—</a:t>
            </a:r>
            <a:endParaRPr lang="en-US" sz="1400" dirty="0"/>
          </a:p>
        </p:txBody>
      </p:sp>
      <p:sp>
        <p:nvSpPr>
          <p:cNvPr id="30" name="Text 28"/>
          <p:cNvSpPr/>
          <p:nvPr/>
        </p:nvSpPr>
        <p:spPr>
          <a:xfrm>
            <a:off x="731520" y="4855464"/>
            <a:ext cx="7498080" cy="347472"/>
          </a:xfrm>
          <a:prstGeom prst="rect">
            <a:avLst/>
          </a:prstGeom>
          <a:noFill/>
          <a:ln/>
        </p:spPr>
        <p:txBody>
          <a:bodyPr wrap="square" lIns="0" tIns="0" rIns="0" bIns="0" rtlCol="0" anchor="ctr"/>
          <a:lstStyle/>
          <a:p>
            <a:pPr indent="0" marL="0">
              <a:buNone/>
            </a:pPr>
            <a:r>
              <a:rPr lang="en-US" sz="1400" dirty="0">
                <a:solidFill>
                  <a:srgbClr val="9AA3B5"/>
                </a:solidFill>
                <a:latin typeface="Calibri" pitchFamily="34" charset="0"/>
                <a:ea typeface="Calibri" pitchFamily="34" charset="-122"/>
                <a:cs typeface="Calibri" pitchFamily="34" charset="-120"/>
              </a:rPr>
              <a:t>Work orders, regression suites, device captures, and marker-verified release gates</a:t>
            </a:r>
            <a:endParaRPr lang="en-US" sz="1400" dirty="0"/>
          </a:p>
        </p:txBody>
      </p:sp>
      <p:sp>
        <p:nvSpPr>
          <p:cNvPr id="31" name="Text 29"/>
          <p:cNvSpPr/>
          <p:nvPr/>
        </p:nvSpPr>
        <p:spPr>
          <a:xfrm>
            <a:off x="457200" y="5239512"/>
            <a:ext cx="228600" cy="347472"/>
          </a:xfrm>
          <a:prstGeom prst="rect">
            <a:avLst/>
          </a:prstGeom>
          <a:noFill/>
          <a:ln/>
        </p:spPr>
        <p:txBody>
          <a:bodyPr wrap="square" lIns="0" tIns="0" rIns="0" bIns="0" rtlCol="0" anchor="ctr"/>
          <a:lstStyle/>
          <a:p>
            <a:pPr indent="0" marL="0">
              <a:buNone/>
            </a:pPr>
            <a:r>
              <a:rPr lang="en-US" sz="1400" dirty="0">
                <a:solidFill>
                  <a:srgbClr val="C9A227"/>
                </a:solidFill>
                <a:latin typeface="Calibri" pitchFamily="34" charset="0"/>
                <a:ea typeface="Calibri" pitchFamily="34" charset="-122"/>
                <a:cs typeface="Calibri" pitchFamily="34" charset="-120"/>
              </a:rPr>
              <a:t>—</a:t>
            </a:r>
            <a:endParaRPr lang="en-US" sz="1400" dirty="0"/>
          </a:p>
        </p:txBody>
      </p:sp>
      <p:sp>
        <p:nvSpPr>
          <p:cNvPr id="32" name="Text 30"/>
          <p:cNvSpPr/>
          <p:nvPr/>
        </p:nvSpPr>
        <p:spPr>
          <a:xfrm>
            <a:off x="731520" y="5239512"/>
            <a:ext cx="7498080" cy="347472"/>
          </a:xfrm>
          <a:prstGeom prst="rect">
            <a:avLst/>
          </a:prstGeom>
          <a:noFill/>
          <a:ln/>
        </p:spPr>
        <p:txBody>
          <a:bodyPr wrap="square" lIns="0" tIns="0" rIns="0" bIns="0" rtlCol="0" anchor="ctr"/>
          <a:lstStyle/>
          <a:p>
            <a:pPr indent="0" marL="0">
              <a:buNone/>
            </a:pPr>
            <a:r>
              <a:rPr lang="en-US" sz="1400" dirty="0">
                <a:solidFill>
                  <a:srgbClr val="9AA3B5"/>
                </a:solidFill>
                <a:latin typeface="Calibri" pitchFamily="34" charset="0"/>
                <a:ea typeface="Calibri" pitchFamily="34" charset="-122"/>
                <a:cs typeface="Calibri" pitchFamily="34" charset="-120"/>
              </a:rPr>
              <a:t>Localization foundation in progress — string tables, layout expansion, and first-session copy ready for additional locales</a:t>
            </a:r>
            <a:endParaRPr lang="en-US" sz="1400" dirty="0"/>
          </a:p>
        </p:txBody>
      </p:sp>
      <p:sp>
        <p:nvSpPr>
          <p:cNvPr id="33" name="Shape 31"/>
          <p:cNvSpPr/>
          <p:nvPr/>
        </p:nvSpPr>
        <p:spPr>
          <a:xfrm>
            <a:off x="8366760" y="3383280"/>
            <a:ext cx="3337560" cy="2926080"/>
          </a:xfrm>
          <a:prstGeom prst="rect">
            <a:avLst/>
          </a:prstGeom>
          <a:solidFill>
            <a:srgbClr val="151C2E"/>
          </a:solidFill>
          <a:ln w="12700">
            <a:solidFill>
              <a:srgbClr val="243049"/>
            </a:solidFill>
            <a:prstDash val="solid"/>
          </a:ln>
        </p:spPr>
      </p:sp>
      <p:sp>
        <p:nvSpPr>
          <p:cNvPr id="34" name="Text 32"/>
          <p:cNvSpPr/>
          <p:nvPr/>
        </p:nvSpPr>
        <p:spPr>
          <a:xfrm>
            <a:off x="8549640" y="3566160"/>
            <a:ext cx="2971800" cy="256032"/>
          </a:xfrm>
          <a:prstGeom prst="rect">
            <a:avLst/>
          </a:prstGeom>
          <a:noFill/>
          <a:ln/>
        </p:spPr>
        <p:txBody>
          <a:bodyPr wrap="square" lIns="0" tIns="0" rIns="0" bIns="0" rtlCol="0" anchor="ctr"/>
          <a:lstStyle/>
          <a:p>
            <a:pPr indent="0" marL="0">
              <a:buNone/>
            </a:pPr>
            <a:r>
              <a:rPr lang="en-US" sz="1100" b="1" spc="140" kern="0" dirty="0">
                <a:solidFill>
                  <a:srgbClr val="C9A227"/>
                </a:solidFill>
                <a:latin typeface="Calibri" pitchFamily="34" charset="0"/>
                <a:ea typeface="Calibri" pitchFamily="34" charset="-122"/>
                <a:cs typeface="Calibri" pitchFamily="34" charset="-120"/>
              </a:rPr>
              <a:t>APP NFT</a:t>
            </a:r>
            <a:endParaRPr lang="en-US" sz="1100" dirty="0"/>
          </a:p>
        </p:txBody>
      </p:sp>
      <p:sp>
        <p:nvSpPr>
          <p:cNvPr id="35" name="Text 33"/>
          <p:cNvSpPr/>
          <p:nvPr/>
        </p:nvSpPr>
        <p:spPr>
          <a:xfrm>
            <a:off x="8549640" y="3931920"/>
            <a:ext cx="2971800" cy="777240"/>
          </a:xfrm>
          <a:prstGeom prst="rect">
            <a:avLst/>
          </a:prstGeom>
          <a:noFill/>
          <a:ln/>
        </p:spPr>
        <p:txBody>
          <a:bodyPr wrap="square" lIns="0" tIns="0" rIns="0" bIns="0" rtlCol="0" anchor="ctr"/>
          <a:lstStyle/>
          <a:p>
            <a:pPr indent="0" marL="0">
              <a:buNone/>
            </a:pPr>
            <a:r>
              <a:rPr lang="en-US" sz="1100" dirty="0">
                <a:solidFill>
                  <a:srgbClr val="F4F1E8"/>
                </a:solidFill>
                <a:latin typeface="Consolas" pitchFamily="34" charset="0"/>
                <a:ea typeface="Consolas" pitchFamily="34" charset="-122"/>
                <a:cs typeface="Consolas" pitchFamily="34" charset="-120"/>
              </a:rPr>
              <a:t>5MG4atMRDSVn9t75oFz1KVx</a:t>
            </a:r>
            <a:endParaRPr lang="en-US" sz="1100" dirty="0"/>
          </a:p>
          <a:p>
            <a:pPr indent="0" marL="0">
              <a:buNone/>
            </a:pPr>
            <a:r>
              <a:rPr lang="en-US" sz="1100" dirty="0">
                <a:solidFill>
                  <a:srgbClr val="F4F1E8"/>
                </a:solidFill>
                <a:latin typeface="Consolas" pitchFamily="34" charset="0"/>
                <a:ea typeface="Consolas" pitchFamily="34" charset="-122"/>
                <a:cs typeface="Consolas" pitchFamily="34" charset="-120"/>
              </a:rPr>
              <a:t>KdUkyz2wPi2MeunT8yFe6</a:t>
            </a:r>
            <a:endParaRPr lang="en-US" sz="1100" dirty="0"/>
          </a:p>
        </p:txBody>
      </p:sp>
      <p:sp>
        <p:nvSpPr>
          <p:cNvPr id="36" name="Text 34"/>
          <p:cNvSpPr/>
          <p:nvPr/>
        </p:nvSpPr>
        <p:spPr>
          <a:xfrm>
            <a:off x="8549640" y="4800600"/>
            <a:ext cx="2971800" cy="219456"/>
          </a:xfrm>
          <a:prstGeom prst="rect">
            <a:avLst/>
          </a:prstGeom>
          <a:noFill/>
          <a:ln/>
        </p:spPr>
        <p:txBody>
          <a:bodyPr wrap="square" lIns="0" tIns="0" rIns="0" bIns="0" rtlCol="0" anchor="ctr"/>
          <a:lstStyle/>
          <a:p>
            <a:pPr indent="0" marL="0">
              <a:buNone/>
            </a:pPr>
            <a:r>
              <a:rPr lang="en-US" sz="1100" b="1" spc="140" kern="0" dirty="0">
                <a:solidFill>
                  <a:srgbClr val="C9A227"/>
                </a:solidFill>
                <a:latin typeface="Calibri" pitchFamily="34" charset="0"/>
                <a:ea typeface="Calibri" pitchFamily="34" charset="-122"/>
                <a:cs typeface="Calibri" pitchFamily="34" charset="-120"/>
              </a:rPr>
              <a:t>PACKAGE</a:t>
            </a:r>
            <a:endParaRPr lang="en-US" sz="1100" dirty="0"/>
          </a:p>
        </p:txBody>
      </p:sp>
      <p:sp>
        <p:nvSpPr>
          <p:cNvPr id="37" name="Text 35"/>
          <p:cNvSpPr/>
          <p:nvPr/>
        </p:nvSpPr>
        <p:spPr>
          <a:xfrm>
            <a:off x="8549640" y="5047488"/>
            <a:ext cx="2971800" cy="640080"/>
          </a:xfrm>
          <a:prstGeom prst="rect">
            <a:avLst/>
          </a:prstGeom>
          <a:noFill/>
          <a:ln/>
        </p:spPr>
        <p:txBody>
          <a:bodyPr wrap="square" lIns="0" tIns="0" rIns="0" bIns="0" rtlCol="0" anchor="ctr"/>
          <a:lstStyle/>
          <a:p>
            <a:pPr indent="0" marL="0">
              <a:buNone/>
            </a:pPr>
            <a:r>
              <a:rPr lang="en-US" sz="1200" dirty="0">
                <a:solidFill>
                  <a:srgbClr val="F4F1E8"/>
                </a:solidFill>
                <a:latin typeface="Consolas" pitchFamily="34" charset="0"/>
                <a:ea typeface="Consolas" pitchFamily="34" charset="-122"/>
                <a:cs typeface="Consolas" pitchFamily="34" charset="-120"/>
              </a:rPr>
              <a:t>com.denellestudios.</a:t>
            </a:r>
            <a:endParaRPr lang="en-US" sz="1200" dirty="0"/>
          </a:p>
          <a:p>
            <a:pPr indent="0" marL="0">
              <a:buNone/>
            </a:pPr>
            <a:r>
              <a:rPr lang="en-US" sz="1200" dirty="0">
                <a:solidFill>
                  <a:srgbClr val="F4F1E8"/>
                </a:solidFill>
                <a:latin typeface="Consolas" pitchFamily="34" charset="0"/>
                <a:ea typeface="Consolas" pitchFamily="34" charset="-122"/>
                <a:cs typeface="Consolas" pitchFamily="34" charset="-120"/>
              </a:rPr>
              <a:t>echoesofelarion</a:t>
            </a:r>
            <a:endParaRPr lang="en-US" sz="1200" dirty="0"/>
          </a:p>
        </p:txBody>
      </p:sp>
      <p:sp>
        <p:nvSpPr>
          <p:cNvPr id="38" name="Shape 36"/>
          <p:cNvSpPr/>
          <p:nvPr/>
        </p:nvSpPr>
        <p:spPr>
          <a:xfrm>
            <a:off x="0" y="6656832"/>
            <a:ext cx="12161520" cy="201168"/>
          </a:xfrm>
          <a:prstGeom prst="rect">
            <a:avLst/>
          </a:prstGeom>
          <a:solidFill>
            <a:srgbClr val="0B1220"/>
          </a:solidFill>
          <a:ln/>
        </p:spPr>
      </p:sp>
      <p:sp>
        <p:nvSpPr>
          <p:cNvPr id="39" name="Shape 37"/>
          <p:cNvSpPr/>
          <p:nvPr/>
        </p:nvSpPr>
        <p:spPr>
          <a:xfrm>
            <a:off x="0" y="6656832"/>
            <a:ext cx="12161520" cy="13716"/>
          </a:xfrm>
          <a:prstGeom prst="rect">
            <a:avLst/>
          </a:prstGeom>
          <a:solidFill>
            <a:srgbClr val="243049"/>
          </a:solidFill>
          <a:ln/>
        </p:spPr>
      </p:sp>
      <p:sp>
        <p:nvSpPr>
          <p:cNvPr id="40" name="Text 38"/>
          <p:cNvSpPr/>
          <p:nvPr/>
        </p:nvSpPr>
        <p:spPr>
          <a:xfrm>
            <a:off x="411480" y="6675120"/>
            <a:ext cx="7498080" cy="164592"/>
          </a:xfrm>
          <a:prstGeom prst="rect">
            <a:avLst/>
          </a:prstGeom>
          <a:noFill/>
          <a:ln/>
        </p:spPr>
        <p:txBody>
          <a:bodyPr wrap="square" lIns="0" tIns="0" rIns="0" bIns="0" rtlCol="0" anchor="ctr"/>
          <a:lstStyle/>
          <a:p>
            <a:pPr indent="0" marL="0">
              <a:buNone/>
            </a:pPr>
            <a:r>
              <a:rPr lang="en-US" sz="900" spc="60" kern="0" dirty="0">
                <a:solidFill>
                  <a:srgbClr val="6E7789"/>
                </a:solidFill>
                <a:latin typeface="Calibri" pitchFamily="34" charset="0"/>
                <a:ea typeface="Calibri" pitchFamily="34" charset="-122"/>
                <a:cs typeface="Calibri" pitchFamily="34" charset="-120"/>
              </a:rPr>
              <a:t>DENELLE STUDIOS  ·  CONFIDENTIAL GRANT APPLICATION</a:t>
            </a:r>
            <a:endParaRPr lang="en-US" sz="900" dirty="0"/>
          </a:p>
        </p:txBody>
      </p:sp>
      <p:sp>
        <p:nvSpPr>
          <p:cNvPr id="41" name="Text 39"/>
          <p:cNvSpPr/>
          <p:nvPr/>
        </p:nvSpPr>
        <p:spPr>
          <a:xfrm>
            <a:off x="7863840" y="6675120"/>
            <a:ext cx="3886200" cy="164592"/>
          </a:xfrm>
          <a:prstGeom prst="rect">
            <a:avLst/>
          </a:prstGeom>
          <a:noFill/>
          <a:ln/>
        </p:spPr>
        <p:txBody>
          <a:bodyPr wrap="square" lIns="0" tIns="0" rIns="0" bIns="0" rtlCol="0" anchor="ctr"/>
          <a:lstStyle/>
          <a:p>
            <a:pPr algn="r" indent="0" marL="0">
              <a:buNone/>
            </a:pPr>
            <a:r>
              <a:rPr lang="en-US" sz="900" dirty="0">
                <a:solidFill>
                  <a:srgbClr val="6E7789"/>
                </a:solidFill>
                <a:latin typeface="Calibri" pitchFamily="34" charset="0"/>
                <a:ea typeface="Calibri" pitchFamily="34" charset="-122"/>
                <a:cs typeface="Calibri" pitchFamily="34" charset="-120"/>
              </a:rPr>
              <a:t>ECHOES OF ELARION  ·  4 / 14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B1220"/>
          </a:solidFill>
          <a:ln/>
        </p:spPr>
      </p:sp>
      <p:sp>
        <p:nvSpPr>
          <p:cNvPr id="3" name="Shape 1"/>
          <p:cNvSpPr/>
          <p:nvPr/>
        </p:nvSpPr>
        <p:spPr>
          <a:xfrm>
            <a:off x="457200" y="256032"/>
            <a:ext cx="164592" cy="164592"/>
          </a:xfrm>
          <a:prstGeom prst="rect">
            <a:avLst/>
          </a:prstGeom>
          <a:solidFill>
            <a:srgbClr val="C9A227"/>
          </a:solidFill>
          <a:ln/>
        </p:spPr>
      </p:sp>
      <p:sp>
        <p:nvSpPr>
          <p:cNvPr id="4" name="Text 2"/>
          <p:cNvSpPr/>
          <p:nvPr/>
        </p:nvSpPr>
        <p:spPr>
          <a:xfrm>
            <a:off x="731520" y="219456"/>
            <a:ext cx="9144000" cy="237744"/>
          </a:xfrm>
          <a:prstGeom prst="rect">
            <a:avLst/>
          </a:prstGeom>
          <a:noFill/>
          <a:ln/>
        </p:spPr>
        <p:txBody>
          <a:bodyPr wrap="square" lIns="0" tIns="0" rIns="0" bIns="0" rtlCol="0" anchor="ctr"/>
          <a:lstStyle/>
          <a:p>
            <a:pPr indent="0" marL="0">
              <a:buNone/>
            </a:pPr>
            <a:r>
              <a:rPr lang="en-US" sz="1100" b="1" spc="160" kern="0" dirty="0">
                <a:solidFill>
                  <a:srgbClr val="C9A227"/>
                </a:solidFill>
                <a:latin typeface="Calibri" pitchFamily="34" charset="0"/>
                <a:ea typeface="Calibri" pitchFamily="34" charset="-122"/>
                <a:cs typeface="Calibri" pitchFamily="34" charset="-120"/>
              </a:rPr>
              <a:t>TECHNICAL DEPTH</a:t>
            </a:r>
            <a:endParaRPr lang="en-US" sz="1100" dirty="0"/>
          </a:p>
        </p:txBody>
      </p:sp>
      <p:sp>
        <p:nvSpPr>
          <p:cNvPr id="5" name="Text 3"/>
          <p:cNvSpPr/>
          <p:nvPr/>
        </p:nvSpPr>
        <p:spPr>
          <a:xfrm>
            <a:off x="457200" y="475488"/>
            <a:ext cx="11247120" cy="502920"/>
          </a:xfrm>
          <a:prstGeom prst="rect">
            <a:avLst/>
          </a:prstGeom>
          <a:noFill/>
          <a:ln/>
        </p:spPr>
        <p:txBody>
          <a:bodyPr wrap="square" lIns="0" tIns="0" rIns="0" bIns="0" rtlCol="0" anchor="ctr"/>
          <a:lstStyle/>
          <a:p>
            <a:pPr indent="0" marL="0">
              <a:buNone/>
            </a:pPr>
            <a:r>
              <a:rPr lang="en-US" sz="2800" dirty="0">
                <a:solidFill>
                  <a:srgbClr val="F4F1E8"/>
                </a:solidFill>
                <a:latin typeface="Georgia" pitchFamily="34" charset="0"/>
                <a:ea typeface="Georgia" pitchFamily="34" charset="-122"/>
                <a:cs typeface="Georgia" pitchFamily="34" charset="-120"/>
              </a:rPr>
              <a:t>Mobile Wallet Adapter is shipped, not planned.</a:t>
            </a:r>
            <a:endParaRPr lang="en-US" sz="2800" dirty="0"/>
          </a:p>
        </p:txBody>
      </p:sp>
      <p:sp>
        <p:nvSpPr>
          <p:cNvPr id="6" name="Text 4"/>
          <p:cNvSpPr/>
          <p:nvPr/>
        </p:nvSpPr>
        <p:spPr>
          <a:xfrm>
            <a:off x="457200" y="1051560"/>
            <a:ext cx="11247120" cy="365760"/>
          </a:xfrm>
          <a:prstGeom prst="rect">
            <a:avLst/>
          </a:prstGeom>
          <a:noFill/>
          <a:ln/>
        </p:spPr>
        <p:txBody>
          <a:bodyPr wrap="square" lIns="0" tIns="0" rIns="0" bIns="0" rtlCol="0" anchor="ctr"/>
          <a:lstStyle/>
          <a:p>
            <a:pPr indent="0" marL="0">
              <a:buNone/>
            </a:pPr>
            <a:r>
              <a:rPr lang="en-US" sz="1500" dirty="0">
                <a:solidFill>
                  <a:srgbClr val="9AA3B5"/>
                </a:solidFill>
                <a:latin typeface="Calibri" pitchFamily="34" charset="0"/>
                <a:ea typeface="Calibri" pitchFamily="34" charset="-122"/>
                <a:cs typeface="Calibri" pitchFamily="34" charset="-120"/>
              </a:rPr>
              <a:t>The wallet rail is already integrated and hardened on a real Seeker. The grant funds depth on top of it — not a first integration.</a:t>
            </a:r>
            <a:endParaRPr lang="en-US" sz="1500" dirty="0"/>
          </a:p>
        </p:txBody>
      </p:sp>
      <p:sp>
        <p:nvSpPr>
          <p:cNvPr id="7" name="Shape 5"/>
          <p:cNvSpPr/>
          <p:nvPr/>
        </p:nvSpPr>
        <p:spPr>
          <a:xfrm>
            <a:off x="457200" y="1508760"/>
            <a:ext cx="11247120" cy="868680"/>
          </a:xfrm>
          <a:prstGeom prst="rect">
            <a:avLst/>
          </a:prstGeom>
          <a:solidFill>
            <a:srgbClr val="151C2E"/>
          </a:solidFill>
          <a:ln w="12700">
            <a:solidFill>
              <a:srgbClr val="243049"/>
            </a:solidFill>
            <a:prstDash val="solid"/>
          </a:ln>
        </p:spPr>
      </p:sp>
      <p:sp>
        <p:nvSpPr>
          <p:cNvPr id="8" name="Text 6"/>
          <p:cNvSpPr/>
          <p:nvPr/>
        </p:nvSpPr>
        <p:spPr>
          <a:xfrm>
            <a:off x="640080" y="1764792"/>
            <a:ext cx="3017520" cy="365760"/>
          </a:xfrm>
          <a:prstGeom prst="rect">
            <a:avLst/>
          </a:prstGeom>
          <a:noFill/>
          <a:ln/>
        </p:spPr>
        <p:txBody>
          <a:bodyPr wrap="square" lIns="0" tIns="0" rIns="0" bIns="0" rtlCol="0" anchor="ctr"/>
          <a:lstStyle/>
          <a:p>
            <a:pPr indent="0" marL="0">
              <a:buNone/>
            </a:pPr>
            <a:r>
              <a:rPr lang="en-US" sz="1600" b="1" dirty="0">
                <a:solidFill>
                  <a:srgbClr val="F4F1E8"/>
                </a:solidFill>
                <a:latin typeface="Calibri" pitchFamily="34" charset="0"/>
                <a:ea typeface="Calibri" pitchFamily="34" charset="-122"/>
                <a:cs typeface="Calibri" pitchFamily="34" charset="-120"/>
              </a:rPr>
              <a:t>MWA integration</a:t>
            </a:r>
            <a:endParaRPr lang="en-US" sz="1600" dirty="0"/>
          </a:p>
        </p:txBody>
      </p:sp>
      <p:sp>
        <p:nvSpPr>
          <p:cNvPr id="9" name="Shape 7"/>
          <p:cNvSpPr/>
          <p:nvPr/>
        </p:nvSpPr>
        <p:spPr>
          <a:xfrm>
            <a:off x="3794760" y="1764792"/>
            <a:ext cx="1417320" cy="347472"/>
          </a:xfrm>
          <a:prstGeom prst="roundRect">
            <a:avLst>
              <a:gd name="adj" fmla="val 21053"/>
            </a:avLst>
          </a:prstGeom>
          <a:solidFill>
            <a:srgbClr val="3BBFA8"/>
          </a:solidFill>
          <a:ln/>
        </p:spPr>
      </p:sp>
      <p:sp>
        <p:nvSpPr>
          <p:cNvPr id="10" name="Text 8"/>
          <p:cNvSpPr/>
          <p:nvPr/>
        </p:nvSpPr>
        <p:spPr>
          <a:xfrm>
            <a:off x="3794760" y="1764792"/>
            <a:ext cx="1417320" cy="347472"/>
          </a:xfrm>
          <a:prstGeom prst="rect">
            <a:avLst/>
          </a:prstGeom>
          <a:noFill/>
          <a:ln/>
        </p:spPr>
        <p:txBody>
          <a:bodyPr wrap="square" lIns="0" tIns="0" rIns="0" bIns="0" rtlCol="0" anchor="ctr"/>
          <a:lstStyle/>
          <a:p>
            <a:pPr algn="ctr" indent="0" marL="0">
              <a:buNone/>
            </a:pPr>
            <a:r>
              <a:rPr lang="en-US" sz="1000" b="1" dirty="0">
                <a:solidFill>
                  <a:srgbClr val="0B1220"/>
                </a:solidFill>
                <a:latin typeface="Calibri" pitchFamily="34" charset="0"/>
                <a:ea typeface="Calibri" pitchFamily="34" charset="-122"/>
                <a:cs typeface="Calibri" pitchFamily="34" charset="-120"/>
              </a:rPr>
              <a:t>SHIPPED</a:t>
            </a:r>
            <a:endParaRPr lang="en-US" sz="1000" dirty="0"/>
          </a:p>
        </p:txBody>
      </p:sp>
      <p:sp>
        <p:nvSpPr>
          <p:cNvPr id="11" name="Text 9"/>
          <p:cNvSpPr/>
          <p:nvPr/>
        </p:nvSpPr>
        <p:spPr>
          <a:xfrm>
            <a:off x="5394960" y="1655064"/>
            <a:ext cx="6126480" cy="594360"/>
          </a:xfrm>
          <a:prstGeom prst="rect">
            <a:avLst/>
          </a:prstGeom>
          <a:noFill/>
          <a:ln/>
        </p:spPr>
        <p:txBody>
          <a:bodyPr wrap="square" lIns="0" tIns="0" rIns="0" bIns="0" rtlCol="0" anchor="ctr"/>
          <a:lstStyle/>
          <a:p>
            <a:pPr indent="0" marL="0">
              <a:buNone/>
            </a:pPr>
            <a:r>
              <a:rPr lang="en-US" sz="1300" dirty="0">
                <a:solidFill>
                  <a:srgbClr val="9AA3B5"/>
                </a:solidFill>
                <a:latin typeface="Calibri" pitchFamily="34" charset="0"/>
                <a:ea typeface="Calibri" pitchFamily="34" charset="-122"/>
                <a:cs typeface="Calibri" pitchFamily="34" charset="-120"/>
              </a:rPr>
              <a:t>Authorize and reauthorize run through Mobile Wallet Adapter as the wallet connection and signing path.</a:t>
            </a:r>
            <a:endParaRPr lang="en-US" sz="1300" dirty="0"/>
          </a:p>
        </p:txBody>
      </p:sp>
      <p:sp>
        <p:nvSpPr>
          <p:cNvPr id="12" name="Shape 10"/>
          <p:cNvSpPr/>
          <p:nvPr/>
        </p:nvSpPr>
        <p:spPr>
          <a:xfrm>
            <a:off x="457200" y="2468880"/>
            <a:ext cx="11247120" cy="868680"/>
          </a:xfrm>
          <a:prstGeom prst="rect">
            <a:avLst/>
          </a:prstGeom>
          <a:solidFill>
            <a:srgbClr val="151C2E"/>
          </a:solidFill>
          <a:ln w="12700">
            <a:solidFill>
              <a:srgbClr val="243049"/>
            </a:solidFill>
            <a:prstDash val="solid"/>
          </a:ln>
        </p:spPr>
      </p:sp>
      <p:sp>
        <p:nvSpPr>
          <p:cNvPr id="13" name="Text 11"/>
          <p:cNvSpPr/>
          <p:nvPr/>
        </p:nvSpPr>
        <p:spPr>
          <a:xfrm>
            <a:off x="640080" y="2724912"/>
            <a:ext cx="3017520" cy="365760"/>
          </a:xfrm>
          <a:prstGeom prst="rect">
            <a:avLst/>
          </a:prstGeom>
          <a:noFill/>
          <a:ln/>
        </p:spPr>
        <p:txBody>
          <a:bodyPr wrap="square" lIns="0" tIns="0" rIns="0" bIns="0" rtlCol="0" anchor="ctr"/>
          <a:lstStyle/>
          <a:p>
            <a:pPr indent="0" marL="0">
              <a:buNone/>
            </a:pPr>
            <a:r>
              <a:rPr lang="en-US" sz="1600" b="1" dirty="0">
                <a:solidFill>
                  <a:srgbClr val="F4F1E8"/>
                </a:solidFill>
                <a:latin typeface="Calibri" pitchFamily="34" charset="0"/>
                <a:ea typeface="Calibri" pitchFamily="34" charset="-122"/>
                <a:cs typeface="Calibri" pitchFamily="34" charset="-120"/>
              </a:rPr>
              <a:t>Session persistence</a:t>
            </a:r>
            <a:endParaRPr lang="en-US" sz="1600" dirty="0"/>
          </a:p>
        </p:txBody>
      </p:sp>
      <p:sp>
        <p:nvSpPr>
          <p:cNvPr id="14" name="Shape 12"/>
          <p:cNvSpPr/>
          <p:nvPr/>
        </p:nvSpPr>
        <p:spPr>
          <a:xfrm>
            <a:off x="3794760" y="2724912"/>
            <a:ext cx="1417320" cy="347472"/>
          </a:xfrm>
          <a:prstGeom prst="roundRect">
            <a:avLst>
              <a:gd name="adj" fmla="val 21053"/>
            </a:avLst>
          </a:prstGeom>
          <a:solidFill>
            <a:srgbClr val="3BBFA8"/>
          </a:solidFill>
          <a:ln/>
        </p:spPr>
      </p:sp>
      <p:sp>
        <p:nvSpPr>
          <p:cNvPr id="15" name="Text 13"/>
          <p:cNvSpPr/>
          <p:nvPr/>
        </p:nvSpPr>
        <p:spPr>
          <a:xfrm>
            <a:off x="3794760" y="2724912"/>
            <a:ext cx="1417320" cy="347472"/>
          </a:xfrm>
          <a:prstGeom prst="rect">
            <a:avLst/>
          </a:prstGeom>
          <a:noFill/>
          <a:ln/>
        </p:spPr>
        <p:txBody>
          <a:bodyPr wrap="square" lIns="0" tIns="0" rIns="0" bIns="0" rtlCol="0" anchor="ctr"/>
          <a:lstStyle/>
          <a:p>
            <a:pPr algn="ctr" indent="0" marL="0">
              <a:buNone/>
            </a:pPr>
            <a:r>
              <a:rPr lang="en-US" sz="1000" b="1" dirty="0">
                <a:solidFill>
                  <a:srgbClr val="0B1220"/>
                </a:solidFill>
                <a:latin typeface="Calibri" pitchFamily="34" charset="0"/>
                <a:ea typeface="Calibri" pitchFamily="34" charset="-122"/>
                <a:cs typeface="Calibri" pitchFamily="34" charset="-120"/>
              </a:rPr>
              <a:t>SHIPPED</a:t>
            </a:r>
            <a:endParaRPr lang="en-US" sz="1000" dirty="0"/>
          </a:p>
        </p:txBody>
      </p:sp>
      <p:sp>
        <p:nvSpPr>
          <p:cNvPr id="16" name="Text 14"/>
          <p:cNvSpPr/>
          <p:nvPr/>
        </p:nvSpPr>
        <p:spPr>
          <a:xfrm>
            <a:off x="5394960" y="2615184"/>
            <a:ext cx="6126480" cy="594360"/>
          </a:xfrm>
          <a:prstGeom prst="rect">
            <a:avLst/>
          </a:prstGeom>
          <a:noFill/>
          <a:ln/>
        </p:spPr>
        <p:txBody>
          <a:bodyPr wrap="square" lIns="0" tIns="0" rIns="0" bIns="0" rtlCol="0" anchor="ctr"/>
          <a:lstStyle/>
          <a:p>
            <a:pPr indent="0" marL="0">
              <a:buNone/>
            </a:pPr>
            <a:r>
              <a:rPr lang="en-US" sz="1300" dirty="0">
                <a:solidFill>
                  <a:srgbClr val="9AA3B5"/>
                </a:solidFill>
                <a:latin typeface="Calibri" pitchFamily="34" charset="0"/>
                <a:ea typeface="Calibri" pitchFamily="34" charset="-122"/>
                <a:cs typeface="Calibri" pitchFamily="34" charset="-120"/>
              </a:rPr>
              <a:t>A returning player is silently reauthorized instead of re-prompted — built after the defect was reproduced on a Seeker.</a:t>
            </a:r>
            <a:endParaRPr lang="en-US" sz="1300" dirty="0"/>
          </a:p>
        </p:txBody>
      </p:sp>
      <p:sp>
        <p:nvSpPr>
          <p:cNvPr id="17" name="Shape 15"/>
          <p:cNvSpPr/>
          <p:nvPr/>
        </p:nvSpPr>
        <p:spPr>
          <a:xfrm>
            <a:off x="457200" y="3429000"/>
            <a:ext cx="11247120" cy="868680"/>
          </a:xfrm>
          <a:prstGeom prst="rect">
            <a:avLst/>
          </a:prstGeom>
          <a:solidFill>
            <a:srgbClr val="151C2E"/>
          </a:solidFill>
          <a:ln w="12700">
            <a:solidFill>
              <a:srgbClr val="243049"/>
            </a:solidFill>
            <a:prstDash val="solid"/>
          </a:ln>
        </p:spPr>
      </p:sp>
      <p:sp>
        <p:nvSpPr>
          <p:cNvPr id="18" name="Text 16"/>
          <p:cNvSpPr/>
          <p:nvPr/>
        </p:nvSpPr>
        <p:spPr>
          <a:xfrm>
            <a:off x="640080" y="3685032"/>
            <a:ext cx="3017520" cy="365760"/>
          </a:xfrm>
          <a:prstGeom prst="rect">
            <a:avLst/>
          </a:prstGeom>
          <a:noFill/>
          <a:ln/>
        </p:spPr>
        <p:txBody>
          <a:bodyPr wrap="square" lIns="0" tIns="0" rIns="0" bIns="0" rtlCol="0" anchor="ctr"/>
          <a:lstStyle/>
          <a:p>
            <a:pPr indent="0" marL="0">
              <a:buNone/>
            </a:pPr>
            <a:r>
              <a:rPr lang="en-US" sz="1600" b="1" dirty="0">
                <a:solidFill>
                  <a:srgbClr val="F4F1E8"/>
                </a:solidFill>
                <a:latin typeface="Calibri" pitchFamily="34" charset="0"/>
                <a:ea typeface="Calibri" pitchFamily="34" charset="-122"/>
                <a:cs typeface="Calibri" pitchFamily="34" charset="-120"/>
              </a:rPr>
              <a:t>Credential handling</a:t>
            </a:r>
            <a:endParaRPr lang="en-US" sz="1600" dirty="0"/>
          </a:p>
        </p:txBody>
      </p:sp>
      <p:sp>
        <p:nvSpPr>
          <p:cNvPr id="19" name="Shape 17"/>
          <p:cNvSpPr/>
          <p:nvPr/>
        </p:nvSpPr>
        <p:spPr>
          <a:xfrm>
            <a:off x="3794760" y="3685032"/>
            <a:ext cx="1417320" cy="347472"/>
          </a:xfrm>
          <a:prstGeom prst="roundRect">
            <a:avLst>
              <a:gd name="adj" fmla="val 21053"/>
            </a:avLst>
          </a:prstGeom>
          <a:solidFill>
            <a:srgbClr val="3BBFA8"/>
          </a:solidFill>
          <a:ln/>
        </p:spPr>
      </p:sp>
      <p:sp>
        <p:nvSpPr>
          <p:cNvPr id="20" name="Text 18"/>
          <p:cNvSpPr/>
          <p:nvPr/>
        </p:nvSpPr>
        <p:spPr>
          <a:xfrm>
            <a:off x="3794760" y="3685032"/>
            <a:ext cx="1417320" cy="347472"/>
          </a:xfrm>
          <a:prstGeom prst="rect">
            <a:avLst/>
          </a:prstGeom>
          <a:noFill/>
          <a:ln/>
        </p:spPr>
        <p:txBody>
          <a:bodyPr wrap="square" lIns="0" tIns="0" rIns="0" bIns="0" rtlCol="0" anchor="ctr"/>
          <a:lstStyle/>
          <a:p>
            <a:pPr algn="ctr" indent="0" marL="0">
              <a:buNone/>
            </a:pPr>
            <a:r>
              <a:rPr lang="en-US" sz="1000" b="1" dirty="0">
                <a:solidFill>
                  <a:srgbClr val="0B1220"/>
                </a:solidFill>
                <a:latin typeface="Calibri" pitchFamily="34" charset="0"/>
                <a:ea typeface="Calibri" pitchFamily="34" charset="-122"/>
                <a:cs typeface="Calibri" pitchFamily="34" charset="-120"/>
              </a:rPr>
              <a:t>SHIPPED</a:t>
            </a:r>
            <a:endParaRPr lang="en-US" sz="1000" dirty="0"/>
          </a:p>
        </p:txBody>
      </p:sp>
      <p:sp>
        <p:nvSpPr>
          <p:cNvPr id="21" name="Text 19"/>
          <p:cNvSpPr/>
          <p:nvPr/>
        </p:nvSpPr>
        <p:spPr>
          <a:xfrm>
            <a:off x="5394960" y="3575304"/>
            <a:ext cx="6126480" cy="594360"/>
          </a:xfrm>
          <a:prstGeom prst="rect">
            <a:avLst/>
          </a:prstGeom>
          <a:noFill/>
          <a:ln/>
        </p:spPr>
        <p:txBody>
          <a:bodyPr wrap="square" lIns="0" tIns="0" rIns="0" bIns="0" rtlCol="0" anchor="ctr"/>
          <a:lstStyle/>
          <a:p>
            <a:pPr indent="0" marL="0">
              <a:buNone/>
            </a:pPr>
            <a:r>
              <a:rPr lang="en-US" sz="1300" dirty="0">
                <a:solidFill>
                  <a:srgbClr val="9AA3B5"/>
                </a:solidFill>
                <a:latin typeface="Calibri" pitchFamily="34" charset="0"/>
                <a:ea typeface="Calibri" pitchFamily="34" charset="-122"/>
                <a:cs typeface="Calibri" pitchFamily="34" charset="-120"/>
              </a:rPr>
              <a:t>The MWA auth token is treated as a capability grant and encrypted at rest, never stored as a plain preference value.</a:t>
            </a:r>
            <a:endParaRPr lang="en-US" sz="1300" dirty="0"/>
          </a:p>
        </p:txBody>
      </p:sp>
      <p:sp>
        <p:nvSpPr>
          <p:cNvPr id="22" name="Shape 20"/>
          <p:cNvSpPr/>
          <p:nvPr/>
        </p:nvSpPr>
        <p:spPr>
          <a:xfrm>
            <a:off x="457200" y="4389120"/>
            <a:ext cx="11247120" cy="868680"/>
          </a:xfrm>
          <a:prstGeom prst="rect">
            <a:avLst/>
          </a:prstGeom>
          <a:solidFill>
            <a:srgbClr val="151C2E"/>
          </a:solidFill>
          <a:ln w="12700">
            <a:solidFill>
              <a:srgbClr val="243049"/>
            </a:solidFill>
            <a:prstDash val="solid"/>
          </a:ln>
        </p:spPr>
      </p:sp>
      <p:sp>
        <p:nvSpPr>
          <p:cNvPr id="23" name="Text 21"/>
          <p:cNvSpPr/>
          <p:nvPr/>
        </p:nvSpPr>
        <p:spPr>
          <a:xfrm>
            <a:off x="640080" y="4645152"/>
            <a:ext cx="3017520" cy="365760"/>
          </a:xfrm>
          <a:prstGeom prst="rect">
            <a:avLst/>
          </a:prstGeom>
          <a:noFill/>
          <a:ln/>
        </p:spPr>
        <p:txBody>
          <a:bodyPr wrap="square" lIns="0" tIns="0" rIns="0" bIns="0" rtlCol="0" anchor="ctr"/>
          <a:lstStyle/>
          <a:p>
            <a:pPr indent="0" marL="0">
              <a:buNone/>
            </a:pPr>
            <a:r>
              <a:rPr lang="en-US" sz="1600" b="1" dirty="0">
                <a:solidFill>
                  <a:srgbClr val="F4F1E8"/>
                </a:solidFill>
                <a:latin typeface="Calibri" pitchFamily="34" charset="0"/>
                <a:ea typeface="Calibri" pitchFamily="34" charset="-122"/>
                <a:cs typeface="Calibri" pitchFamily="34" charset="-120"/>
              </a:rPr>
              <a:t>Artifact isolation</a:t>
            </a:r>
            <a:endParaRPr lang="en-US" sz="1600" dirty="0"/>
          </a:p>
        </p:txBody>
      </p:sp>
      <p:sp>
        <p:nvSpPr>
          <p:cNvPr id="24" name="Shape 22"/>
          <p:cNvSpPr/>
          <p:nvPr/>
        </p:nvSpPr>
        <p:spPr>
          <a:xfrm>
            <a:off x="3794760" y="4645152"/>
            <a:ext cx="1417320" cy="347472"/>
          </a:xfrm>
          <a:prstGeom prst="roundRect">
            <a:avLst>
              <a:gd name="adj" fmla="val 21053"/>
            </a:avLst>
          </a:prstGeom>
          <a:solidFill>
            <a:srgbClr val="C9A227"/>
          </a:solidFill>
          <a:ln/>
        </p:spPr>
      </p:sp>
      <p:sp>
        <p:nvSpPr>
          <p:cNvPr id="25" name="Text 23"/>
          <p:cNvSpPr/>
          <p:nvPr/>
        </p:nvSpPr>
        <p:spPr>
          <a:xfrm>
            <a:off x="3794760" y="4645152"/>
            <a:ext cx="1417320" cy="347472"/>
          </a:xfrm>
          <a:prstGeom prst="rect">
            <a:avLst/>
          </a:prstGeom>
          <a:noFill/>
          <a:ln/>
        </p:spPr>
        <p:txBody>
          <a:bodyPr wrap="square" lIns="0" tIns="0" rIns="0" bIns="0" rtlCol="0" anchor="ctr"/>
          <a:lstStyle/>
          <a:p>
            <a:pPr algn="ctr" indent="0" marL="0">
              <a:buNone/>
            </a:pPr>
            <a:r>
              <a:rPr lang="en-US" sz="1000" b="1" dirty="0">
                <a:solidFill>
                  <a:srgbClr val="0B1220"/>
                </a:solidFill>
                <a:latin typeface="Calibri" pitchFamily="34" charset="0"/>
                <a:ea typeface="Calibri" pitchFamily="34" charset="-122"/>
                <a:cs typeface="Calibri" pitchFamily="34" charset="-120"/>
              </a:rPr>
              <a:t>ENFORCED</a:t>
            </a:r>
            <a:endParaRPr lang="en-US" sz="1000" dirty="0"/>
          </a:p>
        </p:txBody>
      </p:sp>
      <p:sp>
        <p:nvSpPr>
          <p:cNvPr id="26" name="Text 24"/>
          <p:cNvSpPr/>
          <p:nvPr/>
        </p:nvSpPr>
        <p:spPr>
          <a:xfrm>
            <a:off x="5394960" y="4535424"/>
            <a:ext cx="6126480" cy="594360"/>
          </a:xfrm>
          <a:prstGeom prst="rect">
            <a:avLst/>
          </a:prstGeom>
          <a:noFill/>
          <a:ln/>
        </p:spPr>
        <p:txBody>
          <a:bodyPr wrap="square" lIns="0" tIns="0" rIns="0" bIns="0" rtlCol="0" anchor="ctr"/>
          <a:lstStyle/>
          <a:p>
            <a:pPr indent="0" marL="0">
              <a:buNone/>
            </a:pPr>
            <a:r>
              <a:rPr lang="en-US" sz="1300" dirty="0">
                <a:solidFill>
                  <a:srgbClr val="9AA3B5"/>
                </a:solidFill>
                <a:latin typeface="Calibri" pitchFamily="34" charset="0"/>
                <a:ea typeface="Calibri" pitchFamily="34" charset="-122"/>
                <a:cs typeface="Calibri" pitchFamily="34" charset="-120"/>
              </a:rPr>
              <a:t>The wallet rail compiles into the dApp Store build and out of the Play AAB — enforced by a gate that refuses to package otherwise.</a:t>
            </a:r>
            <a:endParaRPr lang="en-US" sz="1300" dirty="0"/>
          </a:p>
        </p:txBody>
      </p:sp>
      <p:sp>
        <p:nvSpPr>
          <p:cNvPr id="27" name="Shape 25"/>
          <p:cNvSpPr/>
          <p:nvPr/>
        </p:nvSpPr>
        <p:spPr>
          <a:xfrm>
            <a:off x="457200" y="5349240"/>
            <a:ext cx="11247120" cy="868680"/>
          </a:xfrm>
          <a:prstGeom prst="rect">
            <a:avLst/>
          </a:prstGeom>
          <a:solidFill>
            <a:srgbClr val="151C2E"/>
          </a:solidFill>
          <a:ln w="12700">
            <a:solidFill>
              <a:srgbClr val="243049"/>
            </a:solidFill>
            <a:prstDash val="solid"/>
          </a:ln>
        </p:spPr>
      </p:sp>
      <p:sp>
        <p:nvSpPr>
          <p:cNvPr id="28" name="Text 26"/>
          <p:cNvSpPr/>
          <p:nvPr/>
        </p:nvSpPr>
        <p:spPr>
          <a:xfrm>
            <a:off x="640080" y="5605272"/>
            <a:ext cx="3017520" cy="365760"/>
          </a:xfrm>
          <a:prstGeom prst="rect">
            <a:avLst/>
          </a:prstGeom>
          <a:noFill/>
          <a:ln/>
        </p:spPr>
        <p:txBody>
          <a:bodyPr wrap="square" lIns="0" tIns="0" rIns="0" bIns="0" rtlCol="0" anchor="ctr"/>
          <a:lstStyle/>
          <a:p>
            <a:pPr indent="0" marL="0">
              <a:buNone/>
            </a:pPr>
            <a:r>
              <a:rPr lang="en-US" sz="1600" b="1" dirty="0">
                <a:solidFill>
                  <a:srgbClr val="F4F1E8"/>
                </a:solidFill>
                <a:latin typeface="Calibri" pitchFamily="34" charset="0"/>
                <a:ea typeface="Calibri" pitchFamily="34" charset="-122"/>
                <a:cs typeface="Calibri" pitchFamily="34" charset="-120"/>
              </a:rPr>
              <a:t>Seed Vault validation</a:t>
            </a:r>
            <a:endParaRPr lang="en-US" sz="1600" dirty="0"/>
          </a:p>
        </p:txBody>
      </p:sp>
      <p:sp>
        <p:nvSpPr>
          <p:cNvPr id="29" name="Shape 27"/>
          <p:cNvSpPr/>
          <p:nvPr/>
        </p:nvSpPr>
        <p:spPr>
          <a:xfrm>
            <a:off x="3794760" y="5605272"/>
            <a:ext cx="1417320" cy="347472"/>
          </a:xfrm>
          <a:prstGeom prst="roundRect">
            <a:avLst>
              <a:gd name="adj" fmla="val 21053"/>
            </a:avLst>
          </a:prstGeom>
          <a:solidFill>
            <a:srgbClr val="7B8CFF"/>
          </a:solidFill>
          <a:ln/>
        </p:spPr>
      </p:sp>
      <p:sp>
        <p:nvSpPr>
          <p:cNvPr id="30" name="Text 28"/>
          <p:cNvSpPr/>
          <p:nvPr/>
        </p:nvSpPr>
        <p:spPr>
          <a:xfrm>
            <a:off x="3794760" y="5605272"/>
            <a:ext cx="1417320" cy="347472"/>
          </a:xfrm>
          <a:prstGeom prst="rect">
            <a:avLst/>
          </a:prstGeom>
          <a:noFill/>
          <a:ln/>
        </p:spPr>
        <p:txBody>
          <a:bodyPr wrap="square" lIns="0" tIns="0" rIns="0" bIns="0" rtlCol="0" anchor="ctr"/>
          <a:lstStyle/>
          <a:p>
            <a:pPr algn="ctr" indent="0" marL="0">
              <a:buNone/>
            </a:pPr>
            <a:r>
              <a:rPr lang="en-US" sz="1000" b="1" dirty="0">
                <a:solidFill>
                  <a:srgbClr val="0B1220"/>
                </a:solidFill>
                <a:latin typeface="Calibri" pitchFamily="34" charset="0"/>
                <a:ea typeface="Calibri" pitchFamily="34" charset="-122"/>
                <a:cs typeface="Calibri" pitchFamily="34" charset="-120"/>
              </a:rPr>
              <a:t>GRANT SCOPE</a:t>
            </a:r>
            <a:endParaRPr lang="en-US" sz="1000" dirty="0"/>
          </a:p>
        </p:txBody>
      </p:sp>
      <p:sp>
        <p:nvSpPr>
          <p:cNvPr id="31" name="Text 29"/>
          <p:cNvSpPr/>
          <p:nvPr/>
        </p:nvSpPr>
        <p:spPr>
          <a:xfrm>
            <a:off x="5394960" y="5495544"/>
            <a:ext cx="6126480" cy="594360"/>
          </a:xfrm>
          <a:prstGeom prst="rect">
            <a:avLst/>
          </a:prstGeom>
          <a:noFill/>
          <a:ln/>
        </p:spPr>
        <p:txBody>
          <a:bodyPr wrap="square" lIns="0" tIns="0" rIns="0" bIns="0" rtlCol="0" anchor="ctr"/>
          <a:lstStyle/>
          <a:p>
            <a:pPr indent="0" marL="0">
              <a:buNone/>
            </a:pPr>
            <a:r>
              <a:rPr lang="en-US" sz="1300" dirty="0">
                <a:solidFill>
                  <a:srgbClr val="9AA3B5"/>
                </a:solidFill>
                <a:latin typeface="Calibri" pitchFamily="34" charset="0"/>
                <a:ea typeface="Calibri" pitchFamily="34" charset="-122"/>
                <a:cs typeface="Calibri" pitchFamily="34" charset="-120"/>
              </a:rPr>
              <a:t>Signing never touches key material. Formal Seeker Seed Vault QA cases are Milestone 1 work.</a:t>
            </a:r>
            <a:endParaRPr lang="en-US" sz="1300" dirty="0"/>
          </a:p>
        </p:txBody>
      </p:sp>
      <p:sp>
        <p:nvSpPr>
          <p:cNvPr id="32" name="Shape 30"/>
          <p:cNvSpPr/>
          <p:nvPr/>
        </p:nvSpPr>
        <p:spPr>
          <a:xfrm>
            <a:off x="0" y="6656832"/>
            <a:ext cx="12161520" cy="201168"/>
          </a:xfrm>
          <a:prstGeom prst="rect">
            <a:avLst/>
          </a:prstGeom>
          <a:solidFill>
            <a:srgbClr val="0B1220"/>
          </a:solidFill>
          <a:ln/>
        </p:spPr>
      </p:sp>
      <p:sp>
        <p:nvSpPr>
          <p:cNvPr id="33" name="Shape 31"/>
          <p:cNvSpPr/>
          <p:nvPr/>
        </p:nvSpPr>
        <p:spPr>
          <a:xfrm>
            <a:off x="0" y="6656832"/>
            <a:ext cx="12161520" cy="13716"/>
          </a:xfrm>
          <a:prstGeom prst="rect">
            <a:avLst/>
          </a:prstGeom>
          <a:solidFill>
            <a:srgbClr val="243049"/>
          </a:solidFill>
          <a:ln/>
        </p:spPr>
      </p:sp>
      <p:sp>
        <p:nvSpPr>
          <p:cNvPr id="34" name="Text 32"/>
          <p:cNvSpPr/>
          <p:nvPr/>
        </p:nvSpPr>
        <p:spPr>
          <a:xfrm>
            <a:off x="411480" y="6675120"/>
            <a:ext cx="7498080" cy="164592"/>
          </a:xfrm>
          <a:prstGeom prst="rect">
            <a:avLst/>
          </a:prstGeom>
          <a:noFill/>
          <a:ln/>
        </p:spPr>
        <p:txBody>
          <a:bodyPr wrap="square" lIns="0" tIns="0" rIns="0" bIns="0" rtlCol="0" anchor="ctr"/>
          <a:lstStyle/>
          <a:p>
            <a:pPr indent="0" marL="0">
              <a:buNone/>
            </a:pPr>
            <a:r>
              <a:rPr lang="en-US" sz="900" spc="60" kern="0" dirty="0">
                <a:solidFill>
                  <a:srgbClr val="6E7789"/>
                </a:solidFill>
                <a:latin typeface="Calibri" pitchFamily="34" charset="0"/>
                <a:ea typeface="Calibri" pitchFamily="34" charset="-122"/>
                <a:cs typeface="Calibri" pitchFamily="34" charset="-120"/>
              </a:rPr>
              <a:t>DENELLE STUDIOS  ·  CONFIDENTIAL GRANT APPLICATION</a:t>
            </a:r>
            <a:endParaRPr lang="en-US" sz="900" dirty="0"/>
          </a:p>
        </p:txBody>
      </p:sp>
      <p:sp>
        <p:nvSpPr>
          <p:cNvPr id="35" name="Text 33"/>
          <p:cNvSpPr/>
          <p:nvPr/>
        </p:nvSpPr>
        <p:spPr>
          <a:xfrm>
            <a:off x="7863840" y="6675120"/>
            <a:ext cx="3886200" cy="164592"/>
          </a:xfrm>
          <a:prstGeom prst="rect">
            <a:avLst/>
          </a:prstGeom>
          <a:noFill/>
          <a:ln/>
        </p:spPr>
        <p:txBody>
          <a:bodyPr wrap="square" lIns="0" tIns="0" rIns="0" bIns="0" rtlCol="0" anchor="ctr"/>
          <a:lstStyle/>
          <a:p>
            <a:pPr algn="r" indent="0" marL="0">
              <a:buNone/>
            </a:pPr>
            <a:r>
              <a:rPr lang="en-US" sz="900" dirty="0">
                <a:solidFill>
                  <a:srgbClr val="6E7789"/>
                </a:solidFill>
                <a:latin typeface="Calibri" pitchFamily="34" charset="0"/>
                <a:ea typeface="Calibri" pitchFamily="34" charset="-122"/>
                <a:cs typeface="Calibri" pitchFamily="34" charset="-120"/>
              </a:rPr>
              <a:t>ECHOES OF ELARION  ·  5 / 14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B1220"/>
          </a:solidFill>
          <a:ln/>
        </p:spPr>
      </p:sp>
      <p:sp>
        <p:nvSpPr>
          <p:cNvPr id="3" name="Shape 1"/>
          <p:cNvSpPr/>
          <p:nvPr/>
        </p:nvSpPr>
        <p:spPr>
          <a:xfrm>
            <a:off x="457200" y="256032"/>
            <a:ext cx="164592" cy="164592"/>
          </a:xfrm>
          <a:prstGeom prst="rect">
            <a:avLst/>
          </a:prstGeom>
          <a:solidFill>
            <a:srgbClr val="C9A227"/>
          </a:solidFill>
          <a:ln/>
        </p:spPr>
      </p:sp>
      <p:sp>
        <p:nvSpPr>
          <p:cNvPr id="4" name="Text 2"/>
          <p:cNvSpPr/>
          <p:nvPr/>
        </p:nvSpPr>
        <p:spPr>
          <a:xfrm>
            <a:off x="731520" y="219456"/>
            <a:ext cx="9144000" cy="237744"/>
          </a:xfrm>
          <a:prstGeom prst="rect">
            <a:avLst/>
          </a:prstGeom>
          <a:noFill/>
          <a:ln/>
        </p:spPr>
        <p:txBody>
          <a:bodyPr wrap="square" lIns="0" tIns="0" rIns="0" bIns="0" rtlCol="0" anchor="ctr"/>
          <a:lstStyle/>
          <a:p>
            <a:pPr indent="0" marL="0">
              <a:buNone/>
            </a:pPr>
            <a:r>
              <a:rPr lang="en-US" sz="1100" b="1" spc="160" kern="0" dirty="0">
                <a:solidFill>
                  <a:srgbClr val="C9A227"/>
                </a:solidFill>
                <a:latin typeface="Calibri" pitchFamily="34" charset="0"/>
                <a:ea typeface="Calibri" pitchFamily="34" charset="-122"/>
                <a:cs typeface="Calibri" pitchFamily="34" charset="-120"/>
              </a:rPr>
              <a:t>TECHNICAL DEPTH</a:t>
            </a:r>
            <a:endParaRPr lang="en-US" sz="1100" dirty="0"/>
          </a:p>
        </p:txBody>
      </p:sp>
      <p:sp>
        <p:nvSpPr>
          <p:cNvPr id="5" name="Text 3"/>
          <p:cNvSpPr/>
          <p:nvPr/>
        </p:nvSpPr>
        <p:spPr>
          <a:xfrm>
            <a:off x="457200" y="475488"/>
            <a:ext cx="11247120" cy="502920"/>
          </a:xfrm>
          <a:prstGeom prst="rect">
            <a:avLst/>
          </a:prstGeom>
          <a:noFill/>
          <a:ln/>
        </p:spPr>
        <p:txBody>
          <a:bodyPr wrap="square" lIns="0" tIns="0" rIns="0" bIns="0" rtlCol="0" anchor="ctr"/>
          <a:lstStyle/>
          <a:p>
            <a:pPr indent="0" marL="0">
              <a:buNone/>
            </a:pPr>
            <a:r>
              <a:rPr lang="en-US" sz="2800" dirty="0">
                <a:solidFill>
                  <a:srgbClr val="F4F1E8"/>
                </a:solidFill>
                <a:latin typeface="Georgia" pitchFamily="34" charset="0"/>
                <a:ea typeface="Georgia" pitchFamily="34" charset="-122"/>
                <a:cs typeface="Georgia" pitchFamily="34" charset="-120"/>
              </a:rPr>
              <a:t>The payment rail is proven end to end.</a:t>
            </a:r>
            <a:endParaRPr lang="en-US" sz="2800" dirty="0"/>
          </a:p>
        </p:txBody>
      </p:sp>
      <p:sp>
        <p:nvSpPr>
          <p:cNvPr id="6" name="Shape 4"/>
          <p:cNvSpPr/>
          <p:nvPr/>
        </p:nvSpPr>
        <p:spPr>
          <a:xfrm>
            <a:off x="457200" y="1143000"/>
            <a:ext cx="7452360" cy="1463040"/>
          </a:xfrm>
          <a:prstGeom prst="rect">
            <a:avLst/>
          </a:prstGeom>
          <a:solidFill>
            <a:srgbClr val="151C2E"/>
          </a:solidFill>
          <a:ln w="12700">
            <a:solidFill>
              <a:srgbClr val="243049"/>
            </a:solidFill>
            <a:prstDash val="solid"/>
          </a:ln>
        </p:spPr>
      </p:sp>
      <p:sp>
        <p:nvSpPr>
          <p:cNvPr id="7" name="Text 5"/>
          <p:cNvSpPr/>
          <p:nvPr/>
        </p:nvSpPr>
        <p:spPr>
          <a:xfrm>
            <a:off x="685800" y="1307592"/>
            <a:ext cx="7040880" cy="320040"/>
          </a:xfrm>
          <a:prstGeom prst="rect">
            <a:avLst/>
          </a:prstGeom>
          <a:noFill/>
          <a:ln/>
        </p:spPr>
        <p:txBody>
          <a:bodyPr wrap="square" lIns="0" tIns="0" rIns="0" bIns="0" rtlCol="0" anchor="ctr"/>
          <a:lstStyle/>
          <a:p>
            <a:pPr indent="0" marL="0">
              <a:buNone/>
            </a:pPr>
            <a:r>
              <a:rPr lang="en-US" sz="1800" dirty="0">
                <a:solidFill>
                  <a:srgbClr val="F4F1E8"/>
                </a:solidFill>
                <a:latin typeface="Georgia" pitchFamily="34" charset="0"/>
                <a:ea typeface="Georgia" pitchFamily="34" charset="-122"/>
                <a:cs typeface="Georgia" pitchFamily="34" charset="-120"/>
              </a:rPr>
              <a:t>Purchase proven on devnet</a:t>
            </a:r>
            <a:endParaRPr lang="en-US" sz="1800" dirty="0"/>
          </a:p>
        </p:txBody>
      </p:sp>
      <p:sp>
        <p:nvSpPr>
          <p:cNvPr id="8" name="Text 6"/>
          <p:cNvSpPr/>
          <p:nvPr/>
        </p:nvSpPr>
        <p:spPr>
          <a:xfrm>
            <a:off x="685800" y="1673352"/>
            <a:ext cx="7040880" cy="777240"/>
          </a:xfrm>
          <a:prstGeom prst="rect">
            <a:avLst/>
          </a:prstGeom>
          <a:noFill/>
          <a:ln/>
        </p:spPr>
        <p:txBody>
          <a:bodyPr wrap="square" lIns="0" tIns="0" rIns="0" bIns="0" rtlCol="0" anchor="ctr"/>
          <a:lstStyle/>
          <a:p>
            <a:pPr indent="0" marL="0">
              <a:buNone/>
            </a:pPr>
            <a:r>
              <a:rPr lang="en-US" sz="1400" dirty="0">
                <a:solidFill>
                  <a:srgbClr val="9AA3B5"/>
                </a:solidFill>
                <a:latin typeface="Calibri" pitchFamily="34" charset="0"/>
                <a:ea typeface="Calibri" pitchFamily="34" charset="-122"/>
                <a:cs typeface="Calibri" pitchFamily="34" charset="-120"/>
              </a:rPr>
              <a:t>Wallet authenticated, signature backend-verified, entitlement claimed exactly once, item delivered, fulfilment acknowledged durably before the receipt.</a:t>
            </a:r>
            <a:endParaRPr lang="en-US" sz="1400" dirty="0"/>
          </a:p>
        </p:txBody>
      </p:sp>
      <p:sp>
        <p:nvSpPr>
          <p:cNvPr id="9" name="Shape 7"/>
          <p:cNvSpPr/>
          <p:nvPr/>
        </p:nvSpPr>
        <p:spPr>
          <a:xfrm>
            <a:off x="457200" y="2743200"/>
            <a:ext cx="7452360" cy="1463040"/>
          </a:xfrm>
          <a:prstGeom prst="rect">
            <a:avLst/>
          </a:prstGeom>
          <a:solidFill>
            <a:srgbClr val="151C2E"/>
          </a:solidFill>
          <a:ln w="12700">
            <a:solidFill>
              <a:srgbClr val="243049"/>
            </a:solidFill>
            <a:prstDash val="solid"/>
          </a:ln>
        </p:spPr>
      </p:sp>
      <p:sp>
        <p:nvSpPr>
          <p:cNvPr id="10" name="Text 8"/>
          <p:cNvSpPr/>
          <p:nvPr/>
        </p:nvSpPr>
        <p:spPr>
          <a:xfrm>
            <a:off x="685800" y="2907792"/>
            <a:ext cx="7040880" cy="320040"/>
          </a:xfrm>
          <a:prstGeom prst="rect">
            <a:avLst/>
          </a:prstGeom>
          <a:noFill/>
          <a:ln/>
        </p:spPr>
        <p:txBody>
          <a:bodyPr wrap="square" lIns="0" tIns="0" rIns="0" bIns="0" rtlCol="0" anchor="ctr"/>
          <a:lstStyle/>
          <a:p>
            <a:pPr indent="0" marL="0">
              <a:buNone/>
            </a:pPr>
            <a:r>
              <a:rPr lang="en-US" sz="1800" dirty="0">
                <a:solidFill>
                  <a:srgbClr val="F4F1E8"/>
                </a:solidFill>
                <a:latin typeface="Georgia" pitchFamily="34" charset="0"/>
                <a:ea typeface="Georgia" pitchFamily="34" charset="-122"/>
                <a:cs typeface="Georgia" pitchFamily="34" charset="-120"/>
              </a:rPr>
              <a:t>Exactly-once entitlement</a:t>
            </a:r>
            <a:endParaRPr lang="en-US" sz="1800" dirty="0"/>
          </a:p>
        </p:txBody>
      </p:sp>
      <p:sp>
        <p:nvSpPr>
          <p:cNvPr id="11" name="Text 9"/>
          <p:cNvSpPr/>
          <p:nvPr/>
        </p:nvSpPr>
        <p:spPr>
          <a:xfrm>
            <a:off x="685800" y="3273552"/>
            <a:ext cx="7040880" cy="777240"/>
          </a:xfrm>
          <a:prstGeom prst="rect">
            <a:avLst/>
          </a:prstGeom>
          <a:noFill/>
          <a:ln/>
        </p:spPr>
        <p:txBody>
          <a:bodyPr wrap="square" lIns="0" tIns="0" rIns="0" bIns="0" rtlCol="0" anchor="ctr"/>
          <a:lstStyle/>
          <a:p>
            <a:pPr indent="0" marL="0">
              <a:buNone/>
            </a:pPr>
            <a:r>
              <a:rPr lang="en-US" sz="1400" dirty="0">
                <a:solidFill>
                  <a:srgbClr val="9AA3B5"/>
                </a:solidFill>
                <a:latin typeface="Calibri" pitchFamily="34" charset="0"/>
                <a:ea typeface="Calibri" pitchFamily="34" charset="-122"/>
                <a:cs typeface="Calibri" pitchFamily="34" charset="-120"/>
              </a:rPr>
              <a:t>The claim happens before the grant, so a paid-but-not-granted case is loud rather than silent. Backend suite passes 13 of 13.</a:t>
            </a:r>
            <a:endParaRPr lang="en-US" sz="1400" dirty="0"/>
          </a:p>
        </p:txBody>
      </p:sp>
      <p:sp>
        <p:nvSpPr>
          <p:cNvPr id="12" name="Shape 10"/>
          <p:cNvSpPr/>
          <p:nvPr/>
        </p:nvSpPr>
        <p:spPr>
          <a:xfrm>
            <a:off x="457200" y="4343400"/>
            <a:ext cx="7452360" cy="1463040"/>
          </a:xfrm>
          <a:prstGeom prst="rect">
            <a:avLst/>
          </a:prstGeom>
          <a:solidFill>
            <a:srgbClr val="151C2E"/>
          </a:solidFill>
          <a:ln w="12700">
            <a:solidFill>
              <a:srgbClr val="243049"/>
            </a:solidFill>
            <a:prstDash val="solid"/>
          </a:ln>
        </p:spPr>
      </p:sp>
      <p:sp>
        <p:nvSpPr>
          <p:cNvPr id="13" name="Text 11"/>
          <p:cNvSpPr/>
          <p:nvPr/>
        </p:nvSpPr>
        <p:spPr>
          <a:xfrm>
            <a:off x="685800" y="4507992"/>
            <a:ext cx="7040880" cy="320040"/>
          </a:xfrm>
          <a:prstGeom prst="rect">
            <a:avLst/>
          </a:prstGeom>
          <a:noFill/>
          <a:ln/>
        </p:spPr>
        <p:txBody>
          <a:bodyPr wrap="square" lIns="0" tIns="0" rIns="0" bIns="0" rtlCol="0" anchor="ctr"/>
          <a:lstStyle/>
          <a:p>
            <a:pPr indent="0" marL="0">
              <a:buNone/>
            </a:pPr>
            <a:r>
              <a:rPr lang="en-US" sz="1800" dirty="0">
                <a:solidFill>
                  <a:srgbClr val="F4F1E8"/>
                </a:solidFill>
                <a:latin typeface="Georgia" pitchFamily="34" charset="0"/>
                <a:ea typeface="Georgia" pitchFamily="34" charset="-122"/>
                <a:cs typeface="Georgia" pitchFamily="34" charset="-120"/>
              </a:rPr>
              <a:t>The world stops mid-transaction</a:t>
            </a:r>
            <a:endParaRPr lang="en-US" sz="1800" dirty="0"/>
          </a:p>
        </p:txBody>
      </p:sp>
      <p:sp>
        <p:nvSpPr>
          <p:cNvPr id="14" name="Text 12"/>
          <p:cNvSpPr/>
          <p:nvPr/>
        </p:nvSpPr>
        <p:spPr>
          <a:xfrm>
            <a:off x="685800" y="4873752"/>
            <a:ext cx="7040880" cy="777240"/>
          </a:xfrm>
          <a:prstGeom prst="rect">
            <a:avLst/>
          </a:prstGeom>
          <a:noFill/>
          <a:ln/>
        </p:spPr>
        <p:txBody>
          <a:bodyPr wrap="square" lIns="0" tIns="0" rIns="0" bIns="0" rtlCol="0" anchor="ctr"/>
          <a:lstStyle/>
          <a:p>
            <a:pPr indent="0" marL="0">
              <a:buNone/>
            </a:pPr>
            <a:r>
              <a:rPr lang="en-US" sz="1400" dirty="0">
                <a:solidFill>
                  <a:srgbClr val="9AA3B5"/>
                </a:solidFill>
                <a:latin typeface="Calibri" pitchFamily="34" charset="0"/>
                <a:ea typeface="Calibri" pitchFamily="34" charset="-122"/>
                <a:cs typeface="Calibri" pitchFamily="34" charset="-120"/>
              </a:rPr>
              <a:t>A single writer owns time control for the duration of a purchase, released on every exit path including exceptions.</a:t>
            </a:r>
            <a:endParaRPr lang="en-US" sz="1400" dirty="0"/>
          </a:p>
        </p:txBody>
      </p:sp>
      <p:sp>
        <p:nvSpPr>
          <p:cNvPr id="15" name="Shape 13"/>
          <p:cNvSpPr/>
          <p:nvPr/>
        </p:nvSpPr>
        <p:spPr>
          <a:xfrm>
            <a:off x="8092440" y="1143000"/>
            <a:ext cx="3611880" cy="4800600"/>
          </a:xfrm>
          <a:prstGeom prst="rect">
            <a:avLst/>
          </a:prstGeom>
          <a:solidFill>
            <a:srgbClr val="151C2E"/>
          </a:solidFill>
          <a:ln w="15875">
            <a:solidFill>
              <a:srgbClr val="C9A227"/>
            </a:solidFill>
            <a:prstDash val="solid"/>
          </a:ln>
        </p:spPr>
      </p:sp>
      <p:sp>
        <p:nvSpPr>
          <p:cNvPr id="16" name="Text 14"/>
          <p:cNvSpPr/>
          <p:nvPr/>
        </p:nvSpPr>
        <p:spPr>
          <a:xfrm>
            <a:off x="8321040" y="1371600"/>
            <a:ext cx="3200400" cy="256032"/>
          </a:xfrm>
          <a:prstGeom prst="rect">
            <a:avLst/>
          </a:prstGeom>
          <a:noFill/>
          <a:ln/>
        </p:spPr>
        <p:txBody>
          <a:bodyPr wrap="square" lIns="0" tIns="0" rIns="0" bIns="0" rtlCol="0" anchor="ctr"/>
          <a:lstStyle/>
          <a:p>
            <a:pPr indent="0" marL="0">
              <a:buNone/>
            </a:pPr>
            <a:r>
              <a:rPr lang="en-US" sz="1100" b="1" spc="140" kern="0" dirty="0">
                <a:solidFill>
                  <a:srgbClr val="C9A227"/>
                </a:solidFill>
                <a:latin typeface="Calibri" pitchFamily="34" charset="0"/>
                <a:ea typeface="Calibri" pitchFamily="34" charset="-122"/>
                <a:cs typeface="Calibri" pitchFamily="34" charset="-120"/>
              </a:rPr>
              <a:t>STATED PLAINLY</a:t>
            </a:r>
            <a:endParaRPr lang="en-US" sz="1100" dirty="0"/>
          </a:p>
        </p:txBody>
      </p:sp>
      <p:sp>
        <p:nvSpPr>
          <p:cNvPr id="17" name="Text 15"/>
          <p:cNvSpPr/>
          <p:nvPr/>
        </p:nvSpPr>
        <p:spPr>
          <a:xfrm>
            <a:off x="8321040" y="1828800"/>
            <a:ext cx="3200400" cy="1097280"/>
          </a:xfrm>
          <a:prstGeom prst="rect">
            <a:avLst/>
          </a:prstGeom>
          <a:noFill/>
          <a:ln/>
        </p:spPr>
        <p:txBody>
          <a:bodyPr wrap="square" lIns="0" tIns="0" rIns="0" bIns="0" rtlCol="0" anchor="ctr"/>
          <a:lstStyle/>
          <a:p>
            <a:pPr indent="0" marL="0">
              <a:buNone/>
            </a:pPr>
            <a:r>
              <a:rPr lang="en-US" sz="2000" dirty="0">
                <a:solidFill>
                  <a:srgbClr val="F4F1E8"/>
                </a:solidFill>
                <a:latin typeface="Georgia" pitchFamily="34" charset="0"/>
                <a:ea typeface="Georgia" pitchFamily="34" charset="-122"/>
                <a:cs typeface="Georgia" pitchFamily="34" charset="-120"/>
              </a:rPr>
              <a:t>The rails are real.</a:t>
            </a:r>
            <a:endParaRPr lang="en-US" sz="2000" dirty="0"/>
          </a:p>
          <a:p>
            <a:pPr indent="0" marL="0">
              <a:buNone/>
            </a:pPr>
            <a:r>
              <a:rPr lang="en-US" sz="2000" dirty="0">
                <a:solidFill>
                  <a:srgbClr val="F4F1E8"/>
                </a:solidFill>
                <a:latin typeface="Georgia" pitchFamily="34" charset="0"/>
                <a:ea typeface="Georgia" pitchFamily="34" charset="-122"/>
                <a:cs typeface="Georgia" pitchFamily="34" charset="-120"/>
              </a:rPr>
              <a:t>The revenue is not yet.</a:t>
            </a:r>
            <a:endParaRPr lang="en-US" sz="2000" dirty="0"/>
          </a:p>
        </p:txBody>
      </p:sp>
      <p:sp>
        <p:nvSpPr>
          <p:cNvPr id="18" name="Text 16"/>
          <p:cNvSpPr/>
          <p:nvPr/>
        </p:nvSpPr>
        <p:spPr>
          <a:xfrm>
            <a:off x="8321040" y="3108960"/>
            <a:ext cx="3200400" cy="1371600"/>
          </a:xfrm>
          <a:prstGeom prst="rect">
            <a:avLst/>
          </a:prstGeom>
          <a:noFill/>
          <a:ln/>
        </p:spPr>
        <p:txBody>
          <a:bodyPr wrap="square" lIns="0" tIns="0" rIns="0" bIns="0" rtlCol="0" anchor="ctr"/>
          <a:lstStyle/>
          <a:p>
            <a:pPr indent="0" marL="0">
              <a:buNone/>
            </a:pPr>
            <a:r>
              <a:rPr lang="en-US" sz="1400" dirty="0">
                <a:solidFill>
                  <a:srgbClr val="9AA3B5"/>
                </a:solidFill>
                <a:latin typeface="Calibri" pitchFamily="34" charset="0"/>
                <a:ea typeface="Calibri" pitchFamily="34" charset="-122"/>
                <a:cs typeface="Calibri" pitchFamily="34" charset="-120"/>
              </a:rPr>
              <a:t>Purchases and ads both work. Every unit of revenue so far is our own testing — nobody outside the household has paid this game anything.</a:t>
            </a:r>
            <a:endParaRPr lang="en-US" sz="1400" dirty="0"/>
          </a:p>
        </p:txBody>
      </p:sp>
      <p:sp>
        <p:nvSpPr>
          <p:cNvPr id="19" name="Text 17"/>
          <p:cNvSpPr/>
          <p:nvPr/>
        </p:nvSpPr>
        <p:spPr>
          <a:xfrm>
            <a:off x="8321040" y="4617720"/>
            <a:ext cx="3200400" cy="1097280"/>
          </a:xfrm>
          <a:prstGeom prst="rect">
            <a:avLst/>
          </a:prstGeom>
          <a:noFill/>
          <a:ln/>
        </p:spPr>
        <p:txBody>
          <a:bodyPr wrap="square" lIns="0" tIns="0" rIns="0" bIns="0" rtlCol="0" anchor="ctr"/>
          <a:lstStyle/>
          <a:p>
            <a:pPr indent="0" marL="0">
              <a:buNone/>
            </a:pPr>
            <a:r>
              <a:rPr lang="en-US" sz="1400" dirty="0">
                <a:solidFill>
                  <a:srgbClr val="9AA3B5"/>
                </a:solidFill>
                <a:latin typeface="Calibri" pitchFamily="34" charset="0"/>
                <a:ea typeface="Calibri" pitchFamily="34" charset="-122"/>
                <a:cs typeface="Calibri" pitchFamily="34" charset="-120"/>
              </a:rPr>
              <a:t>The infrastructure is ready to earn. That is different from earning. We would rather say so than round it up.</a:t>
            </a:r>
            <a:endParaRPr lang="en-US" sz="1400" dirty="0"/>
          </a:p>
        </p:txBody>
      </p:sp>
      <p:sp>
        <p:nvSpPr>
          <p:cNvPr id="20" name="Shape 18"/>
          <p:cNvSpPr/>
          <p:nvPr/>
        </p:nvSpPr>
        <p:spPr>
          <a:xfrm>
            <a:off x="0" y="6656832"/>
            <a:ext cx="12161520" cy="201168"/>
          </a:xfrm>
          <a:prstGeom prst="rect">
            <a:avLst/>
          </a:prstGeom>
          <a:solidFill>
            <a:srgbClr val="0B1220"/>
          </a:solidFill>
          <a:ln/>
        </p:spPr>
      </p:sp>
      <p:sp>
        <p:nvSpPr>
          <p:cNvPr id="21" name="Shape 19"/>
          <p:cNvSpPr/>
          <p:nvPr/>
        </p:nvSpPr>
        <p:spPr>
          <a:xfrm>
            <a:off x="0" y="6656832"/>
            <a:ext cx="12161520" cy="13716"/>
          </a:xfrm>
          <a:prstGeom prst="rect">
            <a:avLst/>
          </a:prstGeom>
          <a:solidFill>
            <a:srgbClr val="243049"/>
          </a:solidFill>
          <a:ln/>
        </p:spPr>
      </p:sp>
      <p:sp>
        <p:nvSpPr>
          <p:cNvPr id="22" name="Text 20"/>
          <p:cNvSpPr/>
          <p:nvPr/>
        </p:nvSpPr>
        <p:spPr>
          <a:xfrm>
            <a:off x="411480" y="6675120"/>
            <a:ext cx="7498080" cy="164592"/>
          </a:xfrm>
          <a:prstGeom prst="rect">
            <a:avLst/>
          </a:prstGeom>
          <a:noFill/>
          <a:ln/>
        </p:spPr>
        <p:txBody>
          <a:bodyPr wrap="square" lIns="0" tIns="0" rIns="0" bIns="0" rtlCol="0" anchor="ctr"/>
          <a:lstStyle/>
          <a:p>
            <a:pPr indent="0" marL="0">
              <a:buNone/>
            </a:pPr>
            <a:r>
              <a:rPr lang="en-US" sz="900" spc="60" kern="0" dirty="0">
                <a:solidFill>
                  <a:srgbClr val="6E7789"/>
                </a:solidFill>
                <a:latin typeface="Calibri" pitchFamily="34" charset="0"/>
                <a:ea typeface="Calibri" pitchFamily="34" charset="-122"/>
                <a:cs typeface="Calibri" pitchFamily="34" charset="-120"/>
              </a:rPr>
              <a:t>DENELLE STUDIOS  ·  CONFIDENTIAL GRANT APPLICATION</a:t>
            </a:r>
            <a:endParaRPr lang="en-US" sz="900" dirty="0"/>
          </a:p>
        </p:txBody>
      </p:sp>
      <p:sp>
        <p:nvSpPr>
          <p:cNvPr id="23" name="Text 21"/>
          <p:cNvSpPr/>
          <p:nvPr/>
        </p:nvSpPr>
        <p:spPr>
          <a:xfrm>
            <a:off x="7863840" y="6675120"/>
            <a:ext cx="3886200" cy="164592"/>
          </a:xfrm>
          <a:prstGeom prst="rect">
            <a:avLst/>
          </a:prstGeom>
          <a:noFill/>
          <a:ln/>
        </p:spPr>
        <p:txBody>
          <a:bodyPr wrap="square" lIns="0" tIns="0" rIns="0" bIns="0" rtlCol="0" anchor="ctr"/>
          <a:lstStyle/>
          <a:p>
            <a:pPr algn="r" indent="0" marL="0">
              <a:buNone/>
            </a:pPr>
            <a:r>
              <a:rPr lang="en-US" sz="900" dirty="0">
                <a:solidFill>
                  <a:srgbClr val="6E7789"/>
                </a:solidFill>
                <a:latin typeface="Calibri" pitchFamily="34" charset="0"/>
                <a:ea typeface="Calibri" pitchFamily="34" charset="-122"/>
                <a:cs typeface="Calibri" pitchFamily="34" charset="-120"/>
              </a:rPr>
              <a:t>ECHOES OF ELARION  ·  6 / 14</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B1220"/>
          </a:solidFill>
          <a:ln/>
        </p:spPr>
      </p:sp>
      <p:sp>
        <p:nvSpPr>
          <p:cNvPr id="3" name="Shape 1"/>
          <p:cNvSpPr/>
          <p:nvPr/>
        </p:nvSpPr>
        <p:spPr>
          <a:xfrm>
            <a:off x="457200" y="256032"/>
            <a:ext cx="164592" cy="164592"/>
          </a:xfrm>
          <a:prstGeom prst="rect">
            <a:avLst/>
          </a:prstGeom>
          <a:solidFill>
            <a:srgbClr val="C9A227"/>
          </a:solidFill>
          <a:ln/>
        </p:spPr>
      </p:sp>
      <p:sp>
        <p:nvSpPr>
          <p:cNvPr id="4" name="Text 2"/>
          <p:cNvSpPr/>
          <p:nvPr/>
        </p:nvSpPr>
        <p:spPr>
          <a:xfrm>
            <a:off x="731520" y="219456"/>
            <a:ext cx="9144000" cy="237744"/>
          </a:xfrm>
          <a:prstGeom prst="rect">
            <a:avLst/>
          </a:prstGeom>
          <a:noFill/>
          <a:ln/>
        </p:spPr>
        <p:txBody>
          <a:bodyPr wrap="square" lIns="0" tIns="0" rIns="0" bIns="0" rtlCol="0" anchor="ctr"/>
          <a:lstStyle/>
          <a:p>
            <a:pPr indent="0" marL="0">
              <a:buNone/>
            </a:pPr>
            <a:r>
              <a:rPr lang="en-US" sz="1100" b="1" spc="160" kern="0" dirty="0">
                <a:solidFill>
                  <a:srgbClr val="C9A227"/>
                </a:solidFill>
                <a:latin typeface="Calibri" pitchFamily="34" charset="0"/>
                <a:ea typeface="Calibri" pitchFamily="34" charset="-122"/>
                <a:cs typeface="Calibri" pitchFamily="34" charset="-120"/>
              </a:rPr>
              <a:t>SKR UTILITY</a:t>
            </a:r>
            <a:endParaRPr lang="en-US" sz="1100" dirty="0"/>
          </a:p>
        </p:txBody>
      </p:sp>
      <p:sp>
        <p:nvSpPr>
          <p:cNvPr id="5" name="Text 3"/>
          <p:cNvSpPr/>
          <p:nvPr/>
        </p:nvSpPr>
        <p:spPr>
          <a:xfrm>
            <a:off x="457200" y="475488"/>
            <a:ext cx="11247120" cy="502920"/>
          </a:xfrm>
          <a:prstGeom prst="rect">
            <a:avLst/>
          </a:prstGeom>
          <a:noFill/>
          <a:ln/>
        </p:spPr>
        <p:txBody>
          <a:bodyPr wrap="square" lIns="0" tIns="0" rIns="0" bIns="0" rtlCol="0" anchor="ctr"/>
          <a:lstStyle/>
          <a:p>
            <a:pPr indent="0" marL="0">
              <a:buNone/>
            </a:pPr>
            <a:r>
              <a:rPr lang="en-US" sz="2800" dirty="0">
                <a:solidFill>
                  <a:srgbClr val="F4F1E8"/>
                </a:solidFill>
                <a:latin typeface="Georgia" pitchFamily="34" charset="0"/>
                <a:ea typeface="Georgia" pitchFamily="34" charset="-122"/>
                <a:cs typeface="Georgia" pitchFamily="34" charset="-120"/>
              </a:rPr>
              <a:t>SKR perks are already built.</a:t>
            </a:r>
            <a:endParaRPr lang="en-US" sz="2800" dirty="0"/>
          </a:p>
        </p:txBody>
      </p:sp>
      <p:sp>
        <p:nvSpPr>
          <p:cNvPr id="6" name="Text 4"/>
          <p:cNvSpPr/>
          <p:nvPr/>
        </p:nvSpPr>
        <p:spPr>
          <a:xfrm>
            <a:off x="457200" y="1051560"/>
            <a:ext cx="11247120" cy="548640"/>
          </a:xfrm>
          <a:prstGeom prst="rect">
            <a:avLst/>
          </a:prstGeom>
          <a:noFill/>
          <a:ln/>
        </p:spPr>
        <p:txBody>
          <a:bodyPr wrap="square" lIns="0" tIns="0" rIns="0" bIns="0" rtlCol="0" anchor="ctr"/>
          <a:lstStyle/>
          <a:p>
            <a:pPr indent="0" marL="0">
              <a:buNone/>
            </a:pPr>
            <a:r>
              <a:rPr lang="en-US" sz="1500" dirty="0">
                <a:solidFill>
                  <a:srgbClr val="9AA3B5"/>
                </a:solidFill>
                <a:latin typeface="Calibri" pitchFamily="34" charset="0"/>
                <a:ea typeface="Calibri" pitchFamily="34" charset="-122"/>
                <a:cs typeface="Calibri" pitchFamily="34" charset="-120"/>
              </a:rPr>
              <a:t>Non-custodial by design. Players stake SKR natively through their own Seeker wallet. The game only reads the active stake and says thank you. It never mints, never custodies, and never holds a withdrawable balance.</a:t>
            </a:r>
            <a:endParaRPr lang="en-US" sz="1500" dirty="0"/>
          </a:p>
        </p:txBody>
      </p:sp>
      <p:sp>
        <p:nvSpPr>
          <p:cNvPr id="7" name="Shape 5"/>
          <p:cNvSpPr/>
          <p:nvPr/>
        </p:nvSpPr>
        <p:spPr>
          <a:xfrm>
            <a:off x="457200" y="1783080"/>
            <a:ext cx="2788920" cy="1965960"/>
          </a:xfrm>
          <a:prstGeom prst="rect">
            <a:avLst/>
          </a:prstGeom>
          <a:solidFill>
            <a:srgbClr val="151C2E"/>
          </a:solidFill>
          <a:ln w="12700">
            <a:solidFill>
              <a:srgbClr val="243049"/>
            </a:solidFill>
            <a:prstDash val="solid"/>
          </a:ln>
        </p:spPr>
      </p:sp>
      <p:sp>
        <p:nvSpPr>
          <p:cNvPr id="8" name="Text 6"/>
          <p:cNvSpPr/>
          <p:nvPr/>
        </p:nvSpPr>
        <p:spPr>
          <a:xfrm>
            <a:off x="594360" y="1965960"/>
            <a:ext cx="2514600" cy="274320"/>
          </a:xfrm>
          <a:prstGeom prst="rect">
            <a:avLst/>
          </a:prstGeom>
          <a:noFill/>
          <a:ln/>
        </p:spPr>
        <p:txBody>
          <a:bodyPr wrap="square" lIns="0" tIns="0" rIns="0" bIns="0" rtlCol="0" anchor="ctr"/>
          <a:lstStyle/>
          <a:p>
            <a:pPr algn="ctr" indent="0" marL="0">
              <a:buNone/>
            </a:pPr>
            <a:r>
              <a:rPr lang="en-US" sz="1200" b="1" spc="120" kern="0" dirty="0">
                <a:solidFill>
                  <a:srgbClr val="C9A227"/>
                </a:solidFill>
                <a:latin typeface="Calibri" pitchFamily="34" charset="0"/>
                <a:ea typeface="Calibri" pitchFamily="34" charset="-122"/>
                <a:cs typeface="Calibri" pitchFamily="34" charset="-120"/>
              </a:rPr>
              <a:t>SEEKER</a:t>
            </a:r>
            <a:endParaRPr lang="en-US" sz="1200" dirty="0"/>
          </a:p>
        </p:txBody>
      </p:sp>
      <p:sp>
        <p:nvSpPr>
          <p:cNvPr id="9" name="Text 7"/>
          <p:cNvSpPr/>
          <p:nvPr/>
        </p:nvSpPr>
        <p:spPr>
          <a:xfrm>
            <a:off x="594360" y="2286000"/>
            <a:ext cx="2514600" cy="502920"/>
          </a:xfrm>
          <a:prstGeom prst="rect">
            <a:avLst/>
          </a:prstGeom>
          <a:noFill/>
          <a:ln/>
        </p:spPr>
        <p:txBody>
          <a:bodyPr wrap="square" lIns="0" tIns="0" rIns="0" bIns="0" rtlCol="0" anchor="ctr"/>
          <a:lstStyle/>
          <a:p>
            <a:pPr algn="ctr" indent="0" marL="0">
              <a:buNone/>
            </a:pPr>
            <a:r>
              <a:rPr lang="en-US" sz="2600" dirty="0">
                <a:solidFill>
                  <a:srgbClr val="F4F1E8"/>
                </a:solidFill>
                <a:latin typeface="Georgia" pitchFamily="34" charset="0"/>
                <a:ea typeface="Georgia" pitchFamily="34" charset="-122"/>
                <a:cs typeface="Georgia" pitchFamily="34" charset="-120"/>
              </a:rPr>
              <a:t>1 SKR</a:t>
            </a:r>
            <a:endParaRPr lang="en-US" sz="2600" dirty="0"/>
          </a:p>
        </p:txBody>
      </p:sp>
      <p:sp>
        <p:nvSpPr>
          <p:cNvPr id="10" name="Text 8"/>
          <p:cNvSpPr/>
          <p:nvPr/>
        </p:nvSpPr>
        <p:spPr>
          <a:xfrm>
            <a:off x="594360" y="2880360"/>
            <a:ext cx="2514600" cy="502920"/>
          </a:xfrm>
          <a:prstGeom prst="rect">
            <a:avLst/>
          </a:prstGeom>
          <a:noFill/>
          <a:ln/>
        </p:spPr>
        <p:txBody>
          <a:bodyPr wrap="square" lIns="0" tIns="0" rIns="0" bIns="0" rtlCol="0" anchor="ctr"/>
          <a:lstStyle/>
          <a:p>
            <a:pPr algn="ctr" indent="0" marL="0">
              <a:buNone/>
            </a:pPr>
            <a:r>
              <a:rPr lang="en-US" sz="1400" dirty="0">
                <a:solidFill>
                  <a:srgbClr val="9AA3B5"/>
                </a:solidFill>
                <a:latin typeface="Calibri" pitchFamily="34" charset="0"/>
                <a:ea typeface="Calibri" pitchFamily="34" charset="-122"/>
                <a:cs typeface="Calibri" pitchFamily="34" charset="-120"/>
              </a:rPr>
              <a:t>Badge</a:t>
            </a:r>
            <a:endParaRPr lang="en-US" sz="1400" dirty="0"/>
          </a:p>
        </p:txBody>
      </p:sp>
      <p:sp>
        <p:nvSpPr>
          <p:cNvPr id="11" name="Shape 9"/>
          <p:cNvSpPr/>
          <p:nvPr/>
        </p:nvSpPr>
        <p:spPr>
          <a:xfrm>
            <a:off x="3383280" y="1783080"/>
            <a:ext cx="2788920" cy="1965960"/>
          </a:xfrm>
          <a:prstGeom prst="rect">
            <a:avLst/>
          </a:prstGeom>
          <a:solidFill>
            <a:srgbClr val="151C2E"/>
          </a:solidFill>
          <a:ln w="12700">
            <a:solidFill>
              <a:srgbClr val="243049"/>
            </a:solidFill>
            <a:prstDash val="solid"/>
          </a:ln>
        </p:spPr>
      </p:sp>
      <p:sp>
        <p:nvSpPr>
          <p:cNvPr id="12" name="Text 10"/>
          <p:cNvSpPr/>
          <p:nvPr/>
        </p:nvSpPr>
        <p:spPr>
          <a:xfrm>
            <a:off x="3520440" y="1965960"/>
            <a:ext cx="2514600" cy="274320"/>
          </a:xfrm>
          <a:prstGeom prst="rect">
            <a:avLst/>
          </a:prstGeom>
          <a:noFill/>
          <a:ln/>
        </p:spPr>
        <p:txBody>
          <a:bodyPr wrap="square" lIns="0" tIns="0" rIns="0" bIns="0" rtlCol="0" anchor="ctr"/>
          <a:lstStyle/>
          <a:p>
            <a:pPr algn="ctr" indent="0" marL="0">
              <a:buNone/>
            </a:pPr>
            <a:r>
              <a:rPr lang="en-US" sz="1200" b="1" spc="120" kern="0" dirty="0">
                <a:solidFill>
                  <a:srgbClr val="C9A227"/>
                </a:solidFill>
                <a:latin typeface="Calibri" pitchFamily="34" charset="0"/>
                <a:ea typeface="Calibri" pitchFamily="34" charset="-122"/>
                <a:cs typeface="Calibri" pitchFamily="34" charset="-120"/>
              </a:rPr>
              <a:t>VANGUARD</a:t>
            </a:r>
            <a:endParaRPr lang="en-US" sz="1200" dirty="0"/>
          </a:p>
        </p:txBody>
      </p:sp>
      <p:sp>
        <p:nvSpPr>
          <p:cNvPr id="13" name="Text 11"/>
          <p:cNvSpPr/>
          <p:nvPr/>
        </p:nvSpPr>
        <p:spPr>
          <a:xfrm>
            <a:off x="3520440" y="2286000"/>
            <a:ext cx="2514600" cy="502920"/>
          </a:xfrm>
          <a:prstGeom prst="rect">
            <a:avLst/>
          </a:prstGeom>
          <a:noFill/>
          <a:ln/>
        </p:spPr>
        <p:txBody>
          <a:bodyPr wrap="square" lIns="0" tIns="0" rIns="0" bIns="0" rtlCol="0" anchor="ctr"/>
          <a:lstStyle/>
          <a:p>
            <a:pPr algn="ctr" indent="0" marL="0">
              <a:buNone/>
            </a:pPr>
            <a:r>
              <a:rPr lang="en-US" sz="2600" dirty="0">
                <a:solidFill>
                  <a:srgbClr val="F4F1E8"/>
                </a:solidFill>
                <a:latin typeface="Georgia" pitchFamily="34" charset="0"/>
                <a:ea typeface="Georgia" pitchFamily="34" charset="-122"/>
                <a:cs typeface="Georgia" pitchFamily="34" charset="-120"/>
              </a:rPr>
              <a:t>1,000</a:t>
            </a:r>
            <a:endParaRPr lang="en-US" sz="2600" dirty="0"/>
          </a:p>
        </p:txBody>
      </p:sp>
      <p:sp>
        <p:nvSpPr>
          <p:cNvPr id="14" name="Text 12"/>
          <p:cNvSpPr/>
          <p:nvPr/>
        </p:nvSpPr>
        <p:spPr>
          <a:xfrm>
            <a:off x="3520440" y="2880360"/>
            <a:ext cx="2514600" cy="502920"/>
          </a:xfrm>
          <a:prstGeom prst="rect">
            <a:avLst/>
          </a:prstGeom>
          <a:noFill/>
          <a:ln/>
        </p:spPr>
        <p:txBody>
          <a:bodyPr wrap="square" lIns="0" tIns="0" rIns="0" bIns="0" rtlCol="0" anchor="ctr"/>
          <a:lstStyle/>
          <a:p>
            <a:pPr algn="ctr" indent="0" marL="0">
              <a:buNone/>
            </a:pPr>
            <a:r>
              <a:rPr lang="en-US" sz="1400" dirty="0">
                <a:solidFill>
                  <a:srgbClr val="9AA3B5"/>
                </a:solidFill>
                <a:latin typeface="Calibri" pitchFamily="34" charset="0"/>
                <a:ea typeface="Calibri" pitchFamily="34" charset="-122"/>
                <a:cs typeface="Calibri" pitchFamily="34" charset="-120"/>
              </a:rPr>
              <a:t>Title + trickle</a:t>
            </a:r>
            <a:endParaRPr lang="en-US" sz="1400" dirty="0"/>
          </a:p>
        </p:txBody>
      </p:sp>
      <p:sp>
        <p:nvSpPr>
          <p:cNvPr id="15" name="Shape 13"/>
          <p:cNvSpPr/>
          <p:nvPr/>
        </p:nvSpPr>
        <p:spPr>
          <a:xfrm>
            <a:off x="6309360" y="1783080"/>
            <a:ext cx="2788920" cy="1965960"/>
          </a:xfrm>
          <a:prstGeom prst="rect">
            <a:avLst/>
          </a:prstGeom>
          <a:solidFill>
            <a:srgbClr val="151C2E"/>
          </a:solidFill>
          <a:ln w="12700">
            <a:solidFill>
              <a:srgbClr val="243049"/>
            </a:solidFill>
            <a:prstDash val="solid"/>
          </a:ln>
        </p:spPr>
      </p:sp>
      <p:sp>
        <p:nvSpPr>
          <p:cNvPr id="16" name="Text 14"/>
          <p:cNvSpPr/>
          <p:nvPr/>
        </p:nvSpPr>
        <p:spPr>
          <a:xfrm>
            <a:off x="6446520" y="1965960"/>
            <a:ext cx="2514600" cy="274320"/>
          </a:xfrm>
          <a:prstGeom prst="rect">
            <a:avLst/>
          </a:prstGeom>
          <a:noFill/>
          <a:ln/>
        </p:spPr>
        <p:txBody>
          <a:bodyPr wrap="square" lIns="0" tIns="0" rIns="0" bIns="0" rtlCol="0" anchor="ctr"/>
          <a:lstStyle/>
          <a:p>
            <a:pPr algn="ctr" indent="0" marL="0">
              <a:buNone/>
            </a:pPr>
            <a:r>
              <a:rPr lang="en-US" sz="1200" b="1" spc="120" kern="0" dirty="0">
                <a:solidFill>
                  <a:srgbClr val="C9A227"/>
                </a:solidFill>
                <a:latin typeface="Calibri" pitchFamily="34" charset="0"/>
                <a:ea typeface="Calibri" pitchFamily="34" charset="-122"/>
                <a:cs typeface="Calibri" pitchFamily="34" charset="-120"/>
              </a:rPr>
              <a:t>WARDEN</a:t>
            </a:r>
            <a:endParaRPr lang="en-US" sz="1200" dirty="0"/>
          </a:p>
        </p:txBody>
      </p:sp>
      <p:sp>
        <p:nvSpPr>
          <p:cNvPr id="17" name="Text 15"/>
          <p:cNvSpPr/>
          <p:nvPr/>
        </p:nvSpPr>
        <p:spPr>
          <a:xfrm>
            <a:off x="6446520" y="2286000"/>
            <a:ext cx="2514600" cy="502920"/>
          </a:xfrm>
          <a:prstGeom prst="rect">
            <a:avLst/>
          </a:prstGeom>
          <a:noFill/>
          <a:ln/>
        </p:spPr>
        <p:txBody>
          <a:bodyPr wrap="square" lIns="0" tIns="0" rIns="0" bIns="0" rtlCol="0" anchor="ctr"/>
          <a:lstStyle/>
          <a:p>
            <a:pPr algn="ctr" indent="0" marL="0">
              <a:buNone/>
            </a:pPr>
            <a:r>
              <a:rPr lang="en-US" sz="2600" dirty="0">
                <a:solidFill>
                  <a:srgbClr val="F4F1E8"/>
                </a:solidFill>
                <a:latin typeface="Georgia" pitchFamily="34" charset="0"/>
                <a:ea typeface="Georgia" pitchFamily="34" charset="-122"/>
                <a:cs typeface="Georgia" pitchFamily="34" charset="-120"/>
              </a:rPr>
              <a:t>25,000</a:t>
            </a:r>
            <a:endParaRPr lang="en-US" sz="2600" dirty="0"/>
          </a:p>
        </p:txBody>
      </p:sp>
      <p:sp>
        <p:nvSpPr>
          <p:cNvPr id="18" name="Text 16"/>
          <p:cNvSpPr/>
          <p:nvPr/>
        </p:nvSpPr>
        <p:spPr>
          <a:xfrm>
            <a:off x="6446520" y="2880360"/>
            <a:ext cx="2514600" cy="502920"/>
          </a:xfrm>
          <a:prstGeom prst="rect">
            <a:avLst/>
          </a:prstGeom>
          <a:noFill/>
          <a:ln/>
        </p:spPr>
        <p:txBody>
          <a:bodyPr wrap="square" lIns="0" tIns="0" rIns="0" bIns="0" rtlCol="0" anchor="ctr"/>
          <a:lstStyle/>
          <a:p>
            <a:pPr algn="ctr" indent="0" marL="0">
              <a:buNone/>
            </a:pPr>
            <a:r>
              <a:rPr lang="en-US" sz="1400" dirty="0">
                <a:solidFill>
                  <a:srgbClr val="9AA3B5"/>
                </a:solidFill>
                <a:latin typeface="Calibri" pitchFamily="34" charset="0"/>
                <a:ea typeface="Calibri" pitchFamily="34" charset="-122"/>
                <a:cs typeface="Calibri" pitchFamily="34" charset="-120"/>
              </a:rPr>
              <a:t>Cosmetic</a:t>
            </a:r>
            <a:endParaRPr lang="en-US" sz="1400" dirty="0"/>
          </a:p>
        </p:txBody>
      </p:sp>
      <p:sp>
        <p:nvSpPr>
          <p:cNvPr id="19" name="Shape 17"/>
          <p:cNvSpPr/>
          <p:nvPr/>
        </p:nvSpPr>
        <p:spPr>
          <a:xfrm>
            <a:off x="9235440" y="1783080"/>
            <a:ext cx="2788920" cy="1965960"/>
          </a:xfrm>
          <a:prstGeom prst="rect">
            <a:avLst/>
          </a:prstGeom>
          <a:solidFill>
            <a:srgbClr val="151C2E"/>
          </a:solidFill>
          <a:ln w="12700">
            <a:solidFill>
              <a:srgbClr val="243049"/>
            </a:solidFill>
            <a:prstDash val="solid"/>
          </a:ln>
        </p:spPr>
      </p:sp>
      <p:sp>
        <p:nvSpPr>
          <p:cNvPr id="20" name="Text 18"/>
          <p:cNvSpPr/>
          <p:nvPr/>
        </p:nvSpPr>
        <p:spPr>
          <a:xfrm>
            <a:off x="9372600" y="1965960"/>
            <a:ext cx="2514600" cy="274320"/>
          </a:xfrm>
          <a:prstGeom prst="rect">
            <a:avLst/>
          </a:prstGeom>
          <a:noFill/>
          <a:ln/>
        </p:spPr>
        <p:txBody>
          <a:bodyPr wrap="square" lIns="0" tIns="0" rIns="0" bIns="0" rtlCol="0" anchor="ctr"/>
          <a:lstStyle/>
          <a:p>
            <a:pPr algn="ctr" indent="0" marL="0">
              <a:buNone/>
            </a:pPr>
            <a:r>
              <a:rPr lang="en-US" sz="1200" b="1" spc="120" kern="0" dirty="0">
                <a:solidFill>
                  <a:srgbClr val="C9A227"/>
                </a:solidFill>
                <a:latin typeface="Calibri" pitchFamily="34" charset="0"/>
                <a:ea typeface="Calibri" pitchFamily="34" charset="-122"/>
                <a:cs typeface="Calibri" pitchFamily="34" charset="-120"/>
              </a:rPr>
              <a:t>GENESIS</a:t>
            </a:r>
            <a:endParaRPr lang="en-US" sz="1200" dirty="0"/>
          </a:p>
        </p:txBody>
      </p:sp>
      <p:sp>
        <p:nvSpPr>
          <p:cNvPr id="21" name="Text 19"/>
          <p:cNvSpPr/>
          <p:nvPr/>
        </p:nvSpPr>
        <p:spPr>
          <a:xfrm>
            <a:off x="9372600" y="2286000"/>
            <a:ext cx="2514600" cy="502920"/>
          </a:xfrm>
          <a:prstGeom prst="rect">
            <a:avLst/>
          </a:prstGeom>
          <a:noFill/>
          <a:ln/>
        </p:spPr>
        <p:txBody>
          <a:bodyPr wrap="square" lIns="0" tIns="0" rIns="0" bIns="0" rtlCol="0" anchor="ctr"/>
          <a:lstStyle/>
          <a:p>
            <a:pPr algn="ctr" indent="0" marL="0">
              <a:buNone/>
            </a:pPr>
            <a:r>
              <a:rPr lang="en-US" sz="2600" dirty="0">
                <a:solidFill>
                  <a:srgbClr val="F4F1E8"/>
                </a:solidFill>
                <a:latin typeface="Georgia" pitchFamily="34" charset="0"/>
                <a:ea typeface="Georgia" pitchFamily="34" charset="-122"/>
                <a:cs typeface="Georgia" pitchFamily="34" charset="-120"/>
              </a:rPr>
              <a:t>250,000</a:t>
            </a:r>
            <a:endParaRPr lang="en-US" sz="2600" dirty="0"/>
          </a:p>
        </p:txBody>
      </p:sp>
      <p:sp>
        <p:nvSpPr>
          <p:cNvPr id="22" name="Text 20"/>
          <p:cNvSpPr/>
          <p:nvPr/>
        </p:nvSpPr>
        <p:spPr>
          <a:xfrm>
            <a:off x="9372600" y="2880360"/>
            <a:ext cx="2514600" cy="502920"/>
          </a:xfrm>
          <a:prstGeom prst="rect">
            <a:avLst/>
          </a:prstGeom>
          <a:noFill/>
          <a:ln/>
        </p:spPr>
        <p:txBody>
          <a:bodyPr wrap="square" lIns="0" tIns="0" rIns="0" bIns="0" rtlCol="0" anchor="ctr"/>
          <a:lstStyle/>
          <a:p>
            <a:pPr algn="ctr" indent="0" marL="0">
              <a:buNone/>
            </a:pPr>
            <a:r>
              <a:rPr lang="en-US" sz="1400" dirty="0">
                <a:solidFill>
                  <a:srgbClr val="9AA3B5"/>
                </a:solidFill>
                <a:latin typeface="Calibri" pitchFamily="34" charset="0"/>
                <a:ea typeface="Calibri" pitchFamily="34" charset="-122"/>
                <a:cs typeface="Calibri" pitchFamily="34" charset="-120"/>
              </a:rPr>
              <a:t>Title + cosmetic</a:t>
            </a:r>
            <a:endParaRPr lang="en-US" sz="1400" dirty="0"/>
          </a:p>
        </p:txBody>
      </p:sp>
      <p:sp>
        <p:nvSpPr>
          <p:cNvPr id="23" name="Text 21"/>
          <p:cNvSpPr/>
          <p:nvPr/>
        </p:nvSpPr>
        <p:spPr>
          <a:xfrm>
            <a:off x="457200" y="3886200"/>
            <a:ext cx="11247120" cy="320040"/>
          </a:xfrm>
          <a:prstGeom prst="rect">
            <a:avLst/>
          </a:prstGeom>
          <a:noFill/>
          <a:ln/>
        </p:spPr>
        <p:txBody>
          <a:bodyPr wrap="square" lIns="0" tIns="0" rIns="0" bIns="0" rtlCol="0" anchor="ctr"/>
          <a:lstStyle/>
          <a:p>
            <a:pPr indent="0" marL="0">
              <a:buNone/>
            </a:pPr>
            <a:r>
              <a:rPr lang="en-US" sz="1300" dirty="0">
                <a:solidFill>
                  <a:srgbClr val="6E7789"/>
                </a:solidFill>
                <a:latin typeface="Calibri" pitchFamily="34" charset="0"/>
                <a:ea typeface="Calibri" pitchFamily="34" charset="-122"/>
                <a:cs typeface="Calibri" pitchFamily="34" charset="-120"/>
              </a:rPr>
              <a:t>Tiers are cumulative and owner-tunable in data, not code. Rewards are deliberately small — a thank-you, never pay-to-win.</a:t>
            </a:r>
            <a:endParaRPr lang="en-US" sz="1300" dirty="0"/>
          </a:p>
        </p:txBody>
      </p:sp>
      <p:sp>
        <p:nvSpPr>
          <p:cNvPr id="24" name="Shape 22"/>
          <p:cNvSpPr/>
          <p:nvPr/>
        </p:nvSpPr>
        <p:spPr>
          <a:xfrm>
            <a:off x="457200" y="4343400"/>
            <a:ext cx="5623560" cy="1965960"/>
          </a:xfrm>
          <a:prstGeom prst="rect">
            <a:avLst/>
          </a:prstGeom>
          <a:solidFill>
            <a:srgbClr val="151C2E"/>
          </a:solidFill>
          <a:ln w="12700">
            <a:solidFill>
              <a:srgbClr val="243049"/>
            </a:solidFill>
            <a:prstDash val="solid"/>
          </a:ln>
        </p:spPr>
      </p:sp>
      <p:sp>
        <p:nvSpPr>
          <p:cNvPr id="25" name="Text 23"/>
          <p:cNvSpPr/>
          <p:nvPr/>
        </p:nvSpPr>
        <p:spPr>
          <a:xfrm>
            <a:off x="685800" y="4526280"/>
            <a:ext cx="5212080" cy="256032"/>
          </a:xfrm>
          <a:prstGeom prst="rect">
            <a:avLst/>
          </a:prstGeom>
          <a:noFill/>
          <a:ln/>
        </p:spPr>
        <p:txBody>
          <a:bodyPr wrap="square" lIns="0" tIns="0" rIns="0" bIns="0" rtlCol="0" anchor="ctr"/>
          <a:lstStyle/>
          <a:p>
            <a:pPr indent="0" marL="0">
              <a:buNone/>
            </a:pPr>
            <a:r>
              <a:rPr lang="en-US" sz="1100" b="1" spc="120" kern="0" dirty="0">
                <a:solidFill>
                  <a:srgbClr val="C9A227"/>
                </a:solidFill>
                <a:latin typeface="Calibri" pitchFamily="34" charset="0"/>
                <a:ea typeface="Calibri" pitchFamily="34" charset="-122"/>
                <a:cs typeface="Calibri" pitchFamily="34" charset="-120"/>
              </a:rPr>
              <a:t>LIVE IN THE GAME TODAY</a:t>
            </a:r>
            <a:endParaRPr lang="en-US" sz="1100" dirty="0"/>
          </a:p>
        </p:txBody>
      </p:sp>
      <p:sp>
        <p:nvSpPr>
          <p:cNvPr id="26" name="Text 24"/>
          <p:cNvSpPr/>
          <p:nvPr/>
        </p:nvSpPr>
        <p:spPr>
          <a:xfrm>
            <a:off x="685800" y="4892040"/>
            <a:ext cx="5212080" cy="1188720"/>
          </a:xfrm>
          <a:prstGeom prst="rect">
            <a:avLst/>
          </a:prstGeom>
          <a:noFill/>
          <a:ln/>
        </p:spPr>
        <p:txBody>
          <a:bodyPr wrap="square" lIns="0" tIns="0" rIns="0" bIns="0" rtlCol="0" anchor="ctr"/>
          <a:lstStyle/>
          <a:p>
            <a:pPr indent="0" marL="0">
              <a:buNone/>
            </a:pPr>
            <a:r>
              <a:rPr lang="en-US" sz="1400" dirty="0">
                <a:solidFill>
                  <a:srgbClr val="9AA3B5"/>
                </a:solidFill>
                <a:latin typeface="Calibri" pitchFamily="34" charset="0"/>
                <a:ea typeface="Calibri" pitchFamily="34" charset="-122"/>
                <a:cs typeface="Calibri" pitchFamily="34" charset="-120"/>
              </a:rPr>
              <a:t>Stakers earn extra chances at higher-quality gems, plus their tier badge, title, and cosmetics. Shipped, not proposed.</a:t>
            </a:r>
            <a:endParaRPr lang="en-US" sz="1400" dirty="0"/>
          </a:p>
        </p:txBody>
      </p:sp>
      <p:sp>
        <p:nvSpPr>
          <p:cNvPr id="27" name="Shape 25"/>
          <p:cNvSpPr/>
          <p:nvPr/>
        </p:nvSpPr>
        <p:spPr>
          <a:xfrm>
            <a:off x="6263640" y="4343400"/>
            <a:ext cx="5440680" cy="1965960"/>
          </a:xfrm>
          <a:prstGeom prst="rect">
            <a:avLst/>
          </a:prstGeom>
          <a:solidFill>
            <a:srgbClr val="151C2E"/>
          </a:solidFill>
          <a:ln w="12700">
            <a:solidFill>
              <a:srgbClr val="243049"/>
            </a:solidFill>
            <a:prstDash val="solid"/>
          </a:ln>
        </p:spPr>
      </p:sp>
      <p:sp>
        <p:nvSpPr>
          <p:cNvPr id="28" name="Text 26"/>
          <p:cNvSpPr/>
          <p:nvPr/>
        </p:nvSpPr>
        <p:spPr>
          <a:xfrm>
            <a:off x="6492240" y="4526280"/>
            <a:ext cx="5029200" cy="256032"/>
          </a:xfrm>
          <a:prstGeom prst="rect">
            <a:avLst/>
          </a:prstGeom>
          <a:noFill/>
          <a:ln/>
        </p:spPr>
        <p:txBody>
          <a:bodyPr wrap="square" lIns="0" tIns="0" rIns="0" bIns="0" rtlCol="0" anchor="ctr"/>
          <a:lstStyle/>
          <a:p>
            <a:pPr indent="0" marL="0">
              <a:buNone/>
            </a:pPr>
            <a:r>
              <a:rPr lang="en-US" sz="1100" b="1" spc="120" kern="0" dirty="0">
                <a:solidFill>
                  <a:srgbClr val="C9A227"/>
                </a:solidFill>
                <a:latin typeface="Calibri" pitchFamily="34" charset="0"/>
                <a:ea typeface="Calibri" pitchFamily="34" charset="-122"/>
                <a:cs typeface="Calibri" pitchFamily="34" charset="-120"/>
              </a:rPr>
              <a:t>WHY IT STAYS SAFE</a:t>
            </a:r>
            <a:endParaRPr lang="en-US" sz="1100" dirty="0"/>
          </a:p>
        </p:txBody>
      </p:sp>
      <p:sp>
        <p:nvSpPr>
          <p:cNvPr id="29" name="Text 27"/>
          <p:cNvSpPr/>
          <p:nvPr/>
        </p:nvSpPr>
        <p:spPr>
          <a:xfrm>
            <a:off x="6492240" y="4892040"/>
            <a:ext cx="5029200" cy="1188720"/>
          </a:xfrm>
          <a:prstGeom prst="rect">
            <a:avLst/>
          </a:prstGeom>
          <a:noFill/>
          <a:ln/>
        </p:spPr>
        <p:txBody>
          <a:bodyPr wrap="square" lIns="0" tIns="0" rIns="0" bIns="0" rtlCol="0" anchor="ctr"/>
          <a:lstStyle/>
          <a:p>
            <a:pPr indent="0" marL="0">
              <a:buNone/>
            </a:pPr>
            <a:r>
              <a:rPr lang="en-US" sz="1400" dirty="0">
                <a:solidFill>
                  <a:srgbClr val="9AA3B5"/>
                </a:solidFill>
                <a:latin typeface="Calibri" pitchFamily="34" charset="0"/>
                <a:ea typeface="Calibri" pitchFamily="34" charset="-122"/>
                <a:cs typeface="Calibri" pitchFamily="34" charset="-120"/>
              </a:rPr>
              <a:t>The stake is read, never moved. Nothing is minted, nothing is custodied, and the perks are cosmetic or chance-based — never power a player can buy.</a:t>
            </a:r>
            <a:endParaRPr lang="en-US" sz="1400" dirty="0"/>
          </a:p>
        </p:txBody>
      </p:sp>
      <p:sp>
        <p:nvSpPr>
          <p:cNvPr id="30" name="Shape 28"/>
          <p:cNvSpPr/>
          <p:nvPr/>
        </p:nvSpPr>
        <p:spPr>
          <a:xfrm>
            <a:off x="0" y="6656832"/>
            <a:ext cx="12161520" cy="201168"/>
          </a:xfrm>
          <a:prstGeom prst="rect">
            <a:avLst/>
          </a:prstGeom>
          <a:solidFill>
            <a:srgbClr val="0B1220"/>
          </a:solidFill>
          <a:ln/>
        </p:spPr>
      </p:sp>
      <p:sp>
        <p:nvSpPr>
          <p:cNvPr id="31" name="Shape 29"/>
          <p:cNvSpPr/>
          <p:nvPr/>
        </p:nvSpPr>
        <p:spPr>
          <a:xfrm>
            <a:off x="0" y="6656832"/>
            <a:ext cx="12161520" cy="13716"/>
          </a:xfrm>
          <a:prstGeom prst="rect">
            <a:avLst/>
          </a:prstGeom>
          <a:solidFill>
            <a:srgbClr val="243049"/>
          </a:solidFill>
          <a:ln/>
        </p:spPr>
      </p:sp>
      <p:sp>
        <p:nvSpPr>
          <p:cNvPr id="32" name="Text 30"/>
          <p:cNvSpPr/>
          <p:nvPr/>
        </p:nvSpPr>
        <p:spPr>
          <a:xfrm>
            <a:off x="411480" y="6675120"/>
            <a:ext cx="7498080" cy="164592"/>
          </a:xfrm>
          <a:prstGeom prst="rect">
            <a:avLst/>
          </a:prstGeom>
          <a:noFill/>
          <a:ln/>
        </p:spPr>
        <p:txBody>
          <a:bodyPr wrap="square" lIns="0" tIns="0" rIns="0" bIns="0" rtlCol="0" anchor="ctr"/>
          <a:lstStyle/>
          <a:p>
            <a:pPr indent="0" marL="0">
              <a:buNone/>
            </a:pPr>
            <a:r>
              <a:rPr lang="en-US" sz="900" spc="60" kern="0" dirty="0">
                <a:solidFill>
                  <a:srgbClr val="6E7789"/>
                </a:solidFill>
                <a:latin typeface="Calibri" pitchFamily="34" charset="0"/>
                <a:ea typeface="Calibri" pitchFamily="34" charset="-122"/>
                <a:cs typeface="Calibri" pitchFamily="34" charset="-120"/>
              </a:rPr>
              <a:t>DENELLE STUDIOS  ·  CONFIDENTIAL GRANT APPLICATION</a:t>
            </a:r>
            <a:endParaRPr lang="en-US" sz="900" dirty="0"/>
          </a:p>
        </p:txBody>
      </p:sp>
      <p:sp>
        <p:nvSpPr>
          <p:cNvPr id="33" name="Text 31"/>
          <p:cNvSpPr/>
          <p:nvPr/>
        </p:nvSpPr>
        <p:spPr>
          <a:xfrm>
            <a:off x="7863840" y="6675120"/>
            <a:ext cx="3886200" cy="164592"/>
          </a:xfrm>
          <a:prstGeom prst="rect">
            <a:avLst/>
          </a:prstGeom>
          <a:noFill/>
          <a:ln/>
        </p:spPr>
        <p:txBody>
          <a:bodyPr wrap="square" lIns="0" tIns="0" rIns="0" bIns="0" rtlCol="0" anchor="ctr"/>
          <a:lstStyle/>
          <a:p>
            <a:pPr algn="r" indent="0" marL="0">
              <a:buNone/>
            </a:pPr>
            <a:r>
              <a:rPr lang="en-US" sz="900" dirty="0">
                <a:solidFill>
                  <a:srgbClr val="6E7789"/>
                </a:solidFill>
                <a:latin typeface="Calibri" pitchFamily="34" charset="0"/>
                <a:ea typeface="Calibri" pitchFamily="34" charset="-122"/>
                <a:cs typeface="Calibri" pitchFamily="34" charset="-120"/>
              </a:rPr>
              <a:t>ECHOES OF ELARION  ·  7 / 14</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B1220"/>
          </a:solidFill>
          <a:ln/>
        </p:spPr>
      </p:sp>
      <p:sp>
        <p:nvSpPr>
          <p:cNvPr id="3" name="Shape 1"/>
          <p:cNvSpPr/>
          <p:nvPr/>
        </p:nvSpPr>
        <p:spPr>
          <a:xfrm>
            <a:off x="457200" y="256032"/>
            <a:ext cx="164592" cy="164592"/>
          </a:xfrm>
          <a:prstGeom prst="rect">
            <a:avLst/>
          </a:prstGeom>
          <a:solidFill>
            <a:srgbClr val="C9A227"/>
          </a:solidFill>
          <a:ln/>
        </p:spPr>
      </p:sp>
      <p:sp>
        <p:nvSpPr>
          <p:cNvPr id="4" name="Text 2"/>
          <p:cNvSpPr/>
          <p:nvPr/>
        </p:nvSpPr>
        <p:spPr>
          <a:xfrm>
            <a:off x="731520" y="219456"/>
            <a:ext cx="9144000" cy="237744"/>
          </a:xfrm>
          <a:prstGeom prst="rect">
            <a:avLst/>
          </a:prstGeom>
          <a:noFill/>
          <a:ln/>
        </p:spPr>
        <p:txBody>
          <a:bodyPr wrap="square" lIns="0" tIns="0" rIns="0" bIns="0" rtlCol="0" anchor="ctr"/>
          <a:lstStyle/>
          <a:p>
            <a:pPr indent="0" marL="0">
              <a:buNone/>
            </a:pPr>
            <a:r>
              <a:rPr lang="en-US" sz="1100" b="1" spc="160" kern="0" dirty="0">
                <a:solidFill>
                  <a:srgbClr val="C9A227"/>
                </a:solidFill>
                <a:latin typeface="Calibri" pitchFamily="34" charset="0"/>
                <a:ea typeface="Calibri" pitchFamily="34" charset="-122"/>
                <a:cs typeface="Calibri" pitchFamily="34" charset="-120"/>
              </a:rPr>
              <a:t>SCOPE  ·  12 WEEKS</a:t>
            </a:r>
            <a:endParaRPr lang="en-US" sz="1100" dirty="0"/>
          </a:p>
        </p:txBody>
      </p:sp>
      <p:sp>
        <p:nvSpPr>
          <p:cNvPr id="5" name="Text 3"/>
          <p:cNvSpPr/>
          <p:nvPr/>
        </p:nvSpPr>
        <p:spPr>
          <a:xfrm>
            <a:off x="457200" y="475488"/>
            <a:ext cx="11247120" cy="502920"/>
          </a:xfrm>
          <a:prstGeom prst="rect">
            <a:avLst/>
          </a:prstGeom>
          <a:noFill/>
          <a:ln/>
        </p:spPr>
        <p:txBody>
          <a:bodyPr wrap="square" lIns="0" tIns="0" rIns="0" bIns="0" rtlCol="0" anchor="ctr"/>
          <a:lstStyle/>
          <a:p>
            <a:pPr indent="0" marL="0">
              <a:buNone/>
            </a:pPr>
            <a:r>
              <a:rPr lang="en-US" sz="2800" dirty="0">
                <a:solidFill>
                  <a:srgbClr val="F4F1E8"/>
                </a:solidFill>
                <a:latin typeface="Georgia" pitchFamily="34" charset="0"/>
                <a:ea typeface="Georgia" pitchFamily="34" charset="-122"/>
                <a:cs typeface="Georgia" pitchFamily="34" charset="-120"/>
              </a:rPr>
              <a:t>What the grant buys</a:t>
            </a:r>
            <a:endParaRPr lang="en-US" sz="2800" dirty="0"/>
          </a:p>
        </p:txBody>
      </p:sp>
      <p:sp>
        <p:nvSpPr>
          <p:cNvPr id="6" name="Shape 4"/>
          <p:cNvSpPr/>
          <p:nvPr/>
        </p:nvSpPr>
        <p:spPr>
          <a:xfrm>
            <a:off x="457200" y="1078992"/>
            <a:ext cx="11247120" cy="1115568"/>
          </a:xfrm>
          <a:prstGeom prst="rect">
            <a:avLst/>
          </a:prstGeom>
          <a:solidFill>
            <a:srgbClr val="151C2E"/>
          </a:solidFill>
          <a:ln w="12700">
            <a:solidFill>
              <a:srgbClr val="243049"/>
            </a:solidFill>
            <a:prstDash val="solid"/>
          </a:ln>
        </p:spPr>
      </p:sp>
      <p:sp>
        <p:nvSpPr>
          <p:cNvPr id="7" name="Shape 5"/>
          <p:cNvSpPr/>
          <p:nvPr/>
        </p:nvSpPr>
        <p:spPr>
          <a:xfrm>
            <a:off x="457200" y="1078992"/>
            <a:ext cx="640080" cy="1115568"/>
          </a:xfrm>
          <a:prstGeom prst="rect">
            <a:avLst/>
          </a:prstGeom>
          <a:solidFill>
            <a:srgbClr val="C9A227"/>
          </a:solidFill>
          <a:ln/>
        </p:spPr>
      </p:sp>
      <p:sp>
        <p:nvSpPr>
          <p:cNvPr id="8" name="Text 6"/>
          <p:cNvSpPr/>
          <p:nvPr/>
        </p:nvSpPr>
        <p:spPr>
          <a:xfrm>
            <a:off x="457200" y="1078992"/>
            <a:ext cx="640080" cy="1115568"/>
          </a:xfrm>
          <a:prstGeom prst="rect">
            <a:avLst/>
          </a:prstGeom>
          <a:noFill/>
          <a:ln/>
        </p:spPr>
        <p:txBody>
          <a:bodyPr wrap="square" lIns="0" tIns="0" rIns="0" bIns="0" rtlCol="0" anchor="ctr"/>
          <a:lstStyle/>
          <a:p>
            <a:pPr algn="ctr" indent="0" marL="0">
              <a:buNone/>
            </a:pPr>
            <a:r>
              <a:rPr lang="en-US" sz="2200" dirty="0">
                <a:solidFill>
                  <a:srgbClr val="0B1220"/>
                </a:solidFill>
                <a:latin typeface="Georgia" pitchFamily="34" charset="0"/>
                <a:ea typeface="Georgia" pitchFamily="34" charset="-122"/>
                <a:cs typeface="Georgia" pitchFamily="34" charset="-120"/>
              </a:rPr>
              <a:t>A</a:t>
            </a:r>
            <a:endParaRPr lang="en-US" sz="2200" dirty="0"/>
          </a:p>
        </p:txBody>
      </p:sp>
      <p:sp>
        <p:nvSpPr>
          <p:cNvPr id="9" name="Text 7"/>
          <p:cNvSpPr/>
          <p:nvPr/>
        </p:nvSpPr>
        <p:spPr>
          <a:xfrm>
            <a:off x="1325880" y="1207008"/>
            <a:ext cx="10149840" cy="320040"/>
          </a:xfrm>
          <a:prstGeom prst="rect">
            <a:avLst/>
          </a:prstGeom>
          <a:noFill/>
          <a:ln/>
        </p:spPr>
        <p:txBody>
          <a:bodyPr wrap="square" lIns="0" tIns="0" rIns="0" bIns="0" rtlCol="0" anchor="ctr"/>
          <a:lstStyle/>
          <a:p>
            <a:pPr indent="0" marL="0">
              <a:buNone/>
            </a:pPr>
            <a:r>
              <a:rPr lang="en-US" sz="1600" b="1" dirty="0">
                <a:solidFill>
                  <a:srgbClr val="F4F1E8"/>
                </a:solidFill>
                <a:latin typeface="Calibri" pitchFamily="34" charset="0"/>
                <a:ea typeface="Calibri" pitchFamily="34" charset="-122"/>
                <a:cs typeface="Calibri" pitchFamily="34" charset="-120"/>
              </a:rPr>
              <a:t>Solana Mobile Stack hardening</a:t>
            </a:r>
            <a:endParaRPr lang="en-US" sz="1600" dirty="0"/>
          </a:p>
        </p:txBody>
      </p:sp>
      <p:sp>
        <p:nvSpPr>
          <p:cNvPr id="10" name="Text 8"/>
          <p:cNvSpPr/>
          <p:nvPr/>
        </p:nvSpPr>
        <p:spPr>
          <a:xfrm>
            <a:off x="1325880" y="1536192"/>
            <a:ext cx="10149840" cy="530352"/>
          </a:xfrm>
          <a:prstGeom prst="rect">
            <a:avLst/>
          </a:prstGeom>
          <a:noFill/>
          <a:ln/>
        </p:spPr>
        <p:txBody>
          <a:bodyPr wrap="square" lIns="0" tIns="0" rIns="0" bIns="0" rtlCol="0" anchor="ctr"/>
          <a:lstStyle/>
          <a:p>
            <a:pPr indent="0" marL="0">
              <a:buNone/>
            </a:pPr>
            <a:r>
              <a:rPr lang="en-US" sz="1300" dirty="0">
                <a:solidFill>
                  <a:srgbClr val="9AA3B5"/>
                </a:solidFill>
                <a:latin typeface="Calibri" pitchFamily="34" charset="0"/>
                <a:ea typeface="Calibri" pitchFamily="34" charset="-122"/>
                <a:cs typeface="Calibri" pitchFamily="34" charset="-120"/>
              </a:rPr>
              <a:t>MWA edge cases, Seed Vault QA on Seeker, signing / reconnect / cancel states, and repeatable device test cases.</a:t>
            </a:r>
            <a:endParaRPr lang="en-US" sz="1300" dirty="0"/>
          </a:p>
        </p:txBody>
      </p:sp>
      <p:sp>
        <p:nvSpPr>
          <p:cNvPr id="11" name="Shape 9"/>
          <p:cNvSpPr/>
          <p:nvPr/>
        </p:nvSpPr>
        <p:spPr>
          <a:xfrm>
            <a:off x="457200" y="2249424"/>
            <a:ext cx="11247120" cy="1115568"/>
          </a:xfrm>
          <a:prstGeom prst="rect">
            <a:avLst/>
          </a:prstGeom>
          <a:solidFill>
            <a:srgbClr val="151C2E"/>
          </a:solidFill>
          <a:ln w="12700">
            <a:solidFill>
              <a:srgbClr val="243049"/>
            </a:solidFill>
            <a:prstDash val="solid"/>
          </a:ln>
        </p:spPr>
      </p:sp>
      <p:sp>
        <p:nvSpPr>
          <p:cNvPr id="12" name="Shape 10"/>
          <p:cNvSpPr/>
          <p:nvPr/>
        </p:nvSpPr>
        <p:spPr>
          <a:xfrm>
            <a:off x="457200" y="2249424"/>
            <a:ext cx="640080" cy="1115568"/>
          </a:xfrm>
          <a:prstGeom prst="rect">
            <a:avLst/>
          </a:prstGeom>
          <a:solidFill>
            <a:srgbClr val="C9A227"/>
          </a:solidFill>
          <a:ln/>
        </p:spPr>
      </p:sp>
      <p:sp>
        <p:nvSpPr>
          <p:cNvPr id="13" name="Text 11"/>
          <p:cNvSpPr/>
          <p:nvPr/>
        </p:nvSpPr>
        <p:spPr>
          <a:xfrm>
            <a:off x="457200" y="2249424"/>
            <a:ext cx="640080" cy="1115568"/>
          </a:xfrm>
          <a:prstGeom prst="rect">
            <a:avLst/>
          </a:prstGeom>
          <a:noFill/>
          <a:ln/>
        </p:spPr>
        <p:txBody>
          <a:bodyPr wrap="square" lIns="0" tIns="0" rIns="0" bIns="0" rtlCol="0" anchor="ctr"/>
          <a:lstStyle/>
          <a:p>
            <a:pPr algn="ctr" indent="0" marL="0">
              <a:buNone/>
            </a:pPr>
            <a:r>
              <a:rPr lang="en-US" sz="2200" dirty="0">
                <a:solidFill>
                  <a:srgbClr val="0B1220"/>
                </a:solidFill>
                <a:latin typeface="Georgia" pitchFamily="34" charset="0"/>
                <a:ea typeface="Georgia" pitchFamily="34" charset="-122"/>
                <a:cs typeface="Georgia" pitchFamily="34" charset="-120"/>
              </a:rPr>
              <a:t>B</a:t>
            </a:r>
            <a:endParaRPr lang="en-US" sz="2200" dirty="0"/>
          </a:p>
        </p:txBody>
      </p:sp>
      <p:sp>
        <p:nvSpPr>
          <p:cNvPr id="14" name="Text 12"/>
          <p:cNvSpPr/>
          <p:nvPr/>
        </p:nvSpPr>
        <p:spPr>
          <a:xfrm>
            <a:off x="1325880" y="2377440"/>
            <a:ext cx="10149840" cy="320040"/>
          </a:xfrm>
          <a:prstGeom prst="rect">
            <a:avLst/>
          </a:prstGeom>
          <a:noFill/>
          <a:ln/>
        </p:spPr>
        <p:txBody>
          <a:bodyPr wrap="square" lIns="0" tIns="0" rIns="0" bIns="0" rtlCol="0" anchor="ctr"/>
          <a:lstStyle/>
          <a:p>
            <a:pPr indent="0" marL="0">
              <a:buNone/>
            </a:pPr>
            <a:r>
              <a:rPr lang="en-US" sz="1600" b="1" dirty="0">
                <a:solidFill>
                  <a:srgbClr val="F4F1E8"/>
                </a:solidFill>
                <a:latin typeface="Calibri" pitchFamily="34" charset="0"/>
                <a:ea typeface="Calibri" pitchFamily="34" charset="-122"/>
                <a:cs typeface="Calibri" pitchFamily="34" charset="-120"/>
              </a:rPr>
              <a:t>Mobile UX, onboarding, and multi-language support</a:t>
            </a:r>
            <a:endParaRPr lang="en-US" sz="1600" dirty="0"/>
          </a:p>
        </p:txBody>
      </p:sp>
      <p:sp>
        <p:nvSpPr>
          <p:cNvPr id="15" name="Text 13"/>
          <p:cNvSpPr/>
          <p:nvPr/>
        </p:nvSpPr>
        <p:spPr>
          <a:xfrm>
            <a:off x="1325880" y="2706624"/>
            <a:ext cx="10149840" cy="530352"/>
          </a:xfrm>
          <a:prstGeom prst="rect">
            <a:avLst/>
          </a:prstGeom>
          <a:noFill/>
          <a:ln/>
        </p:spPr>
        <p:txBody>
          <a:bodyPr wrap="square" lIns="0" tIns="0" rIns="0" bIns="0" rtlCol="0" anchor="ctr"/>
          <a:lstStyle/>
          <a:p>
            <a:pPr indent="0" marL="0">
              <a:buNone/>
            </a:pPr>
            <a:r>
              <a:rPr lang="en-US" sz="1300" dirty="0">
                <a:solidFill>
                  <a:srgbClr val="9AA3B5"/>
                </a:solidFill>
                <a:latin typeface="Calibri" pitchFamily="34" charset="0"/>
                <a:ea typeface="Calibri" pitchFamily="34" charset="-122"/>
                <a:cs typeface="Calibri" pitchFamily="34" charset="-120"/>
              </a:rPr>
              <a:t>Finish the simplified Manage experience, make core loops legible without documentation, remove dead-end states, and ship the localization architecture now in build so first-session copy can land in multiple languages.</a:t>
            </a:r>
            <a:endParaRPr lang="en-US" sz="1300" dirty="0"/>
          </a:p>
        </p:txBody>
      </p:sp>
      <p:sp>
        <p:nvSpPr>
          <p:cNvPr id="16" name="Shape 14"/>
          <p:cNvSpPr/>
          <p:nvPr/>
        </p:nvSpPr>
        <p:spPr>
          <a:xfrm>
            <a:off x="457200" y="3419856"/>
            <a:ext cx="11247120" cy="1115568"/>
          </a:xfrm>
          <a:prstGeom prst="rect">
            <a:avLst/>
          </a:prstGeom>
          <a:solidFill>
            <a:srgbClr val="151C2E"/>
          </a:solidFill>
          <a:ln w="12700">
            <a:solidFill>
              <a:srgbClr val="243049"/>
            </a:solidFill>
            <a:prstDash val="solid"/>
          </a:ln>
        </p:spPr>
      </p:sp>
      <p:sp>
        <p:nvSpPr>
          <p:cNvPr id="17" name="Shape 15"/>
          <p:cNvSpPr/>
          <p:nvPr/>
        </p:nvSpPr>
        <p:spPr>
          <a:xfrm>
            <a:off x="457200" y="3419856"/>
            <a:ext cx="640080" cy="1115568"/>
          </a:xfrm>
          <a:prstGeom prst="rect">
            <a:avLst/>
          </a:prstGeom>
          <a:solidFill>
            <a:srgbClr val="C9A227"/>
          </a:solidFill>
          <a:ln/>
        </p:spPr>
      </p:sp>
      <p:sp>
        <p:nvSpPr>
          <p:cNvPr id="18" name="Text 16"/>
          <p:cNvSpPr/>
          <p:nvPr/>
        </p:nvSpPr>
        <p:spPr>
          <a:xfrm>
            <a:off x="457200" y="3419856"/>
            <a:ext cx="640080" cy="1115568"/>
          </a:xfrm>
          <a:prstGeom prst="rect">
            <a:avLst/>
          </a:prstGeom>
          <a:noFill/>
          <a:ln/>
        </p:spPr>
        <p:txBody>
          <a:bodyPr wrap="square" lIns="0" tIns="0" rIns="0" bIns="0" rtlCol="0" anchor="ctr"/>
          <a:lstStyle/>
          <a:p>
            <a:pPr algn="ctr" indent="0" marL="0">
              <a:buNone/>
            </a:pPr>
            <a:r>
              <a:rPr lang="en-US" sz="2200" dirty="0">
                <a:solidFill>
                  <a:srgbClr val="0B1220"/>
                </a:solidFill>
                <a:latin typeface="Georgia" pitchFamily="34" charset="0"/>
                <a:ea typeface="Georgia" pitchFamily="34" charset="-122"/>
                <a:cs typeface="Georgia" pitchFamily="34" charset="-120"/>
              </a:rPr>
              <a:t>C</a:t>
            </a:r>
            <a:endParaRPr lang="en-US" sz="2200" dirty="0"/>
          </a:p>
        </p:txBody>
      </p:sp>
      <p:sp>
        <p:nvSpPr>
          <p:cNvPr id="19" name="Text 17"/>
          <p:cNvSpPr/>
          <p:nvPr/>
        </p:nvSpPr>
        <p:spPr>
          <a:xfrm>
            <a:off x="1325880" y="3547872"/>
            <a:ext cx="10149840" cy="320040"/>
          </a:xfrm>
          <a:prstGeom prst="rect">
            <a:avLst/>
          </a:prstGeom>
          <a:noFill/>
          <a:ln/>
        </p:spPr>
        <p:txBody>
          <a:bodyPr wrap="square" lIns="0" tIns="0" rIns="0" bIns="0" rtlCol="0" anchor="ctr"/>
          <a:lstStyle/>
          <a:p>
            <a:pPr indent="0" marL="0">
              <a:buNone/>
            </a:pPr>
            <a:r>
              <a:rPr lang="en-US" sz="1600" b="1" dirty="0">
                <a:solidFill>
                  <a:srgbClr val="F4F1E8"/>
                </a:solidFill>
                <a:latin typeface="Calibri" pitchFamily="34" charset="0"/>
                <a:ea typeface="Calibri" pitchFamily="34" charset="-122"/>
                <a:cs typeface="Calibri" pitchFamily="34" charset="-120"/>
              </a:rPr>
              <a:t>Retention and Seeker activation</a:t>
            </a:r>
            <a:endParaRPr lang="en-US" sz="1600" dirty="0"/>
          </a:p>
        </p:txBody>
      </p:sp>
      <p:sp>
        <p:nvSpPr>
          <p:cNvPr id="20" name="Text 18"/>
          <p:cNvSpPr/>
          <p:nvPr/>
        </p:nvSpPr>
        <p:spPr>
          <a:xfrm>
            <a:off x="1325880" y="3877056"/>
            <a:ext cx="10149840" cy="530352"/>
          </a:xfrm>
          <a:prstGeom prst="rect">
            <a:avLst/>
          </a:prstGeom>
          <a:noFill/>
          <a:ln/>
        </p:spPr>
        <p:txBody>
          <a:bodyPr wrap="square" lIns="0" tIns="0" rIns="0" bIns="0" rtlCol="0" anchor="ctr"/>
          <a:lstStyle/>
          <a:p>
            <a:pPr indent="0" marL="0">
              <a:buNone/>
            </a:pPr>
            <a:r>
              <a:rPr lang="en-US" sz="1300" dirty="0">
                <a:solidFill>
                  <a:srgbClr val="9AA3B5"/>
                </a:solidFill>
                <a:latin typeface="Calibri" pitchFamily="34" charset="0"/>
                <a:ea typeface="Calibri" pitchFamily="34" charset="-122"/>
                <a:cs typeface="Calibri" pitchFamily="34" charset="-120"/>
              </a:rPr>
              <a:t>Daily and weekly return loops, raid-economy repeatability, a Seeker activation path, and the instrumentation to measure it.</a:t>
            </a:r>
            <a:endParaRPr lang="en-US" sz="1300" dirty="0"/>
          </a:p>
        </p:txBody>
      </p:sp>
      <p:sp>
        <p:nvSpPr>
          <p:cNvPr id="21" name="Shape 19"/>
          <p:cNvSpPr/>
          <p:nvPr/>
        </p:nvSpPr>
        <p:spPr>
          <a:xfrm>
            <a:off x="457200" y="4590288"/>
            <a:ext cx="11247120" cy="1115568"/>
          </a:xfrm>
          <a:prstGeom prst="rect">
            <a:avLst/>
          </a:prstGeom>
          <a:solidFill>
            <a:srgbClr val="151C2E"/>
          </a:solidFill>
          <a:ln w="12700">
            <a:solidFill>
              <a:srgbClr val="243049"/>
            </a:solidFill>
            <a:prstDash val="solid"/>
          </a:ln>
        </p:spPr>
      </p:sp>
      <p:sp>
        <p:nvSpPr>
          <p:cNvPr id="22" name="Shape 20"/>
          <p:cNvSpPr/>
          <p:nvPr/>
        </p:nvSpPr>
        <p:spPr>
          <a:xfrm>
            <a:off x="457200" y="4590288"/>
            <a:ext cx="640080" cy="1115568"/>
          </a:xfrm>
          <a:prstGeom prst="rect">
            <a:avLst/>
          </a:prstGeom>
          <a:solidFill>
            <a:srgbClr val="C9A227"/>
          </a:solidFill>
          <a:ln/>
        </p:spPr>
      </p:sp>
      <p:sp>
        <p:nvSpPr>
          <p:cNvPr id="23" name="Text 21"/>
          <p:cNvSpPr/>
          <p:nvPr/>
        </p:nvSpPr>
        <p:spPr>
          <a:xfrm>
            <a:off x="457200" y="4590288"/>
            <a:ext cx="640080" cy="1115568"/>
          </a:xfrm>
          <a:prstGeom prst="rect">
            <a:avLst/>
          </a:prstGeom>
          <a:noFill/>
          <a:ln/>
        </p:spPr>
        <p:txBody>
          <a:bodyPr wrap="square" lIns="0" tIns="0" rIns="0" bIns="0" rtlCol="0" anchor="ctr"/>
          <a:lstStyle/>
          <a:p>
            <a:pPr algn="ctr" indent="0" marL="0">
              <a:buNone/>
            </a:pPr>
            <a:r>
              <a:rPr lang="en-US" sz="2200" dirty="0">
                <a:solidFill>
                  <a:srgbClr val="0B1220"/>
                </a:solidFill>
                <a:latin typeface="Georgia" pitchFamily="34" charset="0"/>
                <a:ea typeface="Georgia" pitchFamily="34" charset="-122"/>
                <a:cs typeface="Georgia" pitchFamily="34" charset="-120"/>
              </a:rPr>
              <a:t>D</a:t>
            </a:r>
            <a:endParaRPr lang="en-US" sz="2200" dirty="0"/>
          </a:p>
        </p:txBody>
      </p:sp>
      <p:sp>
        <p:nvSpPr>
          <p:cNvPr id="24" name="Text 22"/>
          <p:cNvSpPr/>
          <p:nvPr/>
        </p:nvSpPr>
        <p:spPr>
          <a:xfrm>
            <a:off x="1325880" y="4718304"/>
            <a:ext cx="10149840" cy="320040"/>
          </a:xfrm>
          <a:prstGeom prst="rect">
            <a:avLst/>
          </a:prstGeom>
          <a:noFill/>
          <a:ln/>
        </p:spPr>
        <p:txBody>
          <a:bodyPr wrap="square" lIns="0" tIns="0" rIns="0" bIns="0" rtlCol="0" anchor="ctr"/>
          <a:lstStyle/>
          <a:p>
            <a:pPr indent="0" marL="0">
              <a:buNone/>
            </a:pPr>
            <a:r>
              <a:rPr lang="en-US" sz="1600" b="1" dirty="0">
                <a:solidFill>
                  <a:srgbClr val="F4F1E8"/>
                </a:solidFill>
                <a:latin typeface="Calibri" pitchFamily="34" charset="0"/>
                <a:ea typeface="Calibri" pitchFamily="34" charset="-122"/>
                <a:cs typeface="Calibri" pitchFamily="34" charset="-120"/>
              </a:rPr>
              <a:t>Production readiness</a:t>
            </a:r>
            <a:endParaRPr lang="en-US" sz="1600" dirty="0"/>
          </a:p>
        </p:txBody>
      </p:sp>
      <p:sp>
        <p:nvSpPr>
          <p:cNvPr id="25" name="Text 23"/>
          <p:cNvSpPr/>
          <p:nvPr/>
        </p:nvSpPr>
        <p:spPr>
          <a:xfrm>
            <a:off x="1325880" y="5047488"/>
            <a:ext cx="10149840" cy="530352"/>
          </a:xfrm>
          <a:prstGeom prst="rect">
            <a:avLst/>
          </a:prstGeom>
          <a:noFill/>
          <a:ln/>
        </p:spPr>
        <p:txBody>
          <a:bodyPr wrap="square" lIns="0" tIns="0" rIns="0" bIns="0" rtlCol="0" anchor="ctr"/>
          <a:lstStyle/>
          <a:p>
            <a:pPr indent="0" marL="0">
              <a:buNone/>
            </a:pPr>
            <a:r>
              <a:rPr lang="en-US" sz="1300" dirty="0">
                <a:solidFill>
                  <a:srgbClr val="9AA3B5"/>
                </a:solidFill>
                <a:latin typeface="Calibri" pitchFamily="34" charset="0"/>
                <a:ea typeface="Calibri" pitchFamily="34" charset="-122"/>
                <a:cs typeface="Calibri" pitchFamily="34" charset="-120"/>
              </a:rPr>
              <a:t>Device QA and regression, performance and memory pass, release automation, dApp Store refresh, and public developer notes.</a:t>
            </a:r>
            <a:endParaRPr lang="en-US" sz="1300" dirty="0"/>
          </a:p>
        </p:txBody>
      </p:sp>
      <p:sp>
        <p:nvSpPr>
          <p:cNvPr id="26" name="Text 24"/>
          <p:cNvSpPr/>
          <p:nvPr/>
        </p:nvSpPr>
        <p:spPr>
          <a:xfrm>
            <a:off x="457200" y="6080760"/>
            <a:ext cx="11247120" cy="365760"/>
          </a:xfrm>
          <a:prstGeom prst="rect">
            <a:avLst/>
          </a:prstGeom>
          <a:noFill/>
          <a:ln/>
        </p:spPr>
        <p:txBody>
          <a:bodyPr wrap="square" lIns="0" tIns="0" rIns="0" bIns="0" rtlCol="0" anchor="ctr"/>
          <a:lstStyle/>
          <a:p>
            <a:pPr indent="0" marL="0">
              <a:buNone/>
            </a:pPr>
            <a:r>
              <a:rPr lang="en-US" sz="1300" i="1" dirty="0">
                <a:solidFill>
                  <a:srgbClr val="6E7789"/>
                </a:solidFill>
                <a:latin typeface="Calibri" pitchFamily="34" charset="0"/>
                <a:ea typeface="Calibri" pitchFamily="34" charset="-122"/>
                <a:cs typeface="Calibri" pitchFamily="34" charset="-120"/>
              </a:rPr>
              <a:t>The honest gap this closes: the systems are built. The first session — and whether a player can read it — is what stops them ever seeing those systems.</a:t>
            </a:r>
            <a:endParaRPr lang="en-US" sz="1300" dirty="0"/>
          </a:p>
        </p:txBody>
      </p:sp>
      <p:sp>
        <p:nvSpPr>
          <p:cNvPr id="27" name="Shape 25"/>
          <p:cNvSpPr/>
          <p:nvPr/>
        </p:nvSpPr>
        <p:spPr>
          <a:xfrm>
            <a:off x="0" y="6656832"/>
            <a:ext cx="12161520" cy="201168"/>
          </a:xfrm>
          <a:prstGeom prst="rect">
            <a:avLst/>
          </a:prstGeom>
          <a:solidFill>
            <a:srgbClr val="0B1220"/>
          </a:solidFill>
          <a:ln/>
        </p:spPr>
      </p:sp>
      <p:sp>
        <p:nvSpPr>
          <p:cNvPr id="28" name="Shape 26"/>
          <p:cNvSpPr/>
          <p:nvPr/>
        </p:nvSpPr>
        <p:spPr>
          <a:xfrm>
            <a:off x="0" y="6656832"/>
            <a:ext cx="12161520" cy="13716"/>
          </a:xfrm>
          <a:prstGeom prst="rect">
            <a:avLst/>
          </a:prstGeom>
          <a:solidFill>
            <a:srgbClr val="243049"/>
          </a:solidFill>
          <a:ln/>
        </p:spPr>
      </p:sp>
      <p:sp>
        <p:nvSpPr>
          <p:cNvPr id="29" name="Text 27"/>
          <p:cNvSpPr/>
          <p:nvPr/>
        </p:nvSpPr>
        <p:spPr>
          <a:xfrm>
            <a:off x="411480" y="6675120"/>
            <a:ext cx="7498080" cy="164592"/>
          </a:xfrm>
          <a:prstGeom prst="rect">
            <a:avLst/>
          </a:prstGeom>
          <a:noFill/>
          <a:ln/>
        </p:spPr>
        <p:txBody>
          <a:bodyPr wrap="square" lIns="0" tIns="0" rIns="0" bIns="0" rtlCol="0" anchor="ctr"/>
          <a:lstStyle/>
          <a:p>
            <a:pPr indent="0" marL="0">
              <a:buNone/>
            </a:pPr>
            <a:r>
              <a:rPr lang="en-US" sz="900" spc="60" kern="0" dirty="0">
                <a:solidFill>
                  <a:srgbClr val="6E7789"/>
                </a:solidFill>
                <a:latin typeface="Calibri" pitchFamily="34" charset="0"/>
                <a:ea typeface="Calibri" pitchFamily="34" charset="-122"/>
                <a:cs typeface="Calibri" pitchFamily="34" charset="-120"/>
              </a:rPr>
              <a:t>DENELLE STUDIOS  ·  CONFIDENTIAL GRANT APPLICATION</a:t>
            </a:r>
            <a:endParaRPr lang="en-US" sz="900" dirty="0"/>
          </a:p>
        </p:txBody>
      </p:sp>
      <p:sp>
        <p:nvSpPr>
          <p:cNvPr id="30" name="Text 28"/>
          <p:cNvSpPr/>
          <p:nvPr/>
        </p:nvSpPr>
        <p:spPr>
          <a:xfrm>
            <a:off x="7863840" y="6675120"/>
            <a:ext cx="3886200" cy="164592"/>
          </a:xfrm>
          <a:prstGeom prst="rect">
            <a:avLst/>
          </a:prstGeom>
          <a:noFill/>
          <a:ln/>
        </p:spPr>
        <p:txBody>
          <a:bodyPr wrap="square" lIns="0" tIns="0" rIns="0" bIns="0" rtlCol="0" anchor="ctr"/>
          <a:lstStyle/>
          <a:p>
            <a:pPr algn="r" indent="0" marL="0">
              <a:buNone/>
            </a:pPr>
            <a:r>
              <a:rPr lang="en-US" sz="900" dirty="0">
                <a:solidFill>
                  <a:srgbClr val="6E7789"/>
                </a:solidFill>
                <a:latin typeface="Calibri" pitchFamily="34" charset="0"/>
                <a:ea typeface="Calibri" pitchFamily="34" charset="-122"/>
                <a:cs typeface="Calibri" pitchFamily="34" charset="-120"/>
              </a:rPr>
              <a:t>ECHOES OF ELARION  ·  8 / 14</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B1220"/>
          </a:solidFill>
          <a:ln/>
        </p:spPr>
      </p:sp>
      <p:sp>
        <p:nvSpPr>
          <p:cNvPr id="3" name="Shape 1"/>
          <p:cNvSpPr/>
          <p:nvPr/>
        </p:nvSpPr>
        <p:spPr>
          <a:xfrm>
            <a:off x="457200" y="256032"/>
            <a:ext cx="164592" cy="164592"/>
          </a:xfrm>
          <a:prstGeom prst="rect">
            <a:avLst/>
          </a:prstGeom>
          <a:solidFill>
            <a:srgbClr val="C9A227"/>
          </a:solidFill>
          <a:ln/>
        </p:spPr>
      </p:sp>
      <p:sp>
        <p:nvSpPr>
          <p:cNvPr id="4" name="Text 2"/>
          <p:cNvSpPr/>
          <p:nvPr/>
        </p:nvSpPr>
        <p:spPr>
          <a:xfrm>
            <a:off x="731520" y="219456"/>
            <a:ext cx="9144000" cy="237744"/>
          </a:xfrm>
          <a:prstGeom prst="rect">
            <a:avLst/>
          </a:prstGeom>
          <a:noFill/>
          <a:ln/>
        </p:spPr>
        <p:txBody>
          <a:bodyPr wrap="square" lIns="0" tIns="0" rIns="0" bIns="0" rtlCol="0" anchor="ctr"/>
          <a:lstStyle/>
          <a:p>
            <a:pPr indent="0" marL="0">
              <a:buNone/>
            </a:pPr>
            <a:r>
              <a:rPr lang="en-US" sz="1100" b="1" spc="160" kern="0" dirty="0">
                <a:solidFill>
                  <a:srgbClr val="C9A227"/>
                </a:solidFill>
                <a:latin typeface="Calibri" pitchFamily="34" charset="0"/>
                <a:ea typeface="Calibri" pitchFamily="34" charset="-122"/>
                <a:cs typeface="Calibri" pitchFamily="34" charset="-120"/>
              </a:rPr>
              <a:t>TIMELINE</a:t>
            </a:r>
            <a:endParaRPr lang="en-US" sz="1100" dirty="0"/>
          </a:p>
        </p:txBody>
      </p:sp>
      <p:sp>
        <p:nvSpPr>
          <p:cNvPr id="5" name="Text 3"/>
          <p:cNvSpPr/>
          <p:nvPr/>
        </p:nvSpPr>
        <p:spPr>
          <a:xfrm>
            <a:off x="457200" y="475488"/>
            <a:ext cx="11247120" cy="502920"/>
          </a:xfrm>
          <a:prstGeom prst="rect">
            <a:avLst/>
          </a:prstGeom>
          <a:noFill/>
          <a:ln/>
        </p:spPr>
        <p:txBody>
          <a:bodyPr wrap="square" lIns="0" tIns="0" rIns="0" bIns="0" rtlCol="0" anchor="ctr"/>
          <a:lstStyle/>
          <a:p>
            <a:pPr indent="0" marL="0">
              <a:buNone/>
            </a:pPr>
            <a:r>
              <a:rPr lang="en-US" sz="2800" dirty="0">
                <a:solidFill>
                  <a:srgbClr val="F4F1E8"/>
                </a:solidFill>
                <a:latin typeface="Georgia" pitchFamily="34" charset="0"/>
                <a:ea typeface="Georgia" pitchFamily="34" charset="-122"/>
                <a:cs typeface="Georgia" pitchFamily="34" charset="-120"/>
              </a:rPr>
              <a:t>Four milestones, each with evidence-based exit criteria.</a:t>
            </a:r>
            <a:endParaRPr lang="en-US" sz="2800" dirty="0"/>
          </a:p>
        </p:txBody>
      </p:sp>
      <p:sp>
        <p:nvSpPr>
          <p:cNvPr id="6" name="Shape 4"/>
          <p:cNvSpPr/>
          <p:nvPr/>
        </p:nvSpPr>
        <p:spPr>
          <a:xfrm>
            <a:off x="365760" y="1097280"/>
            <a:ext cx="2834640" cy="5029200"/>
          </a:xfrm>
          <a:prstGeom prst="rect">
            <a:avLst/>
          </a:prstGeom>
          <a:solidFill>
            <a:srgbClr val="151C2E"/>
          </a:solidFill>
          <a:ln w="12700">
            <a:solidFill>
              <a:srgbClr val="243049"/>
            </a:solidFill>
            <a:prstDash val="solid"/>
          </a:ln>
        </p:spPr>
      </p:sp>
      <p:sp>
        <p:nvSpPr>
          <p:cNvPr id="7" name="Shape 5"/>
          <p:cNvSpPr/>
          <p:nvPr/>
        </p:nvSpPr>
        <p:spPr>
          <a:xfrm>
            <a:off x="365760" y="1097280"/>
            <a:ext cx="2834640" cy="73152"/>
          </a:xfrm>
          <a:prstGeom prst="rect">
            <a:avLst/>
          </a:prstGeom>
          <a:solidFill>
            <a:srgbClr val="C9A227"/>
          </a:solidFill>
          <a:ln/>
        </p:spPr>
      </p:sp>
      <p:sp>
        <p:nvSpPr>
          <p:cNvPr id="8" name="Text 6"/>
          <p:cNvSpPr/>
          <p:nvPr/>
        </p:nvSpPr>
        <p:spPr>
          <a:xfrm>
            <a:off x="502920" y="1280160"/>
            <a:ext cx="2560320" cy="256032"/>
          </a:xfrm>
          <a:prstGeom prst="rect">
            <a:avLst/>
          </a:prstGeom>
          <a:noFill/>
          <a:ln/>
        </p:spPr>
        <p:txBody>
          <a:bodyPr wrap="square" lIns="0" tIns="0" rIns="0" bIns="0" rtlCol="0" anchor="ctr"/>
          <a:lstStyle/>
          <a:p>
            <a:pPr indent="0" marL="0">
              <a:buNone/>
            </a:pPr>
            <a:r>
              <a:rPr lang="en-US" sz="1100" b="1" spc="60" kern="0" dirty="0">
                <a:solidFill>
                  <a:srgbClr val="C9A227"/>
                </a:solidFill>
                <a:latin typeface="Calibri" pitchFamily="34" charset="0"/>
                <a:ea typeface="Calibri" pitchFamily="34" charset="-122"/>
                <a:cs typeface="Calibri" pitchFamily="34" charset="-120"/>
              </a:rPr>
              <a:t>M1  ·  WEEKS 1–3</a:t>
            </a:r>
            <a:endParaRPr lang="en-US" sz="1100" dirty="0"/>
          </a:p>
        </p:txBody>
      </p:sp>
      <p:sp>
        <p:nvSpPr>
          <p:cNvPr id="9" name="Text 7"/>
          <p:cNvSpPr/>
          <p:nvPr/>
        </p:nvSpPr>
        <p:spPr>
          <a:xfrm>
            <a:off x="502920" y="1600200"/>
            <a:ext cx="2560320" cy="777240"/>
          </a:xfrm>
          <a:prstGeom prst="rect">
            <a:avLst/>
          </a:prstGeom>
          <a:noFill/>
          <a:ln/>
        </p:spPr>
        <p:txBody>
          <a:bodyPr wrap="square" lIns="0" tIns="0" rIns="0" bIns="0" rtlCol="0" anchor="ctr"/>
          <a:lstStyle/>
          <a:p>
            <a:pPr indent="0" marL="0">
              <a:buNone/>
            </a:pPr>
            <a:r>
              <a:rPr lang="en-US" sz="1800" dirty="0">
                <a:solidFill>
                  <a:srgbClr val="F4F1E8"/>
                </a:solidFill>
                <a:latin typeface="Georgia" pitchFamily="34" charset="0"/>
                <a:ea typeface="Georgia" pitchFamily="34" charset="-122"/>
                <a:cs typeface="Georgia" pitchFamily="34" charset="-120"/>
              </a:rPr>
              <a:t>Mobile Stack</a:t>
            </a:r>
            <a:endParaRPr lang="en-US" sz="1800" dirty="0"/>
          </a:p>
          <a:p>
            <a:pPr indent="0" marL="0">
              <a:buNone/>
            </a:pPr>
            <a:r>
              <a:rPr lang="en-US" sz="1800" dirty="0">
                <a:solidFill>
                  <a:srgbClr val="F4F1E8"/>
                </a:solidFill>
                <a:latin typeface="Georgia" pitchFamily="34" charset="0"/>
                <a:ea typeface="Georgia" pitchFamily="34" charset="-122"/>
                <a:cs typeface="Georgia" pitchFamily="34" charset="-120"/>
              </a:rPr>
              <a:t>&amp; baseline</a:t>
            </a:r>
            <a:endParaRPr lang="en-US" sz="1800" dirty="0"/>
          </a:p>
        </p:txBody>
      </p:sp>
      <p:sp>
        <p:nvSpPr>
          <p:cNvPr id="10" name="Text 8"/>
          <p:cNvSpPr/>
          <p:nvPr/>
        </p:nvSpPr>
        <p:spPr>
          <a:xfrm>
            <a:off x="502920" y="2468880"/>
            <a:ext cx="2560320" cy="1691640"/>
          </a:xfrm>
          <a:prstGeom prst="rect">
            <a:avLst/>
          </a:prstGeom>
          <a:noFill/>
          <a:ln/>
        </p:spPr>
        <p:txBody>
          <a:bodyPr wrap="square" lIns="0" tIns="0" rIns="0" bIns="0" rtlCol="0" anchor="ctr"/>
          <a:lstStyle/>
          <a:p>
            <a:pPr indent="0" marL="0">
              <a:buNone/>
            </a:pPr>
            <a:r>
              <a:rPr lang="en-US" sz="1300" dirty="0">
                <a:solidFill>
                  <a:srgbClr val="9AA3B5"/>
                </a:solidFill>
                <a:latin typeface="Calibri" pitchFamily="34" charset="0"/>
                <a:ea typeface="Calibri" pitchFamily="34" charset="-122"/>
                <a:cs typeface="Calibri" pitchFamily="34" charset="-120"/>
              </a:rPr>
              <a:t>MWA / Seed Vault audit closed. Seeker QA checklist. Baseline funnel metrics captured.</a:t>
            </a:r>
            <a:endParaRPr lang="en-US" sz="1300" dirty="0"/>
          </a:p>
        </p:txBody>
      </p:sp>
      <p:sp>
        <p:nvSpPr>
          <p:cNvPr id="11" name="Text 9"/>
          <p:cNvSpPr/>
          <p:nvPr/>
        </p:nvSpPr>
        <p:spPr>
          <a:xfrm>
            <a:off x="502920" y="4206240"/>
            <a:ext cx="2560320" cy="201168"/>
          </a:xfrm>
          <a:prstGeom prst="rect">
            <a:avLst/>
          </a:prstGeom>
          <a:noFill/>
          <a:ln/>
        </p:spPr>
        <p:txBody>
          <a:bodyPr wrap="square" lIns="0" tIns="0" rIns="0" bIns="0" rtlCol="0" anchor="ctr"/>
          <a:lstStyle/>
          <a:p>
            <a:pPr indent="0" marL="0">
              <a:buNone/>
            </a:pPr>
            <a:r>
              <a:rPr lang="en-US" sz="1000" b="1" spc="120" kern="0" dirty="0">
                <a:solidFill>
                  <a:srgbClr val="C9A227"/>
                </a:solidFill>
                <a:latin typeface="Calibri" pitchFamily="34" charset="0"/>
                <a:ea typeface="Calibri" pitchFamily="34" charset="-122"/>
                <a:cs typeface="Calibri" pitchFamily="34" charset="-120"/>
              </a:rPr>
              <a:t>EXIT</a:t>
            </a:r>
            <a:endParaRPr lang="en-US" sz="1000" dirty="0"/>
          </a:p>
        </p:txBody>
      </p:sp>
      <p:sp>
        <p:nvSpPr>
          <p:cNvPr id="12" name="Text 10"/>
          <p:cNvSpPr/>
          <p:nvPr/>
        </p:nvSpPr>
        <p:spPr>
          <a:xfrm>
            <a:off x="502920" y="4434840"/>
            <a:ext cx="2560320" cy="1463040"/>
          </a:xfrm>
          <a:prstGeom prst="rect">
            <a:avLst/>
          </a:prstGeom>
          <a:noFill/>
          <a:ln/>
        </p:spPr>
        <p:txBody>
          <a:bodyPr wrap="square" lIns="0" tIns="0" rIns="0" bIns="0" rtlCol="0" anchor="ctr"/>
          <a:lstStyle/>
          <a:p>
            <a:pPr indent="0" marL="0">
              <a:buNone/>
            </a:pPr>
            <a:r>
              <a:rPr lang="en-US" sz="1200" dirty="0">
                <a:solidFill>
                  <a:srgbClr val="F4F1E8"/>
                </a:solidFill>
                <a:latin typeface="Calibri" pitchFamily="34" charset="0"/>
                <a:ea typeface="Calibri" pitchFamily="34" charset="-122"/>
                <a:cs typeface="Calibri" pitchFamily="34" charset="-120"/>
              </a:rPr>
              <a:t>Supported wallet actions complete through the intended mobile path. No key material in the game.</a:t>
            </a:r>
            <a:endParaRPr lang="en-US" sz="1200" dirty="0"/>
          </a:p>
        </p:txBody>
      </p:sp>
      <p:sp>
        <p:nvSpPr>
          <p:cNvPr id="13" name="Shape 11"/>
          <p:cNvSpPr/>
          <p:nvPr/>
        </p:nvSpPr>
        <p:spPr>
          <a:xfrm>
            <a:off x="3337560" y="1097280"/>
            <a:ext cx="2834640" cy="5029200"/>
          </a:xfrm>
          <a:prstGeom prst="rect">
            <a:avLst/>
          </a:prstGeom>
          <a:solidFill>
            <a:srgbClr val="151C2E"/>
          </a:solidFill>
          <a:ln w="12700">
            <a:solidFill>
              <a:srgbClr val="243049"/>
            </a:solidFill>
            <a:prstDash val="solid"/>
          </a:ln>
        </p:spPr>
      </p:sp>
      <p:sp>
        <p:nvSpPr>
          <p:cNvPr id="14" name="Shape 12"/>
          <p:cNvSpPr/>
          <p:nvPr/>
        </p:nvSpPr>
        <p:spPr>
          <a:xfrm>
            <a:off x="3337560" y="1097280"/>
            <a:ext cx="2834640" cy="73152"/>
          </a:xfrm>
          <a:prstGeom prst="rect">
            <a:avLst/>
          </a:prstGeom>
          <a:solidFill>
            <a:srgbClr val="C9A227"/>
          </a:solidFill>
          <a:ln/>
        </p:spPr>
      </p:sp>
      <p:sp>
        <p:nvSpPr>
          <p:cNvPr id="15" name="Text 13"/>
          <p:cNvSpPr/>
          <p:nvPr/>
        </p:nvSpPr>
        <p:spPr>
          <a:xfrm>
            <a:off x="3474720" y="1280160"/>
            <a:ext cx="2560320" cy="256032"/>
          </a:xfrm>
          <a:prstGeom prst="rect">
            <a:avLst/>
          </a:prstGeom>
          <a:noFill/>
          <a:ln/>
        </p:spPr>
        <p:txBody>
          <a:bodyPr wrap="square" lIns="0" tIns="0" rIns="0" bIns="0" rtlCol="0" anchor="ctr"/>
          <a:lstStyle/>
          <a:p>
            <a:pPr indent="0" marL="0">
              <a:buNone/>
            </a:pPr>
            <a:r>
              <a:rPr lang="en-US" sz="1100" b="1" spc="60" kern="0" dirty="0">
                <a:solidFill>
                  <a:srgbClr val="C9A227"/>
                </a:solidFill>
                <a:latin typeface="Calibri" pitchFamily="34" charset="0"/>
                <a:ea typeface="Calibri" pitchFamily="34" charset="-122"/>
                <a:cs typeface="Calibri" pitchFamily="34" charset="-120"/>
              </a:rPr>
              <a:t>M2  ·  WEEKS 4–6</a:t>
            </a:r>
            <a:endParaRPr lang="en-US" sz="1100" dirty="0"/>
          </a:p>
        </p:txBody>
      </p:sp>
      <p:sp>
        <p:nvSpPr>
          <p:cNvPr id="16" name="Text 14"/>
          <p:cNvSpPr/>
          <p:nvPr/>
        </p:nvSpPr>
        <p:spPr>
          <a:xfrm>
            <a:off x="3474720" y="1600200"/>
            <a:ext cx="2560320" cy="777240"/>
          </a:xfrm>
          <a:prstGeom prst="rect">
            <a:avLst/>
          </a:prstGeom>
          <a:noFill/>
          <a:ln/>
        </p:spPr>
        <p:txBody>
          <a:bodyPr wrap="square" lIns="0" tIns="0" rIns="0" bIns="0" rtlCol="0" anchor="ctr"/>
          <a:lstStyle/>
          <a:p>
            <a:pPr indent="0" marL="0">
              <a:buNone/>
            </a:pPr>
            <a:r>
              <a:rPr lang="en-US" sz="1800" dirty="0">
                <a:solidFill>
                  <a:srgbClr val="F4F1E8"/>
                </a:solidFill>
                <a:latin typeface="Georgia" pitchFamily="34" charset="0"/>
                <a:ea typeface="Georgia" pitchFamily="34" charset="-122"/>
                <a:cs typeface="Georgia" pitchFamily="34" charset="-120"/>
              </a:rPr>
              <a:t>Mobile UX,</a:t>
            </a:r>
            <a:endParaRPr lang="en-US" sz="1800" dirty="0"/>
          </a:p>
          <a:p>
            <a:pPr indent="0" marL="0">
              <a:buNone/>
            </a:pPr>
            <a:r>
              <a:rPr lang="en-US" sz="1800" dirty="0">
                <a:solidFill>
                  <a:srgbClr val="F4F1E8"/>
                </a:solidFill>
                <a:latin typeface="Georgia" pitchFamily="34" charset="0"/>
                <a:ea typeface="Georgia" pitchFamily="34" charset="-122"/>
                <a:cs typeface="Georgia" pitchFamily="34" charset="-120"/>
              </a:rPr>
              <a:t>first session, i18n</a:t>
            </a:r>
            <a:endParaRPr lang="en-US" sz="1800" dirty="0"/>
          </a:p>
        </p:txBody>
      </p:sp>
      <p:sp>
        <p:nvSpPr>
          <p:cNvPr id="17" name="Text 15"/>
          <p:cNvSpPr/>
          <p:nvPr/>
        </p:nvSpPr>
        <p:spPr>
          <a:xfrm>
            <a:off x="3474720" y="2468880"/>
            <a:ext cx="2560320" cy="1691640"/>
          </a:xfrm>
          <a:prstGeom prst="rect">
            <a:avLst/>
          </a:prstGeom>
          <a:noFill/>
          <a:ln/>
        </p:spPr>
        <p:txBody>
          <a:bodyPr wrap="square" lIns="0" tIns="0" rIns="0" bIns="0" rtlCol="0" anchor="ctr"/>
          <a:lstStyle/>
          <a:p>
            <a:pPr indent="0" marL="0">
              <a:buNone/>
            </a:pPr>
            <a:r>
              <a:rPr lang="en-US" sz="1300" dirty="0">
                <a:solidFill>
                  <a:srgbClr val="9AA3B5"/>
                </a:solidFill>
                <a:latin typeface="Calibri" pitchFamily="34" charset="0"/>
                <a:ea typeface="Calibri" pitchFamily="34" charset="-122"/>
                <a:cs typeface="Calibri" pitchFamily="34" charset="-120"/>
              </a:rPr>
              <a:t>Simplified Manage ships. Onboarding for core loops. Dead-end states removed. Localization framework and first language packs land.</a:t>
            </a:r>
            <a:endParaRPr lang="en-US" sz="1300" dirty="0"/>
          </a:p>
        </p:txBody>
      </p:sp>
      <p:sp>
        <p:nvSpPr>
          <p:cNvPr id="18" name="Text 16"/>
          <p:cNvSpPr/>
          <p:nvPr/>
        </p:nvSpPr>
        <p:spPr>
          <a:xfrm>
            <a:off x="3474720" y="4206240"/>
            <a:ext cx="2560320" cy="201168"/>
          </a:xfrm>
          <a:prstGeom prst="rect">
            <a:avLst/>
          </a:prstGeom>
          <a:noFill/>
          <a:ln/>
        </p:spPr>
        <p:txBody>
          <a:bodyPr wrap="square" lIns="0" tIns="0" rIns="0" bIns="0" rtlCol="0" anchor="ctr"/>
          <a:lstStyle/>
          <a:p>
            <a:pPr indent="0" marL="0">
              <a:buNone/>
            </a:pPr>
            <a:r>
              <a:rPr lang="en-US" sz="1000" b="1" spc="120" kern="0" dirty="0">
                <a:solidFill>
                  <a:srgbClr val="C9A227"/>
                </a:solidFill>
                <a:latin typeface="Calibri" pitchFamily="34" charset="0"/>
                <a:ea typeface="Calibri" pitchFamily="34" charset="-122"/>
                <a:cs typeface="Calibri" pitchFamily="34" charset="-120"/>
              </a:rPr>
              <a:t>EXIT</a:t>
            </a:r>
            <a:endParaRPr lang="en-US" sz="1000" dirty="0"/>
          </a:p>
        </p:txBody>
      </p:sp>
      <p:sp>
        <p:nvSpPr>
          <p:cNvPr id="19" name="Text 17"/>
          <p:cNvSpPr/>
          <p:nvPr/>
        </p:nvSpPr>
        <p:spPr>
          <a:xfrm>
            <a:off x="3474720" y="4434840"/>
            <a:ext cx="2560320" cy="1463040"/>
          </a:xfrm>
          <a:prstGeom prst="rect">
            <a:avLst/>
          </a:prstGeom>
          <a:noFill/>
          <a:ln/>
        </p:spPr>
        <p:txBody>
          <a:bodyPr wrap="square" lIns="0" tIns="0" rIns="0" bIns="0" rtlCol="0" anchor="ctr"/>
          <a:lstStyle/>
          <a:p>
            <a:pPr indent="0" marL="0">
              <a:buNone/>
            </a:pPr>
            <a:r>
              <a:rPr lang="en-US" sz="1200" dirty="0">
                <a:solidFill>
                  <a:srgbClr val="F4F1E8"/>
                </a:solidFill>
                <a:latin typeface="Calibri" pitchFamily="34" charset="0"/>
                <a:ea typeface="Calibri" pitchFamily="34" charset="-122"/>
                <a:cs typeface="Calibri" pitchFamily="34" charset="-120"/>
              </a:rPr>
              <a:t>A new player finds Build, Army, Research, Queue, and Raids without external help — in more than one language.</a:t>
            </a:r>
            <a:endParaRPr lang="en-US" sz="1200" dirty="0"/>
          </a:p>
        </p:txBody>
      </p:sp>
      <p:sp>
        <p:nvSpPr>
          <p:cNvPr id="20" name="Shape 18"/>
          <p:cNvSpPr/>
          <p:nvPr/>
        </p:nvSpPr>
        <p:spPr>
          <a:xfrm>
            <a:off x="6309360" y="1097280"/>
            <a:ext cx="2834640" cy="5029200"/>
          </a:xfrm>
          <a:prstGeom prst="rect">
            <a:avLst/>
          </a:prstGeom>
          <a:solidFill>
            <a:srgbClr val="151C2E"/>
          </a:solidFill>
          <a:ln w="12700">
            <a:solidFill>
              <a:srgbClr val="243049"/>
            </a:solidFill>
            <a:prstDash val="solid"/>
          </a:ln>
        </p:spPr>
      </p:sp>
      <p:sp>
        <p:nvSpPr>
          <p:cNvPr id="21" name="Shape 19"/>
          <p:cNvSpPr/>
          <p:nvPr/>
        </p:nvSpPr>
        <p:spPr>
          <a:xfrm>
            <a:off x="6309360" y="1097280"/>
            <a:ext cx="2834640" cy="73152"/>
          </a:xfrm>
          <a:prstGeom prst="rect">
            <a:avLst/>
          </a:prstGeom>
          <a:solidFill>
            <a:srgbClr val="C9A227"/>
          </a:solidFill>
          <a:ln/>
        </p:spPr>
      </p:sp>
      <p:sp>
        <p:nvSpPr>
          <p:cNvPr id="22" name="Text 20"/>
          <p:cNvSpPr/>
          <p:nvPr/>
        </p:nvSpPr>
        <p:spPr>
          <a:xfrm>
            <a:off x="6446520" y="1280160"/>
            <a:ext cx="2560320" cy="256032"/>
          </a:xfrm>
          <a:prstGeom prst="rect">
            <a:avLst/>
          </a:prstGeom>
          <a:noFill/>
          <a:ln/>
        </p:spPr>
        <p:txBody>
          <a:bodyPr wrap="square" lIns="0" tIns="0" rIns="0" bIns="0" rtlCol="0" anchor="ctr"/>
          <a:lstStyle/>
          <a:p>
            <a:pPr indent="0" marL="0">
              <a:buNone/>
            </a:pPr>
            <a:r>
              <a:rPr lang="en-US" sz="1100" b="1" spc="60" kern="0" dirty="0">
                <a:solidFill>
                  <a:srgbClr val="C9A227"/>
                </a:solidFill>
                <a:latin typeface="Calibri" pitchFamily="34" charset="0"/>
                <a:ea typeface="Calibri" pitchFamily="34" charset="-122"/>
                <a:cs typeface="Calibri" pitchFamily="34" charset="-120"/>
              </a:rPr>
              <a:t>M3  ·  WEEKS 7–9</a:t>
            </a:r>
            <a:endParaRPr lang="en-US" sz="1100" dirty="0"/>
          </a:p>
        </p:txBody>
      </p:sp>
      <p:sp>
        <p:nvSpPr>
          <p:cNvPr id="23" name="Text 21"/>
          <p:cNvSpPr/>
          <p:nvPr/>
        </p:nvSpPr>
        <p:spPr>
          <a:xfrm>
            <a:off x="6446520" y="1600200"/>
            <a:ext cx="2560320" cy="777240"/>
          </a:xfrm>
          <a:prstGeom prst="rect">
            <a:avLst/>
          </a:prstGeom>
          <a:noFill/>
          <a:ln/>
        </p:spPr>
        <p:txBody>
          <a:bodyPr wrap="square" lIns="0" tIns="0" rIns="0" bIns="0" rtlCol="0" anchor="ctr"/>
          <a:lstStyle/>
          <a:p>
            <a:pPr indent="0" marL="0">
              <a:buNone/>
            </a:pPr>
            <a:r>
              <a:rPr lang="en-US" sz="1800" dirty="0">
                <a:solidFill>
                  <a:srgbClr val="F4F1E8"/>
                </a:solidFill>
                <a:latin typeface="Georgia" pitchFamily="34" charset="0"/>
                <a:ea typeface="Georgia" pitchFamily="34" charset="-122"/>
                <a:cs typeface="Georgia" pitchFamily="34" charset="-120"/>
              </a:rPr>
              <a:t>Retention</a:t>
            </a:r>
            <a:endParaRPr lang="en-US" sz="1800" dirty="0"/>
          </a:p>
          <a:p>
            <a:pPr indent="0" marL="0">
              <a:buNone/>
            </a:pPr>
            <a:r>
              <a:rPr lang="en-US" sz="1800" dirty="0">
                <a:solidFill>
                  <a:srgbClr val="F4F1E8"/>
                </a:solidFill>
                <a:latin typeface="Georgia" pitchFamily="34" charset="0"/>
                <a:ea typeface="Georgia" pitchFamily="34" charset="-122"/>
                <a:cs typeface="Georgia" pitchFamily="34" charset="-120"/>
              </a:rPr>
              <a:t>&amp; activation</a:t>
            </a:r>
            <a:endParaRPr lang="en-US" sz="1800" dirty="0"/>
          </a:p>
        </p:txBody>
      </p:sp>
      <p:sp>
        <p:nvSpPr>
          <p:cNvPr id="24" name="Text 22"/>
          <p:cNvSpPr/>
          <p:nvPr/>
        </p:nvSpPr>
        <p:spPr>
          <a:xfrm>
            <a:off x="6446520" y="2468880"/>
            <a:ext cx="2560320" cy="1691640"/>
          </a:xfrm>
          <a:prstGeom prst="rect">
            <a:avLst/>
          </a:prstGeom>
          <a:noFill/>
          <a:ln/>
        </p:spPr>
        <p:txBody>
          <a:bodyPr wrap="square" lIns="0" tIns="0" rIns="0" bIns="0" rtlCol="0" anchor="ctr"/>
          <a:lstStyle/>
          <a:p>
            <a:pPr indent="0" marL="0">
              <a:buNone/>
            </a:pPr>
            <a:r>
              <a:rPr lang="en-US" sz="1300" dirty="0">
                <a:solidFill>
                  <a:srgbClr val="9AA3B5"/>
                </a:solidFill>
                <a:latin typeface="Calibri" pitchFamily="34" charset="0"/>
                <a:ea typeface="Calibri" pitchFamily="34" charset="-122"/>
                <a:cs typeface="Calibri" pitchFamily="34" charset="-120"/>
              </a:rPr>
              <a:t>Daily and weekly loops. Raid economy repeatability. One Seeker activation path.</a:t>
            </a:r>
            <a:endParaRPr lang="en-US" sz="1300" dirty="0"/>
          </a:p>
        </p:txBody>
      </p:sp>
      <p:sp>
        <p:nvSpPr>
          <p:cNvPr id="25" name="Text 23"/>
          <p:cNvSpPr/>
          <p:nvPr/>
        </p:nvSpPr>
        <p:spPr>
          <a:xfrm>
            <a:off x="6446520" y="4206240"/>
            <a:ext cx="2560320" cy="201168"/>
          </a:xfrm>
          <a:prstGeom prst="rect">
            <a:avLst/>
          </a:prstGeom>
          <a:noFill/>
          <a:ln/>
        </p:spPr>
        <p:txBody>
          <a:bodyPr wrap="square" lIns="0" tIns="0" rIns="0" bIns="0" rtlCol="0" anchor="ctr"/>
          <a:lstStyle/>
          <a:p>
            <a:pPr indent="0" marL="0">
              <a:buNone/>
            </a:pPr>
            <a:r>
              <a:rPr lang="en-US" sz="1000" b="1" spc="120" kern="0" dirty="0">
                <a:solidFill>
                  <a:srgbClr val="C9A227"/>
                </a:solidFill>
                <a:latin typeface="Calibri" pitchFamily="34" charset="0"/>
                <a:ea typeface="Calibri" pitchFamily="34" charset="-122"/>
                <a:cs typeface="Calibri" pitchFamily="34" charset="-120"/>
              </a:rPr>
              <a:t>EXIT</a:t>
            </a:r>
            <a:endParaRPr lang="en-US" sz="1000" dirty="0"/>
          </a:p>
        </p:txBody>
      </p:sp>
      <p:sp>
        <p:nvSpPr>
          <p:cNvPr id="26" name="Text 24"/>
          <p:cNvSpPr/>
          <p:nvPr/>
        </p:nvSpPr>
        <p:spPr>
          <a:xfrm>
            <a:off x="6446520" y="4434840"/>
            <a:ext cx="2560320" cy="1463040"/>
          </a:xfrm>
          <a:prstGeom prst="rect">
            <a:avLst/>
          </a:prstGeom>
          <a:noFill/>
          <a:ln/>
        </p:spPr>
        <p:txBody>
          <a:bodyPr wrap="square" lIns="0" tIns="0" rIns="0" bIns="0" rtlCol="0" anchor="ctr"/>
          <a:lstStyle/>
          <a:p>
            <a:pPr indent="0" marL="0">
              <a:buNone/>
            </a:pPr>
            <a:r>
              <a:rPr lang="en-US" sz="1200" dirty="0">
                <a:solidFill>
                  <a:srgbClr val="F4F1E8"/>
                </a:solidFill>
                <a:latin typeface="Calibri" pitchFamily="34" charset="0"/>
                <a:ea typeface="Calibri" pitchFamily="34" charset="-122"/>
                <a:cs typeface="Calibri" pitchFamily="34" charset="-120"/>
              </a:rPr>
              <a:t>Return-loop metrics instrumented. A Seeker activation path live or release-ready.</a:t>
            </a:r>
            <a:endParaRPr lang="en-US" sz="1200" dirty="0"/>
          </a:p>
        </p:txBody>
      </p:sp>
      <p:sp>
        <p:nvSpPr>
          <p:cNvPr id="27" name="Shape 25"/>
          <p:cNvSpPr/>
          <p:nvPr/>
        </p:nvSpPr>
        <p:spPr>
          <a:xfrm>
            <a:off x="9281160" y="1097280"/>
            <a:ext cx="2834640" cy="5029200"/>
          </a:xfrm>
          <a:prstGeom prst="rect">
            <a:avLst/>
          </a:prstGeom>
          <a:solidFill>
            <a:srgbClr val="151C2E"/>
          </a:solidFill>
          <a:ln w="12700">
            <a:solidFill>
              <a:srgbClr val="243049"/>
            </a:solidFill>
            <a:prstDash val="solid"/>
          </a:ln>
        </p:spPr>
      </p:sp>
      <p:sp>
        <p:nvSpPr>
          <p:cNvPr id="28" name="Shape 26"/>
          <p:cNvSpPr/>
          <p:nvPr/>
        </p:nvSpPr>
        <p:spPr>
          <a:xfrm>
            <a:off x="9281160" y="1097280"/>
            <a:ext cx="2834640" cy="73152"/>
          </a:xfrm>
          <a:prstGeom prst="rect">
            <a:avLst/>
          </a:prstGeom>
          <a:solidFill>
            <a:srgbClr val="C9A227"/>
          </a:solidFill>
          <a:ln/>
        </p:spPr>
      </p:sp>
      <p:sp>
        <p:nvSpPr>
          <p:cNvPr id="29" name="Text 27"/>
          <p:cNvSpPr/>
          <p:nvPr/>
        </p:nvSpPr>
        <p:spPr>
          <a:xfrm>
            <a:off x="9418320" y="1280160"/>
            <a:ext cx="2560320" cy="256032"/>
          </a:xfrm>
          <a:prstGeom prst="rect">
            <a:avLst/>
          </a:prstGeom>
          <a:noFill/>
          <a:ln/>
        </p:spPr>
        <p:txBody>
          <a:bodyPr wrap="square" lIns="0" tIns="0" rIns="0" bIns="0" rtlCol="0" anchor="ctr"/>
          <a:lstStyle/>
          <a:p>
            <a:pPr indent="0" marL="0">
              <a:buNone/>
            </a:pPr>
            <a:r>
              <a:rPr lang="en-US" sz="1100" b="1" spc="60" kern="0" dirty="0">
                <a:solidFill>
                  <a:srgbClr val="C9A227"/>
                </a:solidFill>
                <a:latin typeface="Calibri" pitchFamily="34" charset="0"/>
                <a:ea typeface="Calibri" pitchFamily="34" charset="-122"/>
                <a:cs typeface="Calibri" pitchFamily="34" charset="-120"/>
              </a:rPr>
              <a:t>M4  ·  WEEKS 10–12</a:t>
            </a:r>
            <a:endParaRPr lang="en-US" sz="1100" dirty="0"/>
          </a:p>
        </p:txBody>
      </p:sp>
      <p:sp>
        <p:nvSpPr>
          <p:cNvPr id="30" name="Text 28"/>
          <p:cNvSpPr/>
          <p:nvPr/>
        </p:nvSpPr>
        <p:spPr>
          <a:xfrm>
            <a:off x="9418320" y="1600200"/>
            <a:ext cx="2560320" cy="777240"/>
          </a:xfrm>
          <a:prstGeom prst="rect">
            <a:avLst/>
          </a:prstGeom>
          <a:noFill/>
          <a:ln/>
        </p:spPr>
        <p:txBody>
          <a:bodyPr wrap="square" lIns="0" tIns="0" rIns="0" bIns="0" rtlCol="0" anchor="ctr"/>
          <a:lstStyle/>
          <a:p>
            <a:pPr indent="0" marL="0">
              <a:buNone/>
            </a:pPr>
            <a:r>
              <a:rPr lang="en-US" sz="1800" dirty="0">
                <a:solidFill>
                  <a:srgbClr val="F4F1E8"/>
                </a:solidFill>
                <a:latin typeface="Georgia" pitchFamily="34" charset="0"/>
                <a:ea typeface="Georgia" pitchFamily="34" charset="-122"/>
                <a:cs typeface="Georgia" pitchFamily="34" charset="-120"/>
              </a:rPr>
              <a:t>Release</a:t>
            </a:r>
            <a:endParaRPr lang="en-US" sz="1800" dirty="0"/>
          </a:p>
          <a:p>
            <a:pPr indent="0" marL="0">
              <a:buNone/>
            </a:pPr>
            <a:r>
              <a:rPr lang="en-US" sz="1800" dirty="0">
                <a:solidFill>
                  <a:srgbClr val="F4F1E8"/>
                </a:solidFill>
                <a:latin typeface="Georgia" pitchFamily="34" charset="0"/>
                <a:ea typeface="Georgia" pitchFamily="34" charset="-122"/>
                <a:cs typeface="Georgia" pitchFamily="34" charset="-120"/>
              </a:rPr>
              <a:t>&amp; contribution</a:t>
            </a:r>
            <a:endParaRPr lang="en-US" sz="1800" dirty="0"/>
          </a:p>
        </p:txBody>
      </p:sp>
      <p:sp>
        <p:nvSpPr>
          <p:cNvPr id="31" name="Text 29"/>
          <p:cNvSpPr/>
          <p:nvPr/>
        </p:nvSpPr>
        <p:spPr>
          <a:xfrm>
            <a:off x="9418320" y="2468880"/>
            <a:ext cx="2560320" cy="1691640"/>
          </a:xfrm>
          <a:prstGeom prst="rect">
            <a:avLst/>
          </a:prstGeom>
          <a:noFill/>
          <a:ln/>
        </p:spPr>
        <p:txBody>
          <a:bodyPr wrap="square" lIns="0" tIns="0" rIns="0" bIns="0" rtlCol="0" anchor="ctr"/>
          <a:lstStyle/>
          <a:p>
            <a:pPr indent="0" marL="0">
              <a:buNone/>
            </a:pPr>
            <a:r>
              <a:rPr lang="en-US" sz="1300" dirty="0">
                <a:solidFill>
                  <a:srgbClr val="9AA3B5"/>
                </a:solidFill>
                <a:latin typeface="Calibri" pitchFamily="34" charset="0"/>
                <a:ea typeface="Calibri" pitchFamily="34" charset="-122"/>
                <a:cs typeface="Calibri" pitchFamily="34" charset="-120"/>
              </a:rPr>
              <a:t>Performance and stability pass. dApp Store release. Public developer notes.</a:t>
            </a:r>
            <a:endParaRPr lang="en-US" sz="1300" dirty="0"/>
          </a:p>
        </p:txBody>
      </p:sp>
      <p:sp>
        <p:nvSpPr>
          <p:cNvPr id="32" name="Text 30"/>
          <p:cNvSpPr/>
          <p:nvPr/>
        </p:nvSpPr>
        <p:spPr>
          <a:xfrm>
            <a:off x="9418320" y="4206240"/>
            <a:ext cx="2560320" cy="201168"/>
          </a:xfrm>
          <a:prstGeom prst="rect">
            <a:avLst/>
          </a:prstGeom>
          <a:noFill/>
          <a:ln/>
        </p:spPr>
        <p:txBody>
          <a:bodyPr wrap="square" lIns="0" tIns="0" rIns="0" bIns="0" rtlCol="0" anchor="ctr"/>
          <a:lstStyle/>
          <a:p>
            <a:pPr indent="0" marL="0">
              <a:buNone/>
            </a:pPr>
            <a:r>
              <a:rPr lang="en-US" sz="1000" b="1" spc="120" kern="0" dirty="0">
                <a:solidFill>
                  <a:srgbClr val="C9A227"/>
                </a:solidFill>
                <a:latin typeface="Calibri" pitchFamily="34" charset="0"/>
                <a:ea typeface="Calibri" pitchFamily="34" charset="-122"/>
                <a:cs typeface="Calibri" pitchFamily="34" charset="-120"/>
              </a:rPr>
              <a:t>EXIT</a:t>
            </a:r>
            <a:endParaRPr lang="en-US" sz="1000" dirty="0"/>
          </a:p>
        </p:txBody>
      </p:sp>
      <p:sp>
        <p:nvSpPr>
          <p:cNvPr id="33" name="Text 31"/>
          <p:cNvSpPr/>
          <p:nvPr/>
        </p:nvSpPr>
        <p:spPr>
          <a:xfrm>
            <a:off x="9418320" y="4434840"/>
            <a:ext cx="2560320" cy="1463040"/>
          </a:xfrm>
          <a:prstGeom prst="rect">
            <a:avLst/>
          </a:prstGeom>
          <a:noFill/>
          <a:ln/>
        </p:spPr>
        <p:txBody>
          <a:bodyPr wrap="square" lIns="0" tIns="0" rIns="0" bIns="0" rtlCol="0" anchor="ctr"/>
          <a:lstStyle/>
          <a:p>
            <a:pPr indent="0" marL="0">
              <a:buNone/>
            </a:pPr>
            <a:r>
              <a:rPr lang="en-US" sz="1200" dirty="0">
                <a:solidFill>
                  <a:srgbClr val="F4F1E8"/>
                </a:solidFill>
                <a:latin typeface="Calibri" pitchFamily="34" charset="0"/>
                <a:ea typeface="Calibri" pitchFamily="34" charset="-122"/>
                <a:cs typeface="Calibri" pitchFamily="34" charset="-120"/>
              </a:rPr>
              <a:t>Production build released. Grant deliverables documented with evidence.</a:t>
            </a:r>
            <a:endParaRPr lang="en-US" sz="1200" dirty="0"/>
          </a:p>
        </p:txBody>
      </p:sp>
      <p:sp>
        <p:nvSpPr>
          <p:cNvPr id="34" name="Shape 32"/>
          <p:cNvSpPr/>
          <p:nvPr/>
        </p:nvSpPr>
        <p:spPr>
          <a:xfrm>
            <a:off x="0" y="6656832"/>
            <a:ext cx="12161520" cy="201168"/>
          </a:xfrm>
          <a:prstGeom prst="rect">
            <a:avLst/>
          </a:prstGeom>
          <a:solidFill>
            <a:srgbClr val="0B1220"/>
          </a:solidFill>
          <a:ln/>
        </p:spPr>
      </p:sp>
      <p:sp>
        <p:nvSpPr>
          <p:cNvPr id="35" name="Shape 33"/>
          <p:cNvSpPr/>
          <p:nvPr/>
        </p:nvSpPr>
        <p:spPr>
          <a:xfrm>
            <a:off x="0" y="6656832"/>
            <a:ext cx="12161520" cy="13716"/>
          </a:xfrm>
          <a:prstGeom prst="rect">
            <a:avLst/>
          </a:prstGeom>
          <a:solidFill>
            <a:srgbClr val="243049"/>
          </a:solidFill>
          <a:ln/>
        </p:spPr>
      </p:sp>
      <p:sp>
        <p:nvSpPr>
          <p:cNvPr id="36" name="Text 34"/>
          <p:cNvSpPr/>
          <p:nvPr/>
        </p:nvSpPr>
        <p:spPr>
          <a:xfrm>
            <a:off x="411480" y="6675120"/>
            <a:ext cx="7498080" cy="164592"/>
          </a:xfrm>
          <a:prstGeom prst="rect">
            <a:avLst/>
          </a:prstGeom>
          <a:noFill/>
          <a:ln/>
        </p:spPr>
        <p:txBody>
          <a:bodyPr wrap="square" lIns="0" tIns="0" rIns="0" bIns="0" rtlCol="0" anchor="ctr"/>
          <a:lstStyle/>
          <a:p>
            <a:pPr indent="0" marL="0">
              <a:buNone/>
            </a:pPr>
            <a:r>
              <a:rPr lang="en-US" sz="900" spc="60" kern="0" dirty="0">
                <a:solidFill>
                  <a:srgbClr val="6E7789"/>
                </a:solidFill>
                <a:latin typeface="Calibri" pitchFamily="34" charset="0"/>
                <a:ea typeface="Calibri" pitchFamily="34" charset="-122"/>
                <a:cs typeface="Calibri" pitchFamily="34" charset="-120"/>
              </a:rPr>
              <a:t>DENELLE STUDIOS  ·  CONFIDENTIAL GRANT APPLICATION</a:t>
            </a:r>
            <a:endParaRPr lang="en-US" sz="900" dirty="0"/>
          </a:p>
        </p:txBody>
      </p:sp>
      <p:sp>
        <p:nvSpPr>
          <p:cNvPr id="37" name="Text 35"/>
          <p:cNvSpPr/>
          <p:nvPr/>
        </p:nvSpPr>
        <p:spPr>
          <a:xfrm>
            <a:off x="7863840" y="6675120"/>
            <a:ext cx="3886200" cy="164592"/>
          </a:xfrm>
          <a:prstGeom prst="rect">
            <a:avLst/>
          </a:prstGeom>
          <a:noFill/>
          <a:ln/>
        </p:spPr>
        <p:txBody>
          <a:bodyPr wrap="square" lIns="0" tIns="0" rIns="0" bIns="0" rtlCol="0" anchor="ctr"/>
          <a:lstStyle/>
          <a:p>
            <a:pPr algn="r" indent="0" marL="0">
              <a:buNone/>
            </a:pPr>
            <a:r>
              <a:rPr lang="en-US" sz="900" dirty="0">
                <a:solidFill>
                  <a:srgbClr val="6E7789"/>
                </a:solidFill>
                <a:latin typeface="Calibri" pitchFamily="34" charset="0"/>
                <a:ea typeface="Calibri" pitchFamily="34" charset="-122"/>
                <a:cs typeface="Calibri" pitchFamily="34" charset="-120"/>
              </a:rPr>
              <a:t>ECHOES OF ELARION  ·  9 / 14</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B1220"/>
          </a:solidFill>
          <a:ln/>
        </p:spPr>
      </p:sp>
      <p:sp>
        <p:nvSpPr>
          <p:cNvPr id="3" name="Shape 1"/>
          <p:cNvSpPr/>
          <p:nvPr/>
        </p:nvSpPr>
        <p:spPr>
          <a:xfrm>
            <a:off x="457200" y="256032"/>
            <a:ext cx="164592" cy="164592"/>
          </a:xfrm>
          <a:prstGeom prst="rect">
            <a:avLst/>
          </a:prstGeom>
          <a:solidFill>
            <a:srgbClr val="C9A227"/>
          </a:solidFill>
          <a:ln/>
        </p:spPr>
      </p:sp>
      <p:sp>
        <p:nvSpPr>
          <p:cNvPr id="4" name="Text 2"/>
          <p:cNvSpPr/>
          <p:nvPr/>
        </p:nvSpPr>
        <p:spPr>
          <a:xfrm>
            <a:off x="731520" y="219456"/>
            <a:ext cx="9144000" cy="237744"/>
          </a:xfrm>
          <a:prstGeom prst="rect">
            <a:avLst/>
          </a:prstGeom>
          <a:noFill/>
          <a:ln/>
        </p:spPr>
        <p:txBody>
          <a:bodyPr wrap="square" lIns="0" tIns="0" rIns="0" bIns="0" rtlCol="0" anchor="ctr"/>
          <a:lstStyle/>
          <a:p>
            <a:pPr indent="0" marL="0">
              <a:buNone/>
            </a:pPr>
            <a:r>
              <a:rPr lang="en-US" sz="1100" b="1" spc="160" kern="0" dirty="0">
                <a:solidFill>
                  <a:srgbClr val="C9A227"/>
                </a:solidFill>
                <a:latin typeface="Calibri" pitchFamily="34" charset="0"/>
                <a:ea typeface="Calibri" pitchFamily="34" charset="-122"/>
                <a:cs typeface="Calibri" pitchFamily="34" charset="-120"/>
              </a:rPr>
              <a:t>USE OF FUNDS</a:t>
            </a:r>
            <a:endParaRPr lang="en-US" sz="1100" dirty="0"/>
          </a:p>
        </p:txBody>
      </p:sp>
      <p:sp>
        <p:nvSpPr>
          <p:cNvPr id="5" name="Text 3"/>
          <p:cNvSpPr/>
          <p:nvPr/>
        </p:nvSpPr>
        <p:spPr>
          <a:xfrm>
            <a:off x="457200" y="475488"/>
            <a:ext cx="11247120" cy="502920"/>
          </a:xfrm>
          <a:prstGeom prst="rect">
            <a:avLst/>
          </a:prstGeom>
          <a:noFill/>
          <a:ln/>
        </p:spPr>
        <p:txBody>
          <a:bodyPr wrap="square" lIns="0" tIns="0" rIns="0" bIns="0" rtlCol="0" anchor="ctr"/>
          <a:lstStyle/>
          <a:p>
            <a:pPr indent="0" marL="0">
              <a:buNone/>
            </a:pPr>
            <a:r>
              <a:rPr lang="en-US" sz="2800" dirty="0">
                <a:solidFill>
                  <a:srgbClr val="F4F1E8"/>
                </a:solidFill>
                <a:latin typeface="Georgia" pitchFamily="34" charset="0"/>
                <a:ea typeface="Georgia" pitchFamily="34" charset="-122"/>
                <a:cs typeface="Georgia" pitchFamily="34" charset="-120"/>
              </a:rPr>
              <a:t>$25,000, released against milestone exits.</a:t>
            </a:r>
            <a:endParaRPr lang="en-US" sz="2800" dirty="0"/>
          </a:p>
        </p:txBody>
      </p:sp>
      <p:sp>
        <p:nvSpPr>
          <p:cNvPr id="6" name="Text 4"/>
          <p:cNvSpPr/>
          <p:nvPr/>
        </p:nvSpPr>
        <p:spPr>
          <a:xfrm>
            <a:off x="457200" y="1143000"/>
            <a:ext cx="3383280" cy="502920"/>
          </a:xfrm>
          <a:prstGeom prst="rect">
            <a:avLst/>
          </a:prstGeom>
          <a:noFill/>
          <a:ln/>
        </p:spPr>
        <p:txBody>
          <a:bodyPr wrap="square" lIns="0" tIns="0" rIns="0" bIns="0" rtlCol="0" anchor="ctr"/>
          <a:lstStyle/>
          <a:p>
            <a:pPr indent="0" marL="0">
              <a:buNone/>
            </a:pPr>
            <a:r>
              <a:rPr lang="en-US" sz="1300" dirty="0">
                <a:solidFill>
                  <a:srgbClr val="9AA3B5"/>
                </a:solidFill>
                <a:latin typeface="Calibri" pitchFamily="34" charset="0"/>
                <a:ea typeface="Calibri" pitchFamily="34" charset="-122"/>
                <a:cs typeface="Calibri" pitchFamily="34" charset="-120"/>
              </a:rPr>
              <a:t>Engineering &amp; Solana Mobile</a:t>
            </a:r>
            <a:endParaRPr lang="en-US" sz="1300" dirty="0"/>
          </a:p>
        </p:txBody>
      </p:sp>
      <p:sp>
        <p:nvSpPr>
          <p:cNvPr id="7" name="Shape 5"/>
          <p:cNvSpPr/>
          <p:nvPr/>
        </p:nvSpPr>
        <p:spPr>
          <a:xfrm>
            <a:off x="3931920" y="1289304"/>
            <a:ext cx="4023360" cy="219456"/>
          </a:xfrm>
          <a:prstGeom prst="rect">
            <a:avLst/>
          </a:prstGeom>
          <a:solidFill>
            <a:srgbClr val="1A2233"/>
          </a:solidFill>
          <a:ln/>
        </p:spPr>
      </p:sp>
      <p:sp>
        <p:nvSpPr>
          <p:cNvPr id="8" name="Shape 6"/>
          <p:cNvSpPr/>
          <p:nvPr/>
        </p:nvSpPr>
        <p:spPr>
          <a:xfrm>
            <a:off x="3931920" y="1289304"/>
            <a:ext cx="4023360" cy="219456"/>
          </a:xfrm>
          <a:prstGeom prst="rect">
            <a:avLst/>
          </a:prstGeom>
          <a:solidFill>
            <a:srgbClr val="C9A227"/>
          </a:solidFill>
          <a:ln/>
        </p:spPr>
      </p:sp>
      <p:sp>
        <p:nvSpPr>
          <p:cNvPr id="9" name="Text 7"/>
          <p:cNvSpPr/>
          <p:nvPr/>
        </p:nvSpPr>
        <p:spPr>
          <a:xfrm>
            <a:off x="8046720" y="1143000"/>
            <a:ext cx="1005840" cy="502920"/>
          </a:xfrm>
          <a:prstGeom prst="rect">
            <a:avLst/>
          </a:prstGeom>
          <a:noFill/>
          <a:ln/>
        </p:spPr>
        <p:txBody>
          <a:bodyPr wrap="square" lIns="0" tIns="0" rIns="0" bIns="0" rtlCol="0" anchor="ctr"/>
          <a:lstStyle/>
          <a:p>
            <a:pPr indent="0" marL="0">
              <a:buNone/>
            </a:pPr>
            <a:r>
              <a:rPr lang="en-US" sz="1300" dirty="0">
                <a:solidFill>
                  <a:srgbClr val="F4F1E8"/>
                </a:solidFill>
                <a:latin typeface="Calibri" pitchFamily="34" charset="0"/>
                <a:ea typeface="Calibri" pitchFamily="34" charset="-122"/>
                <a:cs typeface="Calibri" pitchFamily="34" charset="-120"/>
              </a:rPr>
              <a:t>$10,000</a:t>
            </a:r>
            <a:endParaRPr lang="en-US" sz="1300" dirty="0"/>
          </a:p>
        </p:txBody>
      </p:sp>
      <p:sp>
        <p:nvSpPr>
          <p:cNvPr id="10" name="Text 8"/>
          <p:cNvSpPr/>
          <p:nvPr/>
        </p:nvSpPr>
        <p:spPr>
          <a:xfrm>
            <a:off x="457200" y="1783080"/>
            <a:ext cx="3383280" cy="502920"/>
          </a:xfrm>
          <a:prstGeom prst="rect">
            <a:avLst/>
          </a:prstGeom>
          <a:noFill/>
          <a:ln/>
        </p:spPr>
        <p:txBody>
          <a:bodyPr wrap="square" lIns="0" tIns="0" rIns="0" bIns="0" rtlCol="0" anchor="ctr"/>
          <a:lstStyle/>
          <a:p>
            <a:pPr indent="0" marL="0">
              <a:buNone/>
            </a:pPr>
            <a:r>
              <a:rPr lang="en-US" sz="1300" dirty="0">
                <a:solidFill>
                  <a:srgbClr val="9AA3B5"/>
                </a:solidFill>
                <a:latin typeface="Calibri" pitchFamily="34" charset="0"/>
                <a:ea typeface="Calibri" pitchFamily="34" charset="-122"/>
                <a:cs typeface="Calibri" pitchFamily="34" charset="-120"/>
              </a:rPr>
              <a:t>Mobile UI / art / content / localization</a:t>
            </a:r>
            <a:endParaRPr lang="en-US" sz="1300" dirty="0"/>
          </a:p>
        </p:txBody>
      </p:sp>
      <p:sp>
        <p:nvSpPr>
          <p:cNvPr id="11" name="Shape 9"/>
          <p:cNvSpPr/>
          <p:nvPr/>
        </p:nvSpPr>
        <p:spPr>
          <a:xfrm>
            <a:off x="3931920" y="1929384"/>
            <a:ext cx="4023360" cy="219456"/>
          </a:xfrm>
          <a:prstGeom prst="rect">
            <a:avLst/>
          </a:prstGeom>
          <a:solidFill>
            <a:srgbClr val="1A2233"/>
          </a:solidFill>
          <a:ln/>
        </p:spPr>
      </p:sp>
      <p:sp>
        <p:nvSpPr>
          <p:cNvPr id="12" name="Shape 10"/>
          <p:cNvSpPr/>
          <p:nvPr/>
        </p:nvSpPr>
        <p:spPr>
          <a:xfrm>
            <a:off x="3931920" y="1929384"/>
            <a:ext cx="1609344" cy="219456"/>
          </a:xfrm>
          <a:prstGeom prst="rect">
            <a:avLst/>
          </a:prstGeom>
          <a:solidFill>
            <a:srgbClr val="C9A227"/>
          </a:solidFill>
          <a:ln/>
        </p:spPr>
      </p:sp>
      <p:sp>
        <p:nvSpPr>
          <p:cNvPr id="13" name="Text 11"/>
          <p:cNvSpPr/>
          <p:nvPr/>
        </p:nvSpPr>
        <p:spPr>
          <a:xfrm>
            <a:off x="8046720" y="1783080"/>
            <a:ext cx="1005840" cy="502920"/>
          </a:xfrm>
          <a:prstGeom prst="rect">
            <a:avLst/>
          </a:prstGeom>
          <a:noFill/>
          <a:ln/>
        </p:spPr>
        <p:txBody>
          <a:bodyPr wrap="square" lIns="0" tIns="0" rIns="0" bIns="0" rtlCol="0" anchor="ctr"/>
          <a:lstStyle/>
          <a:p>
            <a:pPr indent="0" marL="0">
              <a:buNone/>
            </a:pPr>
            <a:r>
              <a:rPr lang="en-US" sz="1300" dirty="0">
                <a:solidFill>
                  <a:srgbClr val="F4F1E8"/>
                </a:solidFill>
                <a:latin typeface="Calibri" pitchFamily="34" charset="0"/>
                <a:ea typeface="Calibri" pitchFamily="34" charset="-122"/>
                <a:cs typeface="Calibri" pitchFamily="34" charset="-120"/>
              </a:rPr>
              <a:t>$4,000</a:t>
            </a:r>
            <a:endParaRPr lang="en-US" sz="1300" dirty="0"/>
          </a:p>
        </p:txBody>
      </p:sp>
      <p:sp>
        <p:nvSpPr>
          <p:cNvPr id="14" name="Text 12"/>
          <p:cNvSpPr/>
          <p:nvPr/>
        </p:nvSpPr>
        <p:spPr>
          <a:xfrm>
            <a:off x="457200" y="2423160"/>
            <a:ext cx="3383280" cy="502920"/>
          </a:xfrm>
          <a:prstGeom prst="rect">
            <a:avLst/>
          </a:prstGeom>
          <a:noFill/>
          <a:ln/>
        </p:spPr>
        <p:txBody>
          <a:bodyPr wrap="square" lIns="0" tIns="0" rIns="0" bIns="0" rtlCol="0" anchor="ctr"/>
          <a:lstStyle/>
          <a:p>
            <a:pPr indent="0" marL="0">
              <a:buNone/>
            </a:pPr>
            <a:r>
              <a:rPr lang="en-US" sz="1300" dirty="0">
                <a:solidFill>
                  <a:srgbClr val="9AA3B5"/>
                </a:solidFill>
                <a:latin typeface="Calibri" pitchFamily="34" charset="0"/>
                <a:ea typeface="Calibri" pitchFamily="34" charset="-122"/>
                <a:cs typeface="Calibri" pitchFamily="34" charset="-120"/>
              </a:rPr>
              <a:t>QA / devices / release</a:t>
            </a:r>
            <a:endParaRPr lang="en-US" sz="1300" dirty="0"/>
          </a:p>
        </p:txBody>
      </p:sp>
      <p:sp>
        <p:nvSpPr>
          <p:cNvPr id="15" name="Shape 13"/>
          <p:cNvSpPr/>
          <p:nvPr/>
        </p:nvSpPr>
        <p:spPr>
          <a:xfrm>
            <a:off x="3931920" y="2569464"/>
            <a:ext cx="4023360" cy="219456"/>
          </a:xfrm>
          <a:prstGeom prst="rect">
            <a:avLst/>
          </a:prstGeom>
          <a:solidFill>
            <a:srgbClr val="1A2233"/>
          </a:solidFill>
          <a:ln/>
        </p:spPr>
      </p:sp>
      <p:sp>
        <p:nvSpPr>
          <p:cNvPr id="16" name="Shape 14"/>
          <p:cNvSpPr/>
          <p:nvPr/>
        </p:nvSpPr>
        <p:spPr>
          <a:xfrm>
            <a:off x="3931920" y="2569464"/>
            <a:ext cx="1207008" cy="219456"/>
          </a:xfrm>
          <a:prstGeom prst="rect">
            <a:avLst/>
          </a:prstGeom>
          <a:solidFill>
            <a:srgbClr val="C9A227"/>
          </a:solidFill>
          <a:ln/>
        </p:spPr>
      </p:sp>
      <p:sp>
        <p:nvSpPr>
          <p:cNvPr id="17" name="Text 15"/>
          <p:cNvSpPr/>
          <p:nvPr/>
        </p:nvSpPr>
        <p:spPr>
          <a:xfrm>
            <a:off x="8046720" y="2423160"/>
            <a:ext cx="1005840" cy="502920"/>
          </a:xfrm>
          <a:prstGeom prst="rect">
            <a:avLst/>
          </a:prstGeom>
          <a:noFill/>
          <a:ln/>
        </p:spPr>
        <p:txBody>
          <a:bodyPr wrap="square" lIns="0" tIns="0" rIns="0" bIns="0" rtlCol="0" anchor="ctr"/>
          <a:lstStyle/>
          <a:p>
            <a:pPr indent="0" marL="0">
              <a:buNone/>
            </a:pPr>
            <a:r>
              <a:rPr lang="en-US" sz="1300" dirty="0">
                <a:solidFill>
                  <a:srgbClr val="F4F1E8"/>
                </a:solidFill>
                <a:latin typeface="Calibri" pitchFamily="34" charset="0"/>
                <a:ea typeface="Calibri" pitchFamily="34" charset="-122"/>
                <a:cs typeface="Calibri" pitchFamily="34" charset="-120"/>
              </a:rPr>
              <a:t>$3,000</a:t>
            </a:r>
            <a:endParaRPr lang="en-US" sz="1300" dirty="0"/>
          </a:p>
        </p:txBody>
      </p:sp>
      <p:sp>
        <p:nvSpPr>
          <p:cNvPr id="18" name="Text 16"/>
          <p:cNvSpPr/>
          <p:nvPr/>
        </p:nvSpPr>
        <p:spPr>
          <a:xfrm>
            <a:off x="457200" y="3063240"/>
            <a:ext cx="3383280" cy="502920"/>
          </a:xfrm>
          <a:prstGeom prst="rect">
            <a:avLst/>
          </a:prstGeom>
          <a:noFill/>
          <a:ln/>
        </p:spPr>
        <p:txBody>
          <a:bodyPr wrap="square" lIns="0" tIns="0" rIns="0" bIns="0" rtlCol="0" anchor="ctr"/>
          <a:lstStyle/>
          <a:p>
            <a:pPr indent="0" marL="0">
              <a:buNone/>
            </a:pPr>
            <a:r>
              <a:rPr lang="en-US" sz="1300" dirty="0">
                <a:solidFill>
                  <a:srgbClr val="9AA3B5"/>
                </a:solidFill>
                <a:latin typeface="Calibri" pitchFamily="34" charset="0"/>
                <a:ea typeface="Calibri" pitchFamily="34" charset="-122"/>
                <a:cs typeface="Calibri" pitchFamily="34" charset="-120"/>
              </a:rPr>
              <a:t>Launch / community / docs</a:t>
            </a:r>
            <a:endParaRPr lang="en-US" sz="1300" dirty="0"/>
          </a:p>
        </p:txBody>
      </p:sp>
      <p:sp>
        <p:nvSpPr>
          <p:cNvPr id="19" name="Shape 17"/>
          <p:cNvSpPr/>
          <p:nvPr/>
        </p:nvSpPr>
        <p:spPr>
          <a:xfrm>
            <a:off x="3931920" y="3209544"/>
            <a:ext cx="4023360" cy="219456"/>
          </a:xfrm>
          <a:prstGeom prst="rect">
            <a:avLst/>
          </a:prstGeom>
          <a:solidFill>
            <a:srgbClr val="1A2233"/>
          </a:solidFill>
          <a:ln/>
        </p:spPr>
      </p:sp>
      <p:sp>
        <p:nvSpPr>
          <p:cNvPr id="20" name="Shape 18"/>
          <p:cNvSpPr/>
          <p:nvPr/>
        </p:nvSpPr>
        <p:spPr>
          <a:xfrm>
            <a:off x="3931920" y="3209544"/>
            <a:ext cx="1207008" cy="219456"/>
          </a:xfrm>
          <a:prstGeom prst="rect">
            <a:avLst/>
          </a:prstGeom>
          <a:solidFill>
            <a:srgbClr val="C9A227"/>
          </a:solidFill>
          <a:ln/>
        </p:spPr>
      </p:sp>
      <p:sp>
        <p:nvSpPr>
          <p:cNvPr id="21" name="Text 19"/>
          <p:cNvSpPr/>
          <p:nvPr/>
        </p:nvSpPr>
        <p:spPr>
          <a:xfrm>
            <a:off x="8046720" y="3063240"/>
            <a:ext cx="1005840" cy="502920"/>
          </a:xfrm>
          <a:prstGeom prst="rect">
            <a:avLst/>
          </a:prstGeom>
          <a:noFill/>
          <a:ln/>
        </p:spPr>
        <p:txBody>
          <a:bodyPr wrap="square" lIns="0" tIns="0" rIns="0" bIns="0" rtlCol="0" anchor="ctr"/>
          <a:lstStyle/>
          <a:p>
            <a:pPr indent="0" marL="0">
              <a:buNone/>
            </a:pPr>
            <a:r>
              <a:rPr lang="en-US" sz="1300" dirty="0">
                <a:solidFill>
                  <a:srgbClr val="F4F1E8"/>
                </a:solidFill>
                <a:latin typeface="Calibri" pitchFamily="34" charset="0"/>
                <a:ea typeface="Calibri" pitchFamily="34" charset="-122"/>
                <a:cs typeface="Calibri" pitchFamily="34" charset="-120"/>
              </a:rPr>
              <a:t>$3,000</a:t>
            </a:r>
            <a:endParaRPr lang="en-US" sz="1300" dirty="0"/>
          </a:p>
        </p:txBody>
      </p:sp>
      <p:sp>
        <p:nvSpPr>
          <p:cNvPr id="22" name="Text 20"/>
          <p:cNvSpPr/>
          <p:nvPr/>
        </p:nvSpPr>
        <p:spPr>
          <a:xfrm>
            <a:off x="457200" y="3703320"/>
            <a:ext cx="3383280" cy="502920"/>
          </a:xfrm>
          <a:prstGeom prst="rect">
            <a:avLst/>
          </a:prstGeom>
          <a:noFill/>
          <a:ln/>
        </p:spPr>
        <p:txBody>
          <a:bodyPr wrap="square" lIns="0" tIns="0" rIns="0" bIns="0" rtlCol="0" anchor="ctr"/>
          <a:lstStyle/>
          <a:p>
            <a:pPr indent="0" marL="0">
              <a:buNone/>
            </a:pPr>
            <a:r>
              <a:rPr lang="en-US" sz="1300" dirty="0">
                <a:solidFill>
                  <a:srgbClr val="9AA3B5"/>
                </a:solidFill>
                <a:latin typeface="Calibri" pitchFamily="34" charset="0"/>
                <a:ea typeface="Calibri" pitchFamily="34" charset="-122"/>
                <a:cs typeface="Calibri" pitchFamily="34" charset="-120"/>
              </a:rPr>
              <a:t>Backend / telemetry</a:t>
            </a:r>
            <a:endParaRPr lang="en-US" sz="1300" dirty="0"/>
          </a:p>
        </p:txBody>
      </p:sp>
      <p:sp>
        <p:nvSpPr>
          <p:cNvPr id="23" name="Shape 21"/>
          <p:cNvSpPr/>
          <p:nvPr/>
        </p:nvSpPr>
        <p:spPr>
          <a:xfrm>
            <a:off x="3931920" y="3849624"/>
            <a:ext cx="4023360" cy="219456"/>
          </a:xfrm>
          <a:prstGeom prst="rect">
            <a:avLst/>
          </a:prstGeom>
          <a:solidFill>
            <a:srgbClr val="1A2233"/>
          </a:solidFill>
          <a:ln/>
        </p:spPr>
      </p:sp>
      <p:sp>
        <p:nvSpPr>
          <p:cNvPr id="24" name="Shape 22"/>
          <p:cNvSpPr/>
          <p:nvPr/>
        </p:nvSpPr>
        <p:spPr>
          <a:xfrm>
            <a:off x="3931920" y="3849624"/>
            <a:ext cx="1005840" cy="219456"/>
          </a:xfrm>
          <a:prstGeom prst="rect">
            <a:avLst/>
          </a:prstGeom>
          <a:solidFill>
            <a:srgbClr val="C9A227"/>
          </a:solidFill>
          <a:ln/>
        </p:spPr>
      </p:sp>
      <p:sp>
        <p:nvSpPr>
          <p:cNvPr id="25" name="Text 23"/>
          <p:cNvSpPr/>
          <p:nvPr/>
        </p:nvSpPr>
        <p:spPr>
          <a:xfrm>
            <a:off x="8046720" y="3703320"/>
            <a:ext cx="1005840" cy="502920"/>
          </a:xfrm>
          <a:prstGeom prst="rect">
            <a:avLst/>
          </a:prstGeom>
          <a:noFill/>
          <a:ln/>
        </p:spPr>
        <p:txBody>
          <a:bodyPr wrap="square" lIns="0" tIns="0" rIns="0" bIns="0" rtlCol="0" anchor="ctr"/>
          <a:lstStyle/>
          <a:p>
            <a:pPr indent="0" marL="0">
              <a:buNone/>
            </a:pPr>
            <a:r>
              <a:rPr lang="en-US" sz="1300" dirty="0">
                <a:solidFill>
                  <a:srgbClr val="F4F1E8"/>
                </a:solidFill>
                <a:latin typeface="Calibri" pitchFamily="34" charset="0"/>
                <a:ea typeface="Calibri" pitchFamily="34" charset="-122"/>
                <a:cs typeface="Calibri" pitchFamily="34" charset="-120"/>
              </a:rPr>
              <a:t>$2,500</a:t>
            </a:r>
            <a:endParaRPr lang="en-US" sz="1300" dirty="0"/>
          </a:p>
        </p:txBody>
      </p:sp>
      <p:sp>
        <p:nvSpPr>
          <p:cNvPr id="26" name="Text 24"/>
          <p:cNvSpPr/>
          <p:nvPr/>
        </p:nvSpPr>
        <p:spPr>
          <a:xfrm>
            <a:off x="457200" y="4343400"/>
            <a:ext cx="3383280" cy="502920"/>
          </a:xfrm>
          <a:prstGeom prst="rect">
            <a:avLst/>
          </a:prstGeom>
          <a:noFill/>
          <a:ln/>
        </p:spPr>
        <p:txBody>
          <a:bodyPr wrap="square" lIns="0" tIns="0" rIns="0" bIns="0" rtlCol="0" anchor="ctr"/>
          <a:lstStyle/>
          <a:p>
            <a:pPr indent="0" marL="0">
              <a:buNone/>
            </a:pPr>
            <a:r>
              <a:rPr lang="en-US" sz="1300" dirty="0">
                <a:solidFill>
                  <a:srgbClr val="9AA3B5"/>
                </a:solidFill>
                <a:latin typeface="Calibri" pitchFamily="34" charset="0"/>
                <a:ea typeface="Calibri" pitchFamily="34" charset="-122"/>
                <a:cs typeface="Calibri" pitchFamily="34" charset="-120"/>
              </a:rPr>
              <a:t>Security / reliability</a:t>
            </a:r>
            <a:endParaRPr lang="en-US" sz="1300" dirty="0"/>
          </a:p>
        </p:txBody>
      </p:sp>
      <p:sp>
        <p:nvSpPr>
          <p:cNvPr id="27" name="Shape 25"/>
          <p:cNvSpPr/>
          <p:nvPr/>
        </p:nvSpPr>
        <p:spPr>
          <a:xfrm>
            <a:off x="3931920" y="4489704"/>
            <a:ext cx="4023360" cy="219456"/>
          </a:xfrm>
          <a:prstGeom prst="rect">
            <a:avLst/>
          </a:prstGeom>
          <a:solidFill>
            <a:srgbClr val="1A2233"/>
          </a:solidFill>
          <a:ln/>
        </p:spPr>
      </p:sp>
      <p:sp>
        <p:nvSpPr>
          <p:cNvPr id="28" name="Shape 26"/>
          <p:cNvSpPr/>
          <p:nvPr/>
        </p:nvSpPr>
        <p:spPr>
          <a:xfrm>
            <a:off x="3931920" y="4489704"/>
            <a:ext cx="1005840" cy="219456"/>
          </a:xfrm>
          <a:prstGeom prst="rect">
            <a:avLst/>
          </a:prstGeom>
          <a:solidFill>
            <a:srgbClr val="C9A227"/>
          </a:solidFill>
          <a:ln/>
        </p:spPr>
      </p:sp>
      <p:sp>
        <p:nvSpPr>
          <p:cNvPr id="29" name="Text 27"/>
          <p:cNvSpPr/>
          <p:nvPr/>
        </p:nvSpPr>
        <p:spPr>
          <a:xfrm>
            <a:off x="8046720" y="4343400"/>
            <a:ext cx="1005840" cy="502920"/>
          </a:xfrm>
          <a:prstGeom prst="rect">
            <a:avLst/>
          </a:prstGeom>
          <a:noFill/>
          <a:ln/>
        </p:spPr>
        <p:txBody>
          <a:bodyPr wrap="square" lIns="0" tIns="0" rIns="0" bIns="0" rtlCol="0" anchor="ctr"/>
          <a:lstStyle/>
          <a:p>
            <a:pPr indent="0" marL="0">
              <a:buNone/>
            </a:pPr>
            <a:r>
              <a:rPr lang="en-US" sz="1300" dirty="0">
                <a:solidFill>
                  <a:srgbClr val="F4F1E8"/>
                </a:solidFill>
                <a:latin typeface="Calibri" pitchFamily="34" charset="0"/>
                <a:ea typeface="Calibri" pitchFamily="34" charset="-122"/>
                <a:cs typeface="Calibri" pitchFamily="34" charset="-120"/>
              </a:rPr>
              <a:t>$2,500</a:t>
            </a:r>
            <a:endParaRPr lang="en-US" sz="1300" dirty="0"/>
          </a:p>
        </p:txBody>
      </p:sp>
      <p:sp>
        <p:nvSpPr>
          <p:cNvPr id="30" name="Shape 28"/>
          <p:cNvSpPr/>
          <p:nvPr/>
        </p:nvSpPr>
        <p:spPr>
          <a:xfrm>
            <a:off x="9189720" y="1143000"/>
            <a:ext cx="2514600" cy="2103120"/>
          </a:xfrm>
          <a:prstGeom prst="rect">
            <a:avLst/>
          </a:prstGeom>
          <a:solidFill>
            <a:srgbClr val="C9A227"/>
          </a:solidFill>
          <a:ln/>
        </p:spPr>
      </p:sp>
      <p:sp>
        <p:nvSpPr>
          <p:cNvPr id="31" name="Text 29"/>
          <p:cNvSpPr/>
          <p:nvPr/>
        </p:nvSpPr>
        <p:spPr>
          <a:xfrm>
            <a:off x="9281160" y="1371600"/>
            <a:ext cx="2331720" cy="502920"/>
          </a:xfrm>
          <a:prstGeom prst="rect">
            <a:avLst/>
          </a:prstGeom>
          <a:noFill/>
          <a:ln/>
        </p:spPr>
        <p:txBody>
          <a:bodyPr wrap="square" lIns="0" tIns="0" rIns="0" bIns="0" rtlCol="0" anchor="ctr"/>
          <a:lstStyle/>
          <a:p>
            <a:pPr algn="ctr" indent="0" marL="0">
              <a:buNone/>
            </a:pPr>
            <a:r>
              <a:rPr lang="en-US" sz="2400" dirty="0">
                <a:solidFill>
                  <a:srgbClr val="0B1220"/>
                </a:solidFill>
                <a:latin typeface="Georgia" pitchFamily="34" charset="0"/>
                <a:ea typeface="Georgia" pitchFamily="34" charset="-122"/>
                <a:cs typeface="Georgia" pitchFamily="34" charset="-120"/>
              </a:rPr>
              <a:t>$25,000</a:t>
            </a:r>
            <a:endParaRPr lang="en-US" sz="2400" dirty="0"/>
          </a:p>
        </p:txBody>
      </p:sp>
      <p:sp>
        <p:nvSpPr>
          <p:cNvPr id="32" name="Text 30"/>
          <p:cNvSpPr/>
          <p:nvPr/>
        </p:nvSpPr>
        <p:spPr>
          <a:xfrm>
            <a:off x="9326880" y="1965960"/>
            <a:ext cx="2240280" cy="502920"/>
          </a:xfrm>
          <a:prstGeom prst="rect">
            <a:avLst/>
          </a:prstGeom>
          <a:noFill/>
          <a:ln/>
        </p:spPr>
        <p:txBody>
          <a:bodyPr wrap="square" lIns="0" tIns="0" rIns="0" bIns="0" rtlCol="0" anchor="ctr"/>
          <a:lstStyle/>
          <a:p>
            <a:pPr algn="ctr" indent="0" marL="0">
              <a:buNone/>
            </a:pPr>
            <a:r>
              <a:rPr lang="en-US" sz="1300" dirty="0">
                <a:solidFill>
                  <a:srgbClr val="0B1220"/>
                </a:solidFill>
                <a:latin typeface="Calibri" pitchFamily="34" charset="0"/>
                <a:ea typeface="Calibri" pitchFamily="34" charset="-122"/>
                <a:cs typeface="Calibri" pitchFamily="34" charset="-120"/>
              </a:rPr>
              <a:t>Total requested</a:t>
            </a:r>
            <a:endParaRPr lang="en-US" sz="1300" dirty="0"/>
          </a:p>
          <a:p>
            <a:pPr algn="ctr" indent="0" marL="0">
              <a:buNone/>
            </a:pPr>
            <a:r>
              <a:rPr lang="en-US" sz="1300" dirty="0">
                <a:solidFill>
                  <a:srgbClr val="0B1220"/>
                </a:solidFill>
                <a:latin typeface="Calibri" pitchFamily="34" charset="0"/>
                <a:ea typeface="Calibri" pitchFamily="34" charset="-122"/>
                <a:cs typeface="Calibri" pitchFamily="34" charset="-120"/>
              </a:rPr>
              <a:t>over 12 weeks</a:t>
            </a:r>
            <a:endParaRPr lang="en-US" sz="1300" dirty="0"/>
          </a:p>
        </p:txBody>
      </p:sp>
      <p:sp>
        <p:nvSpPr>
          <p:cNvPr id="33" name="Text 31"/>
          <p:cNvSpPr/>
          <p:nvPr/>
        </p:nvSpPr>
        <p:spPr>
          <a:xfrm>
            <a:off x="9326880" y="2514600"/>
            <a:ext cx="2240280" cy="502920"/>
          </a:xfrm>
          <a:prstGeom prst="rect">
            <a:avLst/>
          </a:prstGeom>
          <a:noFill/>
          <a:ln/>
        </p:spPr>
        <p:txBody>
          <a:bodyPr wrap="square" lIns="0" tIns="0" rIns="0" bIns="0" rtlCol="0" anchor="ctr"/>
          <a:lstStyle/>
          <a:p>
            <a:pPr algn="ctr" indent="0" marL="0">
              <a:buNone/>
            </a:pPr>
            <a:r>
              <a:rPr lang="en-US" sz="1200" dirty="0">
                <a:solidFill>
                  <a:srgbClr val="0B1220"/>
                </a:solidFill>
                <a:latin typeface="Calibri" pitchFamily="34" charset="0"/>
                <a:ea typeface="Calibri" pitchFamily="34" charset="-122"/>
                <a:cs typeface="Calibri" pitchFamily="34" charset="-120"/>
              </a:rPr>
              <a:t>Paid on milestone exits,</a:t>
            </a:r>
            <a:endParaRPr lang="en-US" sz="1200" dirty="0"/>
          </a:p>
          <a:p>
            <a:pPr algn="ctr" indent="0" marL="0">
              <a:buNone/>
            </a:pPr>
            <a:r>
              <a:rPr lang="en-US" sz="1200" dirty="0">
                <a:solidFill>
                  <a:srgbClr val="0B1220"/>
                </a:solidFill>
                <a:latin typeface="Calibri" pitchFamily="34" charset="0"/>
                <a:ea typeface="Calibri" pitchFamily="34" charset="-122"/>
                <a:cs typeface="Calibri" pitchFamily="34" charset="-120"/>
              </a:rPr>
              <a:t>not up front.</a:t>
            </a:r>
            <a:endParaRPr lang="en-US" sz="1200" dirty="0"/>
          </a:p>
        </p:txBody>
      </p:sp>
      <p:sp>
        <p:nvSpPr>
          <p:cNvPr id="34" name="Shape 32"/>
          <p:cNvSpPr/>
          <p:nvPr/>
        </p:nvSpPr>
        <p:spPr>
          <a:xfrm>
            <a:off x="9189720" y="3383280"/>
            <a:ext cx="2514600" cy="2743200"/>
          </a:xfrm>
          <a:prstGeom prst="rect">
            <a:avLst/>
          </a:prstGeom>
          <a:solidFill>
            <a:srgbClr val="151C2E"/>
          </a:solidFill>
          <a:ln w="12700">
            <a:solidFill>
              <a:srgbClr val="243049"/>
            </a:solidFill>
            <a:prstDash val="solid"/>
          </a:ln>
        </p:spPr>
      </p:sp>
      <p:sp>
        <p:nvSpPr>
          <p:cNvPr id="35" name="Text 33"/>
          <p:cNvSpPr/>
          <p:nvPr/>
        </p:nvSpPr>
        <p:spPr>
          <a:xfrm>
            <a:off x="9326880" y="3566160"/>
            <a:ext cx="2240280" cy="256032"/>
          </a:xfrm>
          <a:prstGeom prst="rect">
            <a:avLst/>
          </a:prstGeom>
          <a:noFill/>
          <a:ln/>
        </p:spPr>
        <p:txBody>
          <a:bodyPr wrap="square" lIns="0" tIns="0" rIns="0" bIns="0" rtlCol="0" anchor="ctr"/>
          <a:lstStyle/>
          <a:p>
            <a:pPr indent="0" marL="0">
              <a:buNone/>
            </a:pPr>
            <a:r>
              <a:rPr lang="en-US" sz="1100" b="1" spc="100" kern="0" dirty="0">
                <a:solidFill>
                  <a:srgbClr val="C9A227"/>
                </a:solidFill>
                <a:latin typeface="Calibri" pitchFamily="34" charset="0"/>
                <a:ea typeface="Calibri" pitchFamily="34" charset="-122"/>
                <a:cs typeface="Calibri" pitchFamily="34" charset="-120"/>
              </a:rPr>
              <a:t>WHY THIS SIZE</a:t>
            </a:r>
            <a:endParaRPr lang="en-US" sz="1100" dirty="0"/>
          </a:p>
        </p:txBody>
      </p:sp>
      <p:sp>
        <p:nvSpPr>
          <p:cNvPr id="36" name="Text 34"/>
          <p:cNvSpPr/>
          <p:nvPr/>
        </p:nvSpPr>
        <p:spPr>
          <a:xfrm>
            <a:off x="9326880" y="3886200"/>
            <a:ext cx="2240280" cy="2057400"/>
          </a:xfrm>
          <a:prstGeom prst="rect">
            <a:avLst/>
          </a:prstGeom>
          <a:noFill/>
          <a:ln/>
        </p:spPr>
        <p:txBody>
          <a:bodyPr wrap="square" lIns="0" tIns="0" rIns="0" bIns="0" rtlCol="0" anchor="ctr"/>
          <a:lstStyle/>
          <a:p>
            <a:pPr indent="0" marL="0">
              <a:buNone/>
            </a:pPr>
            <a:r>
              <a:rPr lang="en-US" sz="1300" dirty="0">
                <a:solidFill>
                  <a:srgbClr val="9AA3B5"/>
                </a:solidFill>
                <a:latin typeface="Calibri" pitchFamily="34" charset="0"/>
                <a:ea typeface="Calibri" pitchFamily="34" charset="-122"/>
                <a:cs typeface="Calibri" pitchFamily="34" charset="-120"/>
              </a:rPr>
              <a:t>Engine, art pipeline, backend, and store presence already exist and are paid for. The grant buys focused engineering time on the Seeker experience, the first session, and multi-language support.</a:t>
            </a:r>
            <a:endParaRPr lang="en-US" sz="1300" dirty="0"/>
          </a:p>
        </p:txBody>
      </p:sp>
      <p:sp>
        <p:nvSpPr>
          <p:cNvPr id="37" name="Shape 35"/>
          <p:cNvSpPr/>
          <p:nvPr/>
        </p:nvSpPr>
        <p:spPr>
          <a:xfrm>
            <a:off x="0" y="6656832"/>
            <a:ext cx="12161520" cy="201168"/>
          </a:xfrm>
          <a:prstGeom prst="rect">
            <a:avLst/>
          </a:prstGeom>
          <a:solidFill>
            <a:srgbClr val="0B1220"/>
          </a:solidFill>
          <a:ln/>
        </p:spPr>
      </p:sp>
      <p:sp>
        <p:nvSpPr>
          <p:cNvPr id="38" name="Shape 36"/>
          <p:cNvSpPr/>
          <p:nvPr/>
        </p:nvSpPr>
        <p:spPr>
          <a:xfrm>
            <a:off x="0" y="6656832"/>
            <a:ext cx="12161520" cy="13716"/>
          </a:xfrm>
          <a:prstGeom prst="rect">
            <a:avLst/>
          </a:prstGeom>
          <a:solidFill>
            <a:srgbClr val="243049"/>
          </a:solidFill>
          <a:ln/>
        </p:spPr>
      </p:sp>
      <p:sp>
        <p:nvSpPr>
          <p:cNvPr id="39" name="Text 37"/>
          <p:cNvSpPr/>
          <p:nvPr/>
        </p:nvSpPr>
        <p:spPr>
          <a:xfrm>
            <a:off x="411480" y="6675120"/>
            <a:ext cx="7498080" cy="164592"/>
          </a:xfrm>
          <a:prstGeom prst="rect">
            <a:avLst/>
          </a:prstGeom>
          <a:noFill/>
          <a:ln/>
        </p:spPr>
        <p:txBody>
          <a:bodyPr wrap="square" lIns="0" tIns="0" rIns="0" bIns="0" rtlCol="0" anchor="ctr"/>
          <a:lstStyle/>
          <a:p>
            <a:pPr indent="0" marL="0">
              <a:buNone/>
            </a:pPr>
            <a:r>
              <a:rPr lang="en-US" sz="900" spc="60" kern="0" dirty="0">
                <a:solidFill>
                  <a:srgbClr val="6E7789"/>
                </a:solidFill>
                <a:latin typeface="Calibri" pitchFamily="34" charset="0"/>
                <a:ea typeface="Calibri" pitchFamily="34" charset="-122"/>
                <a:cs typeface="Calibri" pitchFamily="34" charset="-120"/>
              </a:rPr>
              <a:t>DENELLE STUDIOS  ·  CONFIDENTIAL GRANT APPLICATION</a:t>
            </a:r>
            <a:endParaRPr lang="en-US" sz="900" dirty="0"/>
          </a:p>
        </p:txBody>
      </p:sp>
      <p:sp>
        <p:nvSpPr>
          <p:cNvPr id="40" name="Text 38"/>
          <p:cNvSpPr/>
          <p:nvPr/>
        </p:nvSpPr>
        <p:spPr>
          <a:xfrm>
            <a:off x="7863840" y="6675120"/>
            <a:ext cx="3886200" cy="164592"/>
          </a:xfrm>
          <a:prstGeom prst="rect">
            <a:avLst/>
          </a:prstGeom>
          <a:noFill/>
          <a:ln/>
        </p:spPr>
        <p:txBody>
          <a:bodyPr wrap="square" lIns="0" tIns="0" rIns="0" bIns="0" rtlCol="0" anchor="ctr"/>
          <a:lstStyle/>
          <a:p>
            <a:pPr algn="r" indent="0" marL="0">
              <a:buNone/>
            </a:pPr>
            <a:r>
              <a:rPr lang="en-US" sz="900" dirty="0">
                <a:solidFill>
                  <a:srgbClr val="6E7789"/>
                </a:solidFill>
                <a:latin typeface="Calibri" pitchFamily="34" charset="0"/>
                <a:ea typeface="Calibri" pitchFamily="34" charset="-122"/>
                <a:cs typeface="Calibri" pitchFamily="34" charset="-120"/>
              </a:rPr>
              <a:t>ECHOES OF ELARION  ·  10 / 14</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B1220"/>
          </a:solidFill>
          <a:ln/>
        </p:spPr>
      </p:sp>
      <p:sp>
        <p:nvSpPr>
          <p:cNvPr id="3" name="Shape 1"/>
          <p:cNvSpPr/>
          <p:nvPr/>
        </p:nvSpPr>
        <p:spPr>
          <a:xfrm>
            <a:off x="457200" y="256032"/>
            <a:ext cx="164592" cy="164592"/>
          </a:xfrm>
          <a:prstGeom prst="rect">
            <a:avLst/>
          </a:prstGeom>
          <a:solidFill>
            <a:srgbClr val="C9A227"/>
          </a:solidFill>
          <a:ln/>
        </p:spPr>
      </p:sp>
      <p:sp>
        <p:nvSpPr>
          <p:cNvPr id="4" name="Text 2"/>
          <p:cNvSpPr/>
          <p:nvPr/>
        </p:nvSpPr>
        <p:spPr>
          <a:xfrm>
            <a:off x="731520" y="219456"/>
            <a:ext cx="9144000" cy="237744"/>
          </a:xfrm>
          <a:prstGeom prst="rect">
            <a:avLst/>
          </a:prstGeom>
          <a:noFill/>
          <a:ln/>
        </p:spPr>
        <p:txBody>
          <a:bodyPr wrap="square" lIns="0" tIns="0" rIns="0" bIns="0" rtlCol="0" anchor="ctr"/>
          <a:lstStyle/>
          <a:p>
            <a:pPr indent="0" marL="0">
              <a:buNone/>
            </a:pPr>
            <a:r>
              <a:rPr lang="en-US" sz="1100" b="1" spc="160" kern="0" dirty="0">
                <a:solidFill>
                  <a:srgbClr val="C9A227"/>
                </a:solidFill>
                <a:latin typeface="Calibri" pitchFamily="34" charset="0"/>
                <a:ea typeface="Calibri" pitchFamily="34" charset="-122"/>
                <a:cs typeface="Calibri" pitchFamily="34" charset="-120"/>
              </a:rPr>
              <a:t>SUCCESS METRICS</a:t>
            </a:r>
            <a:endParaRPr lang="en-US" sz="1100" dirty="0"/>
          </a:p>
        </p:txBody>
      </p:sp>
      <p:sp>
        <p:nvSpPr>
          <p:cNvPr id="5" name="Text 3"/>
          <p:cNvSpPr/>
          <p:nvPr/>
        </p:nvSpPr>
        <p:spPr>
          <a:xfrm>
            <a:off x="457200" y="475488"/>
            <a:ext cx="11247120" cy="502920"/>
          </a:xfrm>
          <a:prstGeom prst="rect">
            <a:avLst/>
          </a:prstGeom>
          <a:noFill/>
          <a:ln/>
        </p:spPr>
        <p:txBody>
          <a:bodyPr wrap="square" lIns="0" tIns="0" rIns="0" bIns="0" rtlCol="0" anchor="ctr"/>
          <a:lstStyle/>
          <a:p>
            <a:pPr indent="0" marL="0">
              <a:buNone/>
            </a:pPr>
            <a:r>
              <a:rPr lang="en-US" sz="2800" dirty="0">
                <a:solidFill>
                  <a:srgbClr val="F4F1E8"/>
                </a:solidFill>
                <a:latin typeface="Georgia" pitchFamily="34" charset="0"/>
                <a:ea typeface="Georgia" pitchFamily="34" charset="-122"/>
                <a:cs typeface="Georgia" pitchFamily="34" charset="-120"/>
              </a:rPr>
              <a:t>How we will know it worked.</a:t>
            </a:r>
            <a:endParaRPr lang="en-US" sz="2800" dirty="0"/>
          </a:p>
        </p:txBody>
      </p:sp>
      <p:sp>
        <p:nvSpPr>
          <p:cNvPr id="6" name="Text 4"/>
          <p:cNvSpPr/>
          <p:nvPr/>
        </p:nvSpPr>
        <p:spPr>
          <a:xfrm>
            <a:off x="457200" y="1051560"/>
            <a:ext cx="11247120" cy="320040"/>
          </a:xfrm>
          <a:prstGeom prst="rect">
            <a:avLst/>
          </a:prstGeom>
          <a:noFill/>
          <a:ln/>
        </p:spPr>
        <p:txBody>
          <a:bodyPr wrap="square" lIns="0" tIns="0" rIns="0" bIns="0" rtlCol="0" anchor="ctr"/>
          <a:lstStyle/>
          <a:p>
            <a:pPr indent="0" marL="0">
              <a:buNone/>
            </a:pPr>
            <a:r>
              <a:rPr lang="en-US" sz="1500" dirty="0">
                <a:solidFill>
                  <a:srgbClr val="9AA3B5"/>
                </a:solidFill>
                <a:latin typeface="Calibri" pitchFamily="34" charset="0"/>
                <a:ea typeface="Calibri" pitchFamily="34" charset="-122"/>
                <a:cs typeface="Calibri" pitchFamily="34" charset="-120"/>
              </a:rPr>
              <a:t>Real baselines captured in Milestone 1. No invented numbers in this application.</a:t>
            </a:r>
            <a:endParaRPr lang="en-US" sz="1500" dirty="0"/>
          </a:p>
        </p:txBody>
      </p:sp>
      <p:sp>
        <p:nvSpPr>
          <p:cNvPr id="7" name="Shape 5"/>
          <p:cNvSpPr/>
          <p:nvPr/>
        </p:nvSpPr>
        <p:spPr>
          <a:xfrm>
            <a:off x="457200" y="1508760"/>
            <a:ext cx="3657600" cy="3977640"/>
          </a:xfrm>
          <a:prstGeom prst="rect">
            <a:avLst/>
          </a:prstGeom>
          <a:solidFill>
            <a:srgbClr val="151C2E"/>
          </a:solidFill>
          <a:ln w="12700">
            <a:solidFill>
              <a:srgbClr val="243049"/>
            </a:solidFill>
            <a:prstDash val="solid"/>
          </a:ln>
        </p:spPr>
      </p:sp>
      <p:sp>
        <p:nvSpPr>
          <p:cNvPr id="8" name="Shape 6"/>
          <p:cNvSpPr/>
          <p:nvPr/>
        </p:nvSpPr>
        <p:spPr>
          <a:xfrm>
            <a:off x="457200" y="1508760"/>
            <a:ext cx="3657600" cy="73152"/>
          </a:xfrm>
          <a:prstGeom prst="rect">
            <a:avLst/>
          </a:prstGeom>
          <a:solidFill>
            <a:srgbClr val="C9A227"/>
          </a:solidFill>
          <a:ln/>
        </p:spPr>
      </p:sp>
      <p:sp>
        <p:nvSpPr>
          <p:cNvPr id="9" name="Text 7"/>
          <p:cNvSpPr/>
          <p:nvPr/>
        </p:nvSpPr>
        <p:spPr>
          <a:xfrm>
            <a:off x="685800" y="1737360"/>
            <a:ext cx="3200400" cy="320040"/>
          </a:xfrm>
          <a:prstGeom prst="rect">
            <a:avLst/>
          </a:prstGeom>
          <a:noFill/>
          <a:ln/>
        </p:spPr>
        <p:txBody>
          <a:bodyPr wrap="square" lIns="0" tIns="0" rIns="0" bIns="0" rtlCol="0" anchor="ctr"/>
          <a:lstStyle/>
          <a:p>
            <a:pPr indent="0" marL="0">
              <a:buNone/>
            </a:pPr>
            <a:r>
              <a:rPr lang="en-US" sz="1300" b="1" spc="140" kern="0" dirty="0">
                <a:solidFill>
                  <a:srgbClr val="C9A227"/>
                </a:solidFill>
                <a:latin typeface="Calibri" pitchFamily="34" charset="0"/>
                <a:ea typeface="Calibri" pitchFamily="34" charset="-122"/>
                <a:cs typeface="Calibri" pitchFamily="34" charset="-120"/>
              </a:rPr>
              <a:t>ACTIVATION</a:t>
            </a:r>
            <a:endParaRPr lang="en-US" sz="1300" dirty="0"/>
          </a:p>
        </p:txBody>
      </p:sp>
      <p:sp>
        <p:nvSpPr>
          <p:cNvPr id="10" name="Text 8"/>
          <p:cNvSpPr/>
          <p:nvPr/>
        </p:nvSpPr>
        <p:spPr>
          <a:xfrm>
            <a:off x="685800" y="2240280"/>
            <a:ext cx="228600" cy="502920"/>
          </a:xfrm>
          <a:prstGeom prst="rect">
            <a:avLst/>
          </a:prstGeom>
          <a:noFill/>
          <a:ln/>
        </p:spPr>
        <p:txBody>
          <a:bodyPr wrap="square" lIns="0" tIns="0" rIns="0" bIns="0" rtlCol="0" anchor="ctr"/>
          <a:lstStyle/>
          <a:p>
            <a:pPr indent="0" marL="0">
              <a:buNone/>
            </a:pPr>
            <a:r>
              <a:rPr lang="en-US" sz="1200" dirty="0">
                <a:solidFill>
                  <a:srgbClr val="C9A227"/>
                </a:solidFill>
                <a:latin typeface="Calibri" pitchFamily="34" charset="0"/>
                <a:ea typeface="Calibri" pitchFamily="34" charset="-122"/>
                <a:cs typeface="Calibri" pitchFamily="34" charset="-120"/>
              </a:rPr>
              <a:t>▸</a:t>
            </a:r>
            <a:endParaRPr lang="en-US" sz="1200" dirty="0"/>
          </a:p>
        </p:txBody>
      </p:sp>
      <p:sp>
        <p:nvSpPr>
          <p:cNvPr id="11" name="Text 9"/>
          <p:cNvSpPr/>
          <p:nvPr/>
        </p:nvSpPr>
        <p:spPr>
          <a:xfrm>
            <a:off x="960120" y="2240280"/>
            <a:ext cx="2926080" cy="502920"/>
          </a:xfrm>
          <a:prstGeom prst="rect">
            <a:avLst/>
          </a:prstGeom>
          <a:noFill/>
          <a:ln/>
        </p:spPr>
        <p:txBody>
          <a:bodyPr wrap="square" lIns="0" tIns="0" rIns="0" bIns="0" rtlCol="0" anchor="ctr"/>
          <a:lstStyle/>
          <a:p>
            <a:pPr indent="0" marL="0">
              <a:buNone/>
            </a:pPr>
            <a:r>
              <a:rPr lang="en-US" sz="1400" dirty="0">
                <a:solidFill>
                  <a:srgbClr val="F4F1E8"/>
                </a:solidFill>
                <a:latin typeface="Calibri" pitchFamily="34" charset="0"/>
                <a:ea typeface="Calibri" pitchFamily="34" charset="-122"/>
                <a:cs typeface="Calibri" pitchFamily="34" charset="-120"/>
              </a:rPr>
              <a:t>dApp Store installs and qualified launches</a:t>
            </a:r>
            <a:endParaRPr lang="en-US" sz="1400" dirty="0"/>
          </a:p>
        </p:txBody>
      </p:sp>
      <p:sp>
        <p:nvSpPr>
          <p:cNvPr id="12" name="Text 10"/>
          <p:cNvSpPr/>
          <p:nvPr/>
        </p:nvSpPr>
        <p:spPr>
          <a:xfrm>
            <a:off x="685800" y="2807208"/>
            <a:ext cx="228600" cy="502920"/>
          </a:xfrm>
          <a:prstGeom prst="rect">
            <a:avLst/>
          </a:prstGeom>
          <a:noFill/>
          <a:ln/>
        </p:spPr>
        <p:txBody>
          <a:bodyPr wrap="square" lIns="0" tIns="0" rIns="0" bIns="0" rtlCol="0" anchor="ctr"/>
          <a:lstStyle/>
          <a:p>
            <a:pPr indent="0" marL="0">
              <a:buNone/>
            </a:pPr>
            <a:r>
              <a:rPr lang="en-US" sz="1200" dirty="0">
                <a:solidFill>
                  <a:srgbClr val="C9A227"/>
                </a:solidFill>
                <a:latin typeface="Calibri" pitchFamily="34" charset="0"/>
                <a:ea typeface="Calibri" pitchFamily="34" charset="-122"/>
                <a:cs typeface="Calibri" pitchFamily="34" charset="-120"/>
              </a:rPr>
              <a:t>▸</a:t>
            </a:r>
            <a:endParaRPr lang="en-US" sz="1200" dirty="0"/>
          </a:p>
        </p:txBody>
      </p:sp>
      <p:sp>
        <p:nvSpPr>
          <p:cNvPr id="13" name="Text 11"/>
          <p:cNvSpPr/>
          <p:nvPr/>
        </p:nvSpPr>
        <p:spPr>
          <a:xfrm>
            <a:off x="960120" y="2807208"/>
            <a:ext cx="2926080" cy="502920"/>
          </a:xfrm>
          <a:prstGeom prst="rect">
            <a:avLst/>
          </a:prstGeom>
          <a:noFill/>
          <a:ln/>
        </p:spPr>
        <p:txBody>
          <a:bodyPr wrap="square" lIns="0" tIns="0" rIns="0" bIns="0" rtlCol="0" anchor="ctr"/>
          <a:lstStyle/>
          <a:p>
            <a:pPr indent="0" marL="0">
              <a:buNone/>
            </a:pPr>
            <a:r>
              <a:rPr lang="en-US" sz="1400" dirty="0">
                <a:solidFill>
                  <a:srgbClr val="F4F1E8"/>
                </a:solidFill>
                <a:latin typeface="Calibri" pitchFamily="34" charset="0"/>
                <a:ea typeface="Calibri" pitchFamily="34" charset="-122"/>
                <a:cs typeface="Calibri" pitchFamily="34" charset="-120"/>
              </a:rPr>
              <a:t>Wallet-connect completion rate</a:t>
            </a:r>
            <a:endParaRPr lang="en-US" sz="1400" dirty="0"/>
          </a:p>
        </p:txBody>
      </p:sp>
      <p:sp>
        <p:nvSpPr>
          <p:cNvPr id="14" name="Text 12"/>
          <p:cNvSpPr/>
          <p:nvPr/>
        </p:nvSpPr>
        <p:spPr>
          <a:xfrm>
            <a:off x="685800" y="3374136"/>
            <a:ext cx="228600" cy="502920"/>
          </a:xfrm>
          <a:prstGeom prst="rect">
            <a:avLst/>
          </a:prstGeom>
          <a:noFill/>
          <a:ln/>
        </p:spPr>
        <p:txBody>
          <a:bodyPr wrap="square" lIns="0" tIns="0" rIns="0" bIns="0" rtlCol="0" anchor="ctr"/>
          <a:lstStyle/>
          <a:p>
            <a:pPr indent="0" marL="0">
              <a:buNone/>
            </a:pPr>
            <a:r>
              <a:rPr lang="en-US" sz="1200" dirty="0">
                <a:solidFill>
                  <a:srgbClr val="C9A227"/>
                </a:solidFill>
                <a:latin typeface="Calibri" pitchFamily="34" charset="0"/>
                <a:ea typeface="Calibri" pitchFamily="34" charset="-122"/>
                <a:cs typeface="Calibri" pitchFamily="34" charset="-120"/>
              </a:rPr>
              <a:t>▸</a:t>
            </a:r>
            <a:endParaRPr lang="en-US" sz="1200" dirty="0"/>
          </a:p>
        </p:txBody>
      </p:sp>
      <p:sp>
        <p:nvSpPr>
          <p:cNvPr id="15" name="Text 13"/>
          <p:cNvSpPr/>
          <p:nvPr/>
        </p:nvSpPr>
        <p:spPr>
          <a:xfrm>
            <a:off x="960120" y="3374136"/>
            <a:ext cx="2926080" cy="502920"/>
          </a:xfrm>
          <a:prstGeom prst="rect">
            <a:avLst/>
          </a:prstGeom>
          <a:noFill/>
          <a:ln/>
        </p:spPr>
        <p:txBody>
          <a:bodyPr wrap="square" lIns="0" tIns="0" rIns="0" bIns="0" rtlCol="0" anchor="ctr"/>
          <a:lstStyle/>
          <a:p>
            <a:pPr indent="0" marL="0">
              <a:buNone/>
            </a:pPr>
            <a:r>
              <a:rPr lang="en-US" sz="1400" dirty="0">
                <a:solidFill>
                  <a:srgbClr val="F4F1E8"/>
                </a:solidFill>
                <a:latin typeface="Calibri" pitchFamily="34" charset="0"/>
                <a:ea typeface="Calibri" pitchFamily="34" charset="-122"/>
                <a:cs typeface="Calibri" pitchFamily="34" charset="-120"/>
              </a:rPr>
              <a:t>First-session completion rate</a:t>
            </a:r>
            <a:endParaRPr lang="en-US" sz="1400" dirty="0"/>
          </a:p>
        </p:txBody>
      </p:sp>
      <p:sp>
        <p:nvSpPr>
          <p:cNvPr id="16" name="Text 14"/>
          <p:cNvSpPr/>
          <p:nvPr/>
        </p:nvSpPr>
        <p:spPr>
          <a:xfrm>
            <a:off x="685800" y="3941064"/>
            <a:ext cx="228600" cy="502920"/>
          </a:xfrm>
          <a:prstGeom prst="rect">
            <a:avLst/>
          </a:prstGeom>
          <a:noFill/>
          <a:ln/>
        </p:spPr>
        <p:txBody>
          <a:bodyPr wrap="square" lIns="0" tIns="0" rIns="0" bIns="0" rtlCol="0" anchor="ctr"/>
          <a:lstStyle/>
          <a:p>
            <a:pPr indent="0" marL="0">
              <a:buNone/>
            </a:pPr>
            <a:r>
              <a:rPr lang="en-US" sz="1200" dirty="0">
                <a:solidFill>
                  <a:srgbClr val="C9A227"/>
                </a:solidFill>
                <a:latin typeface="Calibri" pitchFamily="34" charset="0"/>
                <a:ea typeface="Calibri" pitchFamily="34" charset="-122"/>
                <a:cs typeface="Calibri" pitchFamily="34" charset="-120"/>
              </a:rPr>
              <a:t>▸</a:t>
            </a:r>
            <a:endParaRPr lang="en-US" sz="1200" dirty="0"/>
          </a:p>
        </p:txBody>
      </p:sp>
      <p:sp>
        <p:nvSpPr>
          <p:cNvPr id="17" name="Text 15"/>
          <p:cNvSpPr/>
          <p:nvPr/>
        </p:nvSpPr>
        <p:spPr>
          <a:xfrm>
            <a:off x="960120" y="3941064"/>
            <a:ext cx="2926080" cy="502920"/>
          </a:xfrm>
          <a:prstGeom prst="rect">
            <a:avLst/>
          </a:prstGeom>
          <a:noFill/>
          <a:ln/>
        </p:spPr>
        <p:txBody>
          <a:bodyPr wrap="square" lIns="0" tIns="0" rIns="0" bIns="0" rtlCol="0" anchor="ctr"/>
          <a:lstStyle/>
          <a:p>
            <a:pPr indent="0" marL="0">
              <a:buNone/>
            </a:pPr>
            <a:r>
              <a:rPr lang="en-US" sz="1400" dirty="0">
                <a:solidFill>
                  <a:srgbClr val="F4F1E8"/>
                </a:solidFill>
                <a:latin typeface="Calibri" pitchFamily="34" charset="0"/>
                <a:ea typeface="Calibri" pitchFamily="34" charset="-122"/>
                <a:cs typeface="Calibri" pitchFamily="34" charset="-120"/>
              </a:rPr>
              <a:t>Time to first meaningful action</a:t>
            </a:r>
            <a:endParaRPr lang="en-US" sz="1400" dirty="0"/>
          </a:p>
        </p:txBody>
      </p:sp>
      <p:sp>
        <p:nvSpPr>
          <p:cNvPr id="18" name="Text 16"/>
          <p:cNvSpPr/>
          <p:nvPr/>
        </p:nvSpPr>
        <p:spPr>
          <a:xfrm>
            <a:off x="685800" y="4507992"/>
            <a:ext cx="228600" cy="502920"/>
          </a:xfrm>
          <a:prstGeom prst="rect">
            <a:avLst/>
          </a:prstGeom>
          <a:noFill/>
          <a:ln/>
        </p:spPr>
        <p:txBody>
          <a:bodyPr wrap="square" lIns="0" tIns="0" rIns="0" bIns="0" rtlCol="0" anchor="ctr"/>
          <a:lstStyle/>
          <a:p>
            <a:pPr indent="0" marL="0">
              <a:buNone/>
            </a:pPr>
            <a:r>
              <a:rPr lang="en-US" sz="1200" dirty="0">
                <a:solidFill>
                  <a:srgbClr val="C9A227"/>
                </a:solidFill>
                <a:latin typeface="Calibri" pitchFamily="34" charset="0"/>
                <a:ea typeface="Calibri" pitchFamily="34" charset="-122"/>
                <a:cs typeface="Calibri" pitchFamily="34" charset="-120"/>
              </a:rPr>
              <a:t>▸</a:t>
            </a:r>
            <a:endParaRPr lang="en-US" sz="1200" dirty="0"/>
          </a:p>
        </p:txBody>
      </p:sp>
      <p:sp>
        <p:nvSpPr>
          <p:cNvPr id="19" name="Text 17"/>
          <p:cNvSpPr/>
          <p:nvPr/>
        </p:nvSpPr>
        <p:spPr>
          <a:xfrm>
            <a:off x="960120" y="4507992"/>
            <a:ext cx="2926080" cy="502920"/>
          </a:xfrm>
          <a:prstGeom prst="rect">
            <a:avLst/>
          </a:prstGeom>
          <a:noFill/>
          <a:ln/>
        </p:spPr>
        <p:txBody>
          <a:bodyPr wrap="square" lIns="0" tIns="0" rIns="0" bIns="0" rtlCol="0" anchor="ctr"/>
          <a:lstStyle/>
          <a:p>
            <a:pPr indent="0" marL="0">
              <a:buNone/>
            </a:pPr>
            <a:r>
              <a:rPr lang="en-US" sz="1400" dirty="0">
                <a:solidFill>
                  <a:srgbClr val="F4F1E8"/>
                </a:solidFill>
                <a:latin typeface="Calibri" pitchFamily="34" charset="0"/>
                <a:ea typeface="Calibri" pitchFamily="34" charset="-122"/>
                <a:cs typeface="Calibri" pitchFamily="34" charset="-120"/>
              </a:rPr>
              <a:t>Locale coverage of first-session flows</a:t>
            </a:r>
            <a:endParaRPr lang="en-US" sz="1400" dirty="0"/>
          </a:p>
        </p:txBody>
      </p:sp>
      <p:sp>
        <p:nvSpPr>
          <p:cNvPr id="20" name="Shape 18"/>
          <p:cNvSpPr/>
          <p:nvPr/>
        </p:nvSpPr>
        <p:spPr>
          <a:xfrm>
            <a:off x="4297680" y="1508760"/>
            <a:ext cx="3657600" cy="3977640"/>
          </a:xfrm>
          <a:prstGeom prst="rect">
            <a:avLst/>
          </a:prstGeom>
          <a:solidFill>
            <a:srgbClr val="151C2E"/>
          </a:solidFill>
          <a:ln w="12700">
            <a:solidFill>
              <a:srgbClr val="243049"/>
            </a:solidFill>
            <a:prstDash val="solid"/>
          </a:ln>
        </p:spPr>
      </p:sp>
      <p:sp>
        <p:nvSpPr>
          <p:cNvPr id="21" name="Shape 19"/>
          <p:cNvSpPr/>
          <p:nvPr/>
        </p:nvSpPr>
        <p:spPr>
          <a:xfrm>
            <a:off x="4297680" y="1508760"/>
            <a:ext cx="3657600" cy="73152"/>
          </a:xfrm>
          <a:prstGeom prst="rect">
            <a:avLst/>
          </a:prstGeom>
          <a:solidFill>
            <a:srgbClr val="C9A227"/>
          </a:solidFill>
          <a:ln/>
        </p:spPr>
      </p:sp>
      <p:sp>
        <p:nvSpPr>
          <p:cNvPr id="22" name="Text 20"/>
          <p:cNvSpPr/>
          <p:nvPr/>
        </p:nvSpPr>
        <p:spPr>
          <a:xfrm>
            <a:off x="4526280" y="1737360"/>
            <a:ext cx="3200400" cy="320040"/>
          </a:xfrm>
          <a:prstGeom prst="rect">
            <a:avLst/>
          </a:prstGeom>
          <a:noFill/>
          <a:ln/>
        </p:spPr>
        <p:txBody>
          <a:bodyPr wrap="square" lIns="0" tIns="0" rIns="0" bIns="0" rtlCol="0" anchor="ctr"/>
          <a:lstStyle/>
          <a:p>
            <a:pPr indent="0" marL="0">
              <a:buNone/>
            </a:pPr>
            <a:r>
              <a:rPr lang="en-US" sz="1300" b="1" spc="140" kern="0" dirty="0">
                <a:solidFill>
                  <a:srgbClr val="C9A227"/>
                </a:solidFill>
                <a:latin typeface="Calibri" pitchFamily="34" charset="0"/>
                <a:ea typeface="Calibri" pitchFamily="34" charset="-122"/>
                <a:cs typeface="Calibri" pitchFamily="34" charset="-120"/>
              </a:rPr>
              <a:t>PROGRESSION</a:t>
            </a:r>
            <a:endParaRPr lang="en-US" sz="1300" dirty="0"/>
          </a:p>
        </p:txBody>
      </p:sp>
      <p:sp>
        <p:nvSpPr>
          <p:cNvPr id="23" name="Text 21"/>
          <p:cNvSpPr/>
          <p:nvPr/>
        </p:nvSpPr>
        <p:spPr>
          <a:xfrm>
            <a:off x="4526280" y="2240280"/>
            <a:ext cx="228600" cy="502920"/>
          </a:xfrm>
          <a:prstGeom prst="rect">
            <a:avLst/>
          </a:prstGeom>
          <a:noFill/>
          <a:ln/>
        </p:spPr>
        <p:txBody>
          <a:bodyPr wrap="square" lIns="0" tIns="0" rIns="0" bIns="0" rtlCol="0" anchor="ctr"/>
          <a:lstStyle/>
          <a:p>
            <a:pPr indent="0" marL="0">
              <a:buNone/>
            </a:pPr>
            <a:r>
              <a:rPr lang="en-US" sz="1200" dirty="0">
                <a:solidFill>
                  <a:srgbClr val="C9A227"/>
                </a:solidFill>
                <a:latin typeface="Calibri" pitchFamily="34" charset="0"/>
                <a:ea typeface="Calibri" pitchFamily="34" charset="-122"/>
                <a:cs typeface="Calibri" pitchFamily="34" charset="-120"/>
              </a:rPr>
              <a:t>▸</a:t>
            </a:r>
            <a:endParaRPr lang="en-US" sz="1200" dirty="0"/>
          </a:p>
        </p:txBody>
      </p:sp>
      <p:sp>
        <p:nvSpPr>
          <p:cNvPr id="24" name="Text 22"/>
          <p:cNvSpPr/>
          <p:nvPr/>
        </p:nvSpPr>
        <p:spPr>
          <a:xfrm>
            <a:off x="4800600" y="2240280"/>
            <a:ext cx="2926080" cy="502920"/>
          </a:xfrm>
          <a:prstGeom prst="rect">
            <a:avLst/>
          </a:prstGeom>
          <a:noFill/>
          <a:ln/>
        </p:spPr>
        <p:txBody>
          <a:bodyPr wrap="square" lIns="0" tIns="0" rIns="0" bIns="0" rtlCol="0" anchor="ctr"/>
          <a:lstStyle/>
          <a:p>
            <a:pPr indent="0" marL="0">
              <a:buNone/>
            </a:pPr>
            <a:r>
              <a:rPr lang="en-US" sz="1400" dirty="0">
                <a:solidFill>
                  <a:srgbClr val="F4F1E8"/>
                </a:solidFill>
                <a:latin typeface="Calibri" pitchFamily="34" charset="0"/>
                <a:ea typeface="Calibri" pitchFamily="34" charset="-122"/>
                <a:cs typeface="Calibri" pitchFamily="34" charset="-120"/>
              </a:rPr>
              <a:t>First build, train, or research action</a:t>
            </a:r>
            <a:endParaRPr lang="en-US" sz="1400" dirty="0"/>
          </a:p>
        </p:txBody>
      </p:sp>
      <p:sp>
        <p:nvSpPr>
          <p:cNvPr id="25" name="Text 23"/>
          <p:cNvSpPr/>
          <p:nvPr/>
        </p:nvSpPr>
        <p:spPr>
          <a:xfrm>
            <a:off x="4526280" y="2807208"/>
            <a:ext cx="228600" cy="502920"/>
          </a:xfrm>
          <a:prstGeom prst="rect">
            <a:avLst/>
          </a:prstGeom>
          <a:noFill/>
          <a:ln/>
        </p:spPr>
        <p:txBody>
          <a:bodyPr wrap="square" lIns="0" tIns="0" rIns="0" bIns="0" rtlCol="0" anchor="ctr"/>
          <a:lstStyle/>
          <a:p>
            <a:pPr indent="0" marL="0">
              <a:buNone/>
            </a:pPr>
            <a:r>
              <a:rPr lang="en-US" sz="1200" dirty="0">
                <a:solidFill>
                  <a:srgbClr val="C9A227"/>
                </a:solidFill>
                <a:latin typeface="Calibri" pitchFamily="34" charset="0"/>
                <a:ea typeface="Calibri" pitchFamily="34" charset="-122"/>
                <a:cs typeface="Calibri" pitchFamily="34" charset="-120"/>
              </a:rPr>
              <a:t>▸</a:t>
            </a:r>
            <a:endParaRPr lang="en-US" sz="1200" dirty="0"/>
          </a:p>
        </p:txBody>
      </p:sp>
      <p:sp>
        <p:nvSpPr>
          <p:cNvPr id="26" name="Text 24"/>
          <p:cNvSpPr/>
          <p:nvPr/>
        </p:nvSpPr>
        <p:spPr>
          <a:xfrm>
            <a:off x="4800600" y="2807208"/>
            <a:ext cx="2926080" cy="502920"/>
          </a:xfrm>
          <a:prstGeom prst="rect">
            <a:avLst/>
          </a:prstGeom>
          <a:noFill/>
          <a:ln/>
        </p:spPr>
        <p:txBody>
          <a:bodyPr wrap="square" lIns="0" tIns="0" rIns="0" bIns="0" rtlCol="0" anchor="ctr"/>
          <a:lstStyle/>
          <a:p>
            <a:pPr indent="0" marL="0">
              <a:buNone/>
            </a:pPr>
            <a:r>
              <a:rPr lang="en-US" sz="1400" dirty="0">
                <a:solidFill>
                  <a:srgbClr val="F4F1E8"/>
                </a:solidFill>
                <a:latin typeface="Calibri" pitchFamily="34" charset="0"/>
                <a:ea typeface="Calibri" pitchFamily="34" charset="-122"/>
                <a:cs typeface="Calibri" pitchFamily="34" charset="-120"/>
              </a:rPr>
              <a:t>Reaching a first raid</a:t>
            </a:r>
            <a:endParaRPr lang="en-US" sz="1400" dirty="0"/>
          </a:p>
        </p:txBody>
      </p:sp>
      <p:sp>
        <p:nvSpPr>
          <p:cNvPr id="27" name="Text 25"/>
          <p:cNvSpPr/>
          <p:nvPr/>
        </p:nvSpPr>
        <p:spPr>
          <a:xfrm>
            <a:off x="4526280" y="3374136"/>
            <a:ext cx="228600" cy="502920"/>
          </a:xfrm>
          <a:prstGeom prst="rect">
            <a:avLst/>
          </a:prstGeom>
          <a:noFill/>
          <a:ln/>
        </p:spPr>
        <p:txBody>
          <a:bodyPr wrap="square" lIns="0" tIns="0" rIns="0" bIns="0" rtlCol="0" anchor="ctr"/>
          <a:lstStyle/>
          <a:p>
            <a:pPr indent="0" marL="0">
              <a:buNone/>
            </a:pPr>
            <a:r>
              <a:rPr lang="en-US" sz="1200" dirty="0">
                <a:solidFill>
                  <a:srgbClr val="C9A227"/>
                </a:solidFill>
                <a:latin typeface="Calibri" pitchFamily="34" charset="0"/>
                <a:ea typeface="Calibri" pitchFamily="34" charset="-122"/>
                <a:cs typeface="Calibri" pitchFamily="34" charset="-120"/>
              </a:rPr>
              <a:t>▸</a:t>
            </a:r>
            <a:endParaRPr lang="en-US" sz="1200" dirty="0"/>
          </a:p>
        </p:txBody>
      </p:sp>
      <p:sp>
        <p:nvSpPr>
          <p:cNvPr id="28" name="Text 26"/>
          <p:cNvSpPr/>
          <p:nvPr/>
        </p:nvSpPr>
        <p:spPr>
          <a:xfrm>
            <a:off x="4800600" y="3374136"/>
            <a:ext cx="2926080" cy="502920"/>
          </a:xfrm>
          <a:prstGeom prst="rect">
            <a:avLst/>
          </a:prstGeom>
          <a:noFill/>
          <a:ln/>
        </p:spPr>
        <p:txBody>
          <a:bodyPr wrap="square" lIns="0" tIns="0" rIns="0" bIns="0" rtlCol="0" anchor="ctr"/>
          <a:lstStyle/>
          <a:p>
            <a:pPr indent="0" marL="0">
              <a:buNone/>
            </a:pPr>
            <a:r>
              <a:rPr lang="en-US" sz="1400" dirty="0">
                <a:solidFill>
                  <a:srgbClr val="F4F1E8"/>
                </a:solidFill>
                <a:latin typeface="Calibri" pitchFamily="34" charset="0"/>
                <a:ea typeface="Calibri" pitchFamily="34" charset="-122"/>
                <a:cs typeface="Calibri" pitchFamily="34" charset="-120"/>
              </a:rPr>
              <a:t>First-raid completion rate</a:t>
            </a:r>
            <a:endParaRPr lang="en-US" sz="1400" dirty="0"/>
          </a:p>
        </p:txBody>
      </p:sp>
      <p:sp>
        <p:nvSpPr>
          <p:cNvPr id="29" name="Text 27"/>
          <p:cNvSpPr/>
          <p:nvPr/>
        </p:nvSpPr>
        <p:spPr>
          <a:xfrm>
            <a:off x="4526280" y="3941064"/>
            <a:ext cx="228600" cy="502920"/>
          </a:xfrm>
          <a:prstGeom prst="rect">
            <a:avLst/>
          </a:prstGeom>
          <a:noFill/>
          <a:ln/>
        </p:spPr>
        <p:txBody>
          <a:bodyPr wrap="square" lIns="0" tIns="0" rIns="0" bIns="0" rtlCol="0" anchor="ctr"/>
          <a:lstStyle/>
          <a:p>
            <a:pPr indent="0" marL="0">
              <a:buNone/>
            </a:pPr>
            <a:r>
              <a:rPr lang="en-US" sz="1200" dirty="0">
                <a:solidFill>
                  <a:srgbClr val="C9A227"/>
                </a:solidFill>
                <a:latin typeface="Calibri" pitchFamily="34" charset="0"/>
                <a:ea typeface="Calibri" pitchFamily="34" charset="-122"/>
                <a:cs typeface="Calibri" pitchFamily="34" charset="-120"/>
              </a:rPr>
              <a:t>▸</a:t>
            </a:r>
            <a:endParaRPr lang="en-US" sz="1200" dirty="0"/>
          </a:p>
        </p:txBody>
      </p:sp>
      <p:sp>
        <p:nvSpPr>
          <p:cNvPr id="30" name="Text 28"/>
          <p:cNvSpPr/>
          <p:nvPr/>
        </p:nvSpPr>
        <p:spPr>
          <a:xfrm>
            <a:off x="4800600" y="3941064"/>
            <a:ext cx="2926080" cy="502920"/>
          </a:xfrm>
          <a:prstGeom prst="rect">
            <a:avLst/>
          </a:prstGeom>
          <a:noFill/>
          <a:ln/>
        </p:spPr>
        <p:txBody>
          <a:bodyPr wrap="square" lIns="0" tIns="0" rIns="0" bIns="0" rtlCol="0" anchor="ctr"/>
          <a:lstStyle/>
          <a:p>
            <a:pPr indent="0" marL="0">
              <a:buNone/>
            </a:pPr>
            <a:r>
              <a:rPr lang="en-US" sz="1400" dirty="0">
                <a:solidFill>
                  <a:srgbClr val="F4F1E8"/>
                </a:solidFill>
                <a:latin typeface="Calibri" pitchFamily="34" charset="0"/>
                <a:ea typeface="Calibri" pitchFamily="34" charset="-122"/>
                <a:cs typeface="Calibri" pitchFamily="34" charset="-120"/>
              </a:rPr>
              <a:t>Seeker activation flow completion</a:t>
            </a:r>
            <a:endParaRPr lang="en-US" sz="1400" dirty="0"/>
          </a:p>
        </p:txBody>
      </p:sp>
      <p:sp>
        <p:nvSpPr>
          <p:cNvPr id="31" name="Shape 29"/>
          <p:cNvSpPr/>
          <p:nvPr/>
        </p:nvSpPr>
        <p:spPr>
          <a:xfrm>
            <a:off x="8138160" y="1508760"/>
            <a:ext cx="3657600" cy="3977640"/>
          </a:xfrm>
          <a:prstGeom prst="rect">
            <a:avLst/>
          </a:prstGeom>
          <a:solidFill>
            <a:srgbClr val="151C2E"/>
          </a:solidFill>
          <a:ln w="12700">
            <a:solidFill>
              <a:srgbClr val="243049"/>
            </a:solidFill>
            <a:prstDash val="solid"/>
          </a:ln>
        </p:spPr>
      </p:sp>
      <p:sp>
        <p:nvSpPr>
          <p:cNvPr id="32" name="Shape 30"/>
          <p:cNvSpPr/>
          <p:nvPr/>
        </p:nvSpPr>
        <p:spPr>
          <a:xfrm>
            <a:off x="8138160" y="1508760"/>
            <a:ext cx="3657600" cy="73152"/>
          </a:xfrm>
          <a:prstGeom prst="rect">
            <a:avLst/>
          </a:prstGeom>
          <a:solidFill>
            <a:srgbClr val="C9A227"/>
          </a:solidFill>
          <a:ln/>
        </p:spPr>
      </p:sp>
      <p:sp>
        <p:nvSpPr>
          <p:cNvPr id="33" name="Text 31"/>
          <p:cNvSpPr/>
          <p:nvPr/>
        </p:nvSpPr>
        <p:spPr>
          <a:xfrm>
            <a:off x="8366760" y="1737360"/>
            <a:ext cx="3200400" cy="320040"/>
          </a:xfrm>
          <a:prstGeom prst="rect">
            <a:avLst/>
          </a:prstGeom>
          <a:noFill/>
          <a:ln/>
        </p:spPr>
        <p:txBody>
          <a:bodyPr wrap="square" lIns="0" tIns="0" rIns="0" bIns="0" rtlCol="0" anchor="ctr"/>
          <a:lstStyle/>
          <a:p>
            <a:pPr indent="0" marL="0">
              <a:buNone/>
            </a:pPr>
            <a:r>
              <a:rPr lang="en-US" sz="1300" b="1" spc="140" kern="0" dirty="0">
                <a:solidFill>
                  <a:srgbClr val="C9A227"/>
                </a:solidFill>
                <a:latin typeface="Calibri" pitchFamily="34" charset="0"/>
                <a:ea typeface="Calibri" pitchFamily="34" charset="-122"/>
                <a:cs typeface="Calibri" pitchFamily="34" charset="-120"/>
              </a:rPr>
              <a:t>HEALTH</a:t>
            </a:r>
            <a:endParaRPr lang="en-US" sz="1300" dirty="0"/>
          </a:p>
        </p:txBody>
      </p:sp>
      <p:sp>
        <p:nvSpPr>
          <p:cNvPr id="34" name="Text 32"/>
          <p:cNvSpPr/>
          <p:nvPr/>
        </p:nvSpPr>
        <p:spPr>
          <a:xfrm>
            <a:off x="8366760" y="2240280"/>
            <a:ext cx="228600" cy="502920"/>
          </a:xfrm>
          <a:prstGeom prst="rect">
            <a:avLst/>
          </a:prstGeom>
          <a:noFill/>
          <a:ln/>
        </p:spPr>
        <p:txBody>
          <a:bodyPr wrap="square" lIns="0" tIns="0" rIns="0" bIns="0" rtlCol="0" anchor="ctr"/>
          <a:lstStyle/>
          <a:p>
            <a:pPr indent="0" marL="0">
              <a:buNone/>
            </a:pPr>
            <a:r>
              <a:rPr lang="en-US" sz="1200" dirty="0">
                <a:solidFill>
                  <a:srgbClr val="C9A227"/>
                </a:solidFill>
                <a:latin typeface="Calibri" pitchFamily="34" charset="0"/>
                <a:ea typeface="Calibri" pitchFamily="34" charset="-122"/>
                <a:cs typeface="Calibri" pitchFamily="34" charset="-120"/>
              </a:rPr>
              <a:t>▸</a:t>
            </a:r>
            <a:endParaRPr lang="en-US" sz="1200" dirty="0"/>
          </a:p>
        </p:txBody>
      </p:sp>
      <p:sp>
        <p:nvSpPr>
          <p:cNvPr id="35" name="Text 33"/>
          <p:cNvSpPr/>
          <p:nvPr/>
        </p:nvSpPr>
        <p:spPr>
          <a:xfrm>
            <a:off x="8641080" y="2240280"/>
            <a:ext cx="2926080" cy="502920"/>
          </a:xfrm>
          <a:prstGeom prst="rect">
            <a:avLst/>
          </a:prstGeom>
          <a:noFill/>
          <a:ln/>
        </p:spPr>
        <p:txBody>
          <a:bodyPr wrap="square" lIns="0" tIns="0" rIns="0" bIns="0" rtlCol="0" anchor="ctr"/>
          <a:lstStyle/>
          <a:p>
            <a:pPr indent="0" marL="0">
              <a:buNone/>
            </a:pPr>
            <a:r>
              <a:rPr lang="en-US" sz="1400" dirty="0">
                <a:solidFill>
                  <a:srgbClr val="F4F1E8"/>
                </a:solidFill>
                <a:latin typeface="Calibri" pitchFamily="34" charset="0"/>
                <a:ea typeface="Calibri" pitchFamily="34" charset="-122"/>
                <a:cs typeface="Calibri" pitchFamily="34" charset="-120"/>
              </a:rPr>
              <a:t>D1 and D7 return rate</a:t>
            </a:r>
            <a:endParaRPr lang="en-US" sz="1400" dirty="0"/>
          </a:p>
        </p:txBody>
      </p:sp>
      <p:sp>
        <p:nvSpPr>
          <p:cNvPr id="36" name="Text 34"/>
          <p:cNvSpPr/>
          <p:nvPr/>
        </p:nvSpPr>
        <p:spPr>
          <a:xfrm>
            <a:off x="8366760" y="2807208"/>
            <a:ext cx="228600" cy="502920"/>
          </a:xfrm>
          <a:prstGeom prst="rect">
            <a:avLst/>
          </a:prstGeom>
          <a:noFill/>
          <a:ln/>
        </p:spPr>
        <p:txBody>
          <a:bodyPr wrap="square" lIns="0" tIns="0" rIns="0" bIns="0" rtlCol="0" anchor="ctr"/>
          <a:lstStyle/>
          <a:p>
            <a:pPr indent="0" marL="0">
              <a:buNone/>
            </a:pPr>
            <a:r>
              <a:rPr lang="en-US" sz="1200" dirty="0">
                <a:solidFill>
                  <a:srgbClr val="C9A227"/>
                </a:solidFill>
                <a:latin typeface="Calibri" pitchFamily="34" charset="0"/>
                <a:ea typeface="Calibri" pitchFamily="34" charset="-122"/>
                <a:cs typeface="Calibri" pitchFamily="34" charset="-120"/>
              </a:rPr>
              <a:t>▸</a:t>
            </a:r>
            <a:endParaRPr lang="en-US" sz="1200" dirty="0"/>
          </a:p>
        </p:txBody>
      </p:sp>
      <p:sp>
        <p:nvSpPr>
          <p:cNvPr id="37" name="Text 35"/>
          <p:cNvSpPr/>
          <p:nvPr/>
        </p:nvSpPr>
        <p:spPr>
          <a:xfrm>
            <a:off x="8641080" y="2807208"/>
            <a:ext cx="2926080" cy="502920"/>
          </a:xfrm>
          <a:prstGeom prst="rect">
            <a:avLst/>
          </a:prstGeom>
          <a:noFill/>
          <a:ln/>
        </p:spPr>
        <p:txBody>
          <a:bodyPr wrap="square" lIns="0" tIns="0" rIns="0" bIns="0" rtlCol="0" anchor="ctr"/>
          <a:lstStyle/>
          <a:p>
            <a:pPr indent="0" marL="0">
              <a:buNone/>
            </a:pPr>
            <a:r>
              <a:rPr lang="en-US" sz="1400" dirty="0">
                <a:solidFill>
                  <a:srgbClr val="F4F1E8"/>
                </a:solidFill>
                <a:latin typeface="Calibri" pitchFamily="34" charset="0"/>
                <a:ea typeface="Calibri" pitchFamily="34" charset="-122"/>
                <a:cs typeface="Calibri" pitchFamily="34" charset="-120"/>
              </a:rPr>
              <a:t>Crash-free session rate</a:t>
            </a:r>
            <a:endParaRPr lang="en-US" sz="1400" dirty="0"/>
          </a:p>
        </p:txBody>
      </p:sp>
      <p:sp>
        <p:nvSpPr>
          <p:cNvPr id="38" name="Text 36"/>
          <p:cNvSpPr/>
          <p:nvPr/>
        </p:nvSpPr>
        <p:spPr>
          <a:xfrm>
            <a:off x="8366760" y="3374136"/>
            <a:ext cx="228600" cy="502920"/>
          </a:xfrm>
          <a:prstGeom prst="rect">
            <a:avLst/>
          </a:prstGeom>
          <a:noFill/>
          <a:ln/>
        </p:spPr>
        <p:txBody>
          <a:bodyPr wrap="square" lIns="0" tIns="0" rIns="0" bIns="0" rtlCol="0" anchor="ctr"/>
          <a:lstStyle/>
          <a:p>
            <a:pPr indent="0" marL="0">
              <a:buNone/>
            </a:pPr>
            <a:r>
              <a:rPr lang="en-US" sz="1200" dirty="0">
                <a:solidFill>
                  <a:srgbClr val="C9A227"/>
                </a:solidFill>
                <a:latin typeface="Calibri" pitchFamily="34" charset="0"/>
                <a:ea typeface="Calibri" pitchFamily="34" charset="-122"/>
                <a:cs typeface="Calibri" pitchFamily="34" charset="-120"/>
              </a:rPr>
              <a:t>▸</a:t>
            </a:r>
            <a:endParaRPr lang="en-US" sz="1200" dirty="0"/>
          </a:p>
        </p:txBody>
      </p:sp>
      <p:sp>
        <p:nvSpPr>
          <p:cNvPr id="39" name="Text 37"/>
          <p:cNvSpPr/>
          <p:nvPr/>
        </p:nvSpPr>
        <p:spPr>
          <a:xfrm>
            <a:off x="8641080" y="3374136"/>
            <a:ext cx="2926080" cy="502920"/>
          </a:xfrm>
          <a:prstGeom prst="rect">
            <a:avLst/>
          </a:prstGeom>
          <a:noFill/>
          <a:ln/>
        </p:spPr>
        <p:txBody>
          <a:bodyPr wrap="square" lIns="0" tIns="0" rIns="0" bIns="0" rtlCol="0" anchor="ctr"/>
          <a:lstStyle/>
          <a:p>
            <a:pPr indent="0" marL="0">
              <a:buNone/>
            </a:pPr>
            <a:r>
              <a:rPr lang="en-US" sz="1400" dirty="0">
                <a:solidFill>
                  <a:srgbClr val="F4F1E8"/>
                </a:solidFill>
                <a:latin typeface="Calibri" pitchFamily="34" charset="0"/>
                <a:ea typeface="Calibri" pitchFamily="34" charset="-122"/>
                <a:cs typeface="Calibri" pitchFamily="34" charset="-120"/>
              </a:rPr>
              <a:t>Transaction and signing failure rate</a:t>
            </a:r>
            <a:endParaRPr lang="en-US" sz="1400" dirty="0"/>
          </a:p>
        </p:txBody>
      </p:sp>
      <p:sp>
        <p:nvSpPr>
          <p:cNvPr id="40" name="Text 38"/>
          <p:cNvSpPr/>
          <p:nvPr/>
        </p:nvSpPr>
        <p:spPr>
          <a:xfrm>
            <a:off x="8366760" y="3941064"/>
            <a:ext cx="228600" cy="502920"/>
          </a:xfrm>
          <a:prstGeom prst="rect">
            <a:avLst/>
          </a:prstGeom>
          <a:noFill/>
          <a:ln/>
        </p:spPr>
        <p:txBody>
          <a:bodyPr wrap="square" lIns="0" tIns="0" rIns="0" bIns="0" rtlCol="0" anchor="ctr"/>
          <a:lstStyle/>
          <a:p>
            <a:pPr indent="0" marL="0">
              <a:buNone/>
            </a:pPr>
            <a:r>
              <a:rPr lang="en-US" sz="1200" dirty="0">
                <a:solidFill>
                  <a:srgbClr val="C9A227"/>
                </a:solidFill>
                <a:latin typeface="Calibri" pitchFamily="34" charset="0"/>
                <a:ea typeface="Calibri" pitchFamily="34" charset="-122"/>
                <a:cs typeface="Calibri" pitchFamily="34" charset="-120"/>
              </a:rPr>
              <a:t>▸</a:t>
            </a:r>
            <a:endParaRPr lang="en-US" sz="1200" dirty="0"/>
          </a:p>
        </p:txBody>
      </p:sp>
      <p:sp>
        <p:nvSpPr>
          <p:cNvPr id="41" name="Text 39"/>
          <p:cNvSpPr/>
          <p:nvPr/>
        </p:nvSpPr>
        <p:spPr>
          <a:xfrm>
            <a:off x="8641080" y="3941064"/>
            <a:ext cx="2926080" cy="502920"/>
          </a:xfrm>
          <a:prstGeom prst="rect">
            <a:avLst/>
          </a:prstGeom>
          <a:noFill/>
          <a:ln/>
        </p:spPr>
        <p:txBody>
          <a:bodyPr wrap="square" lIns="0" tIns="0" rIns="0" bIns="0" rtlCol="0" anchor="ctr"/>
          <a:lstStyle/>
          <a:p>
            <a:pPr indent="0" marL="0">
              <a:buNone/>
            </a:pPr>
            <a:r>
              <a:rPr lang="en-US" sz="1400" dirty="0">
                <a:solidFill>
                  <a:srgbClr val="F4F1E8"/>
                </a:solidFill>
                <a:latin typeface="Calibri" pitchFamily="34" charset="0"/>
                <a:ea typeface="Calibri" pitchFamily="34" charset="-122"/>
                <a:cs typeface="Calibri" pitchFamily="34" charset="-120"/>
              </a:rPr>
              <a:t>Review rating and themes</a:t>
            </a:r>
            <a:endParaRPr lang="en-US" sz="1400" dirty="0"/>
          </a:p>
        </p:txBody>
      </p:sp>
      <p:sp>
        <p:nvSpPr>
          <p:cNvPr id="42" name="Shape 40"/>
          <p:cNvSpPr/>
          <p:nvPr/>
        </p:nvSpPr>
        <p:spPr>
          <a:xfrm>
            <a:off x="0" y="6656832"/>
            <a:ext cx="12161520" cy="201168"/>
          </a:xfrm>
          <a:prstGeom prst="rect">
            <a:avLst/>
          </a:prstGeom>
          <a:solidFill>
            <a:srgbClr val="0B1220"/>
          </a:solidFill>
          <a:ln/>
        </p:spPr>
      </p:sp>
      <p:sp>
        <p:nvSpPr>
          <p:cNvPr id="43" name="Shape 41"/>
          <p:cNvSpPr/>
          <p:nvPr/>
        </p:nvSpPr>
        <p:spPr>
          <a:xfrm>
            <a:off x="0" y="6656832"/>
            <a:ext cx="12161520" cy="13716"/>
          </a:xfrm>
          <a:prstGeom prst="rect">
            <a:avLst/>
          </a:prstGeom>
          <a:solidFill>
            <a:srgbClr val="243049"/>
          </a:solidFill>
          <a:ln/>
        </p:spPr>
      </p:sp>
      <p:sp>
        <p:nvSpPr>
          <p:cNvPr id="44" name="Text 42"/>
          <p:cNvSpPr/>
          <p:nvPr/>
        </p:nvSpPr>
        <p:spPr>
          <a:xfrm>
            <a:off x="411480" y="6675120"/>
            <a:ext cx="7498080" cy="164592"/>
          </a:xfrm>
          <a:prstGeom prst="rect">
            <a:avLst/>
          </a:prstGeom>
          <a:noFill/>
          <a:ln/>
        </p:spPr>
        <p:txBody>
          <a:bodyPr wrap="square" lIns="0" tIns="0" rIns="0" bIns="0" rtlCol="0" anchor="ctr"/>
          <a:lstStyle/>
          <a:p>
            <a:pPr indent="0" marL="0">
              <a:buNone/>
            </a:pPr>
            <a:r>
              <a:rPr lang="en-US" sz="900" spc="60" kern="0" dirty="0">
                <a:solidFill>
                  <a:srgbClr val="6E7789"/>
                </a:solidFill>
                <a:latin typeface="Calibri" pitchFamily="34" charset="0"/>
                <a:ea typeface="Calibri" pitchFamily="34" charset="-122"/>
                <a:cs typeface="Calibri" pitchFamily="34" charset="-120"/>
              </a:rPr>
              <a:t>DENELLE STUDIOS  ·  CONFIDENTIAL GRANT APPLICATION</a:t>
            </a:r>
            <a:endParaRPr lang="en-US" sz="900" dirty="0"/>
          </a:p>
        </p:txBody>
      </p:sp>
      <p:sp>
        <p:nvSpPr>
          <p:cNvPr id="45" name="Text 43"/>
          <p:cNvSpPr/>
          <p:nvPr/>
        </p:nvSpPr>
        <p:spPr>
          <a:xfrm>
            <a:off x="7863840" y="6675120"/>
            <a:ext cx="3886200" cy="164592"/>
          </a:xfrm>
          <a:prstGeom prst="rect">
            <a:avLst/>
          </a:prstGeom>
          <a:noFill/>
          <a:ln/>
        </p:spPr>
        <p:txBody>
          <a:bodyPr wrap="square" lIns="0" tIns="0" rIns="0" bIns="0" rtlCol="0" anchor="ctr"/>
          <a:lstStyle/>
          <a:p>
            <a:pPr algn="r" indent="0" marL="0">
              <a:buNone/>
            </a:pPr>
            <a:r>
              <a:rPr lang="en-US" sz="900" dirty="0">
                <a:solidFill>
                  <a:srgbClr val="6E7789"/>
                </a:solidFill>
                <a:latin typeface="Calibri" pitchFamily="34" charset="0"/>
                <a:ea typeface="Calibri" pitchFamily="34" charset="-122"/>
                <a:cs typeface="Calibri" pitchFamily="34" charset="-120"/>
              </a:rPr>
              <a:t>ECHOES OF ELARION  ·  11 / 14</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B1220"/>
          </a:solidFill>
          <a:ln/>
        </p:spPr>
      </p:sp>
      <p:sp>
        <p:nvSpPr>
          <p:cNvPr id="3" name="Shape 1"/>
          <p:cNvSpPr/>
          <p:nvPr/>
        </p:nvSpPr>
        <p:spPr>
          <a:xfrm>
            <a:off x="457200" y="256032"/>
            <a:ext cx="164592" cy="164592"/>
          </a:xfrm>
          <a:prstGeom prst="rect">
            <a:avLst/>
          </a:prstGeom>
          <a:solidFill>
            <a:srgbClr val="C9A227"/>
          </a:solidFill>
          <a:ln/>
        </p:spPr>
      </p:sp>
      <p:sp>
        <p:nvSpPr>
          <p:cNvPr id="4" name="Text 2"/>
          <p:cNvSpPr/>
          <p:nvPr/>
        </p:nvSpPr>
        <p:spPr>
          <a:xfrm>
            <a:off x="731520" y="219456"/>
            <a:ext cx="9144000" cy="237744"/>
          </a:xfrm>
          <a:prstGeom prst="rect">
            <a:avLst/>
          </a:prstGeom>
          <a:noFill/>
          <a:ln/>
        </p:spPr>
        <p:txBody>
          <a:bodyPr wrap="square" lIns="0" tIns="0" rIns="0" bIns="0" rtlCol="0" anchor="ctr"/>
          <a:lstStyle/>
          <a:p>
            <a:pPr indent="0" marL="0">
              <a:buNone/>
            </a:pPr>
            <a:r>
              <a:rPr lang="en-US" sz="1100" b="1" spc="160" kern="0" dirty="0">
                <a:solidFill>
                  <a:srgbClr val="C9A227"/>
                </a:solidFill>
                <a:latin typeface="Calibri" pitchFamily="34" charset="0"/>
                <a:ea typeface="Calibri" pitchFamily="34" charset="-122"/>
                <a:cs typeface="Calibri" pitchFamily="34" charset="-120"/>
              </a:rPr>
              <a:t>RISK</a:t>
            </a:r>
            <a:endParaRPr lang="en-US" sz="1100" dirty="0"/>
          </a:p>
        </p:txBody>
      </p:sp>
      <p:sp>
        <p:nvSpPr>
          <p:cNvPr id="5" name="Text 3"/>
          <p:cNvSpPr/>
          <p:nvPr/>
        </p:nvSpPr>
        <p:spPr>
          <a:xfrm>
            <a:off x="457200" y="475488"/>
            <a:ext cx="11247120" cy="502920"/>
          </a:xfrm>
          <a:prstGeom prst="rect">
            <a:avLst/>
          </a:prstGeom>
          <a:noFill/>
          <a:ln/>
        </p:spPr>
        <p:txBody>
          <a:bodyPr wrap="square" lIns="0" tIns="0" rIns="0" bIns="0" rtlCol="0" anchor="ctr"/>
          <a:lstStyle/>
          <a:p>
            <a:pPr indent="0" marL="0">
              <a:buNone/>
            </a:pPr>
            <a:r>
              <a:rPr lang="en-US" sz="2800" dirty="0">
                <a:solidFill>
                  <a:srgbClr val="F4F1E8"/>
                </a:solidFill>
                <a:latin typeface="Georgia" pitchFamily="34" charset="0"/>
                <a:ea typeface="Georgia" pitchFamily="34" charset="-122"/>
                <a:cs typeface="Georgia" pitchFamily="34" charset="-120"/>
              </a:rPr>
              <a:t>Risks already under active management.</a:t>
            </a:r>
            <a:endParaRPr lang="en-US" sz="2800" dirty="0"/>
          </a:p>
        </p:txBody>
      </p:sp>
      <p:sp>
        <p:nvSpPr>
          <p:cNvPr id="6" name="Shape 4"/>
          <p:cNvSpPr/>
          <p:nvPr/>
        </p:nvSpPr>
        <p:spPr>
          <a:xfrm>
            <a:off x="457200" y="1143000"/>
            <a:ext cx="5623560" cy="1554480"/>
          </a:xfrm>
          <a:prstGeom prst="rect">
            <a:avLst/>
          </a:prstGeom>
          <a:solidFill>
            <a:srgbClr val="151C2E"/>
          </a:solidFill>
          <a:ln w="12700">
            <a:solidFill>
              <a:srgbClr val="243049"/>
            </a:solidFill>
            <a:prstDash val="solid"/>
          </a:ln>
        </p:spPr>
      </p:sp>
      <p:sp>
        <p:nvSpPr>
          <p:cNvPr id="7" name="Text 5"/>
          <p:cNvSpPr/>
          <p:nvPr/>
        </p:nvSpPr>
        <p:spPr>
          <a:xfrm>
            <a:off x="685800" y="1344168"/>
            <a:ext cx="5166360" cy="365760"/>
          </a:xfrm>
          <a:prstGeom prst="rect">
            <a:avLst/>
          </a:prstGeom>
          <a:noFill/>
          <a:ln/>
        </p:spPr>
        <p:txBody>
          <a:bodyPr wrap="square" lIns="0" tIns="0" rIns="0" bIns="0" rtlCol="0" anchor="ctr"/>
          <a:lstStyle/>
          <a:p>
            <a:pPr indent="0" marL="0">
              <a:buNone/>
            </a:pPr>
            <a:r>
              <a:rPr lang="en-US" sz="1600" dirty="0">
                <a:solidFill>
                  <a:srgbClr val="F4F1E8"/>
                </a:solidFill>
                <a:latin typeface="Georgia" pitchFamily="34" charset="0"/>
                <a:ea typeface="Georgia" pitchFamily="34" charset="-122"/>
                <a:cs typeface="Georgia" pitchFamily="34" charset="-120"/>
              </a:rPr>
              <a:t>Web3 distracts from the game</a:t>
            </a:r>
            <a:endParaRPr lang="en-US" sz="1600" dirty="0"/>
          </a:p>
        </p:txBody>
      </p:sp>
      <p:sp>
        <p:nvSpPr>
          <p:cNvPr id="8" name="Text 6"/>
          <p:cNvSpPr/>
          <p:nvPr/>
        </p:nvSpPr>
        <p:spPr>
          <a:xfrm>
            <a:off x="685800" y="1783080"/>
            <a:ext cx="5166360" cy="731520"/>
          </a:xfrm>
          <a:prstGeom prst="rect">
            <a:avLst/>
          </a:prstGeom>
          <a:noFill/>
          <a:ln/>
        </p:spPr>
        <p:txBody>
          <a:bodyPr wrap="square" lIns="0" tIns="0" rIns="0" bIns="0" rtlCol="0" anchor="ctr"/>
          <a:lstStyle/>
          <a:p>
            <a:pPr indent="0" marL="0">
              <a:buNone/>
            </a:pPr>
            <a:r>
              <a:rPr lang="en-US" sz="1400" dirty="0">
                <a:solidFill>
                  <a:srgbClr val="9AA3B5"/>
                </a:solidFill>
                <a:latin typeface="Calibri" pitchFamily="34" charset="0"/>
                <a:ea typeface="Calibri" pitchFamily="34" charset="-122"/>
                <a:cs typeface="Calibri" pitchFamily="34" charset="-120"/>
              </a:rPr>
              <a:t>Game-first UX. Solana actions appear only where they give the player something.</a:t>
            </a:r>
            <a:endParaRPr lang="en-US" sz="1400" dirty="0"/>
          </a:p>
        </p:txBody>
      </p:sp>
      <p:sp>
        <p:nvSpPr>
          <p:cNvPr id="9" name="Shape 7"/>
          <p:cNvSpPr/>
          <p:nvPr/>
        </p:nvSpPr>
        <p:spPr>
          <a:xfrm>
            <a:off x="6309360" y="1143000"/>
            <a:ext cx="5623560" cy="1554480"/>
          </a:xfrm>
          <a:prstGeom prst="rect">
            <a:avLst/>
          </a:prstGeom>
          <a:solidFill>
            <a:srgbClr val="151C2E"/>
          </a:solidFill>
          <a:ln w="12700">
            <a:solidFill>
              <a:srgbClr val="243049"/>
            </a:solidFill>
            <a:prstDash val="solid"/>
          </a:ln>
        </p:spPr>
      </p:sp>
      <p:sp>
        <p:nvSpPr>
          <p:cNvPr id="10" name="Text 8"/>
          <p:cNvSpPr/>
          <p:nvPr/>
        </p:nvSpPr>
        <p:spPr>
          <a:xfrm>
            <a:off x="6537960" y="1344168"/>
            <a:ext cx="5166360" cy="365760"/>
          </a:xfrm>
          <a:prstGeom prst="rect">
            <a:avLst/>
          </a:prstGeom>
          <a:noFill/>
          <a:ln/>
        </p:spPr>
        <p:txBody>
          <a:bodyPr wrap="square" lIns="0" tIns="0" rIns="0" bIns="0" rtlCol="0" anchor="ctr"/>
          <a:lstStyle/>
          <a:p>
            <a:pPr indent="0" marL="0">
              <a:buNone/>
            </a:pPr>
            <a:r>
              <a:rPr lang="en-US" sz="1600" dirty="0">
                <a:solidFill>
                  <a:srgbClr val="F4F1E8"/>
                </a:solidFill>
                <a:latin typeface="Georgia" pitchFamily="34" charset="0"/>
                <a:ea typeface="Georgia" pitchFamily="34" charset="-122"/>
                <a:cs typeface="Georgia" pitchFamily="34" charset="-120"/>
              </a:rPr>
              <a:t>Wallet friction blocks activation</a:t>
            </a:r>
            <a:endParaRPr lang="en-US" sz="1600" dirty="0"/>
          </a:p>
        </p:txBody>
      </p:sp>
      <p:sp>
        <p:nvSpPr>
          <p:cNvPr id="11" name="Text 9"/>
          <p:cNvSpPr/>
          <p:nvPr/>
        </p:nvSpPr>
        <p:spPr>
          <a:xfrm>
            <a:off x="6537960" y="1783080"/>
            <a:ext cx="5166360" cy="731520"/>
          </a:xfrm>
          <a:prstGeom prst="rect">
            <a:avLst/>
          </a:prstGeom>
          <a:noFill/>
          <a:ln/>
        </p:spPr>
        <p:txBody>
          <a:bodyPr wrap="square" lIns="0" tIns="0" rIns="0" bIns="0" rtlCol="0" anchor="ctr"/>
          <a:lstStyle/>
          <a:p>
            <a:pPr indent="0" marL="0">
              <a:buNone/>
            </a:pPr>
            <a:r>
              <a:rPr lang="en-US" sz="1400" dirty="0">
                <a:solidFill>
                  <a:srgbClr val="9AA3B5"/>
                </a:solidFill>
                <a:latin typeface="Calibri" pitchFamily="34" charset="0"/>
                <a:ea typeface="Calibri" pitchFamily="34" charset="-122"/>
                <a:cs typeface="Calibri" pitchFamily="34" charset="-120"/>
              </a:rPr>
              <a:t>MWA-first flows, plain-language intent, explicit failure handling, and device testing on Seeker.</a:t>
            </a:r>
            <a:endParaRPr lang="en-US" sz="1400" dirty="0"/>
          </a:p>
        </p:txBody>
      </p:sp>
      <p:sp>
        <p:nvSpPr>
          <p:cNvPr id="12" name="Shape 10"/>
          <p:cNvSpPr/>
          <p:nvPr/>
        </p:nvSpPr>
        <p:spPr>
          <a:xfrm>
            <a:off x="457200" y="2834640"/>
            <a:ext cx="5623560" cy="1554480"/>
          </a:xfrm>
          <a:prstGeom prst="rect">
            <a:avLst/>
          </a:prstGeom>
          <a:solidFill>
            <a:srgbClr val="151C2E"/>
          </a:solidFill>
          <a:ln w="12700">
            <a:solidFill>
              <a:srgbClr val="243049"/>
            </a:solidFill>
            <a:prstDash val="solid"/>
          </a:ln>
        </p:spPr>
      </p:sp>
      <p:sp>
        <p:nvSpPr>
          <p:cNvPr id="13" name="Text 11"/>
          <p:cNvSpPr/>
          <p:nvPr/>
        </p:nvSpPr>
        <p:spPr>
          <a:xfrm>
            <a:off x="685800" y="3035808"/>
            <a:ext cx="5166360" cy="365760"/>
          </a:xfrm>
          <a:prstGeom prst="rect">
            <a:avLst/>
          </a:prstGeom>
          <a:noFill/>
          <a:ln/>
        </p:spPr>
        <p:txBody>
          <a:bodyPr wrap="square" lIns="0" tIns="0" rIns="0" bIns="0" rtlCol="0" anchor="ctr"/>
          <a:lstStyle/>
          <a:p>
            <a:pPr indent="0" marL="0">
              <a:buNone/>
            </a:pPr>
            <a:r>
              <a:rPr lang="en-US" sz="1600" dirty="0">
                <a:solidFill>
                  <a:srgbClr val="F4F1E8"/>
                </a:solidFill>
                <a:latin typeface="Georgia" pitchFamily="34" charset="0"/>
                <a:ea typeface="Georgia" pitchFamily="34" charset="-122"/>
                <a:cs typeface="Georgia" pitchFamily="34" charset="-120"/>
              </a:rPr>
              <a:t>Over-scoping a small team</a:t>
            </a:r>
            <a:endParaRPr lang="en-US" sz="1600" dirty="0"/>
          </a:p>
        </p:txBody>
      </p:sp>
      <p:sp>
        <p:nvSpPr>
          <p:cNvPr id="14" name="Text 12"/>
          <p:cNvSpPr/>
          <p:nvPr/>
        </p:nvSpPr>
        <p:spPr>
          <a:xfrm>
            <a:off x="685800" y="3474720"/>
            <a:ext cx="5166360" cy="731520"/>
          </a:xfrm>
          <a:prstGeom prst="rect">
            <a:avLst/>
          </a:prstGeom>
          <a:noFill/>
          <a:ln/>
        </p:spPr>
        <p:txBody>
          <a:bodyPr wrap="square" lIns="0" tIns="0" rIns="0" bIns="0" rtlCol="0" anchor="ctr"/>
          <a:lstStyle/>
          <a:p>
            <a:pPr indent="0" marL="0">
              <a:buNone/>
            </a:pPr>
            <a:r>
              <a:rPr lang="en-US" sz="1400" dirty="0">
                <a:solidFill>
                  <a:srgbClr val="9AA3B5"/>
                </a:solidFill>
                <a:latin typeface="Calibri" pitchFamily="34" charset="0"/>
                <a:ea typeface="Calibri" pitchFamily="34" charset="-122"/>
                <a:cs typeface="Calibri" pitchFamily="34" charset="-120"/>
              </a:rPr>
              <a:t>Milestone delivery, strict P0/P1 separation, reuse of built systems, shipping increments.</a:t>
            </a:r>
            <a:endParaRPr lang="en-US" sz="1400" dirty="0"/>
          </a:p>
        </p:txBody>
      </p:sp>
      <p:sp>
        <p:nvSpPr>
          <p:cNvPr id="15" name="Shape 13"/>
          <p:cNvSpPr/>
          <p:nvPr/>
        </p:nvSpPr>
        <p:spPr>
          <a:xfrm>
            <a:off x="6309360" y="2834640"/>
            <a:ext cx="5623560" cy="1554480"/>
          </a:xfrm>
          <a:prstGeom prst="rect">
            <a:avLst/>
          </a:prstGeom>
          <a:solidFill>
            <a:srgbClr val="151C2E"/>
          </a:solidFill>
          <a:ln w="12700">
            <a:solidFill>
              <a:srgbClr val="243049"/>
            </a:solidFill>
            <a:prstDash val="solid"/>
          </a:ln>
        </p:spPr>
      </p:sp>
      <p:sp>
        <p:nvSpPr>
          <p:cNvPr id="16" name="Text 14"/>
          <p:cNvSpPr/>
          <p:nvPr/>
        </p:nvSpPr>
        <p:spPr>
          <a:xfrm>
            <a:off x="6537960" y="3035808"/>
            <a:ext cx="5166360" cy="365760"/>
          </a:xfrm>
          <a:prstGeom prst="rect">
            <a:avLst/>
          </a:prstGeom>
          <a:noFill/>
          <a:ln/>
        </p:spPr>
        <p:txBody>
          <a:bodyPr wrap="square" lIns="0" tIns="0" rIns="0" bIns="0" rtlCol="0" anchor="ctr"/>
          <a:lstStyle/>
          <a:p>
            <a:pPr indent="0" marL="0">
              <a:buNone/>
            </a:pPr>
            <a:r>
              <a:rPr lang="en-US" sz="1600" dirty="0">
                <a:solidFill>
                  <a:srgbClr val="F4F1E8"/>
                </a:solidFill>
                <a:latin typeface="Georgia" pitchFamily="34" charset="0"/>
                <a:ea typeface="Georgia" pitchFamily="34" charset="-122"/>
                <a:cs typeface="Georgia" pitchFamily="34" charset="-120"/>
              </a:rPr>
              <a:t>SKR becomes token-first</a:t>
            </a:r>
            <a:endParaRPr lang="en-US" sz="1600" dirty="0"/>
          </a:p>
        </p:txBody>
      </p:sp>
      <p:sp>
        <p:nvSpPr>
          <p:cNvPr id="17" name="Text 15"/>
          <p:cNvSpPr/>
          <p:nvPr/>
        </p:nvSpPr>
        <p:spPr>
          <a:xfrm>
            <a:off x="6537960" y="3474720"/>
            <a:ext cx="5166360" cy="731520"/>
          </a:xfrm>
          <a:prstGeom prst="rect">
            <a:avLst/>
          </a:prstGeom>
          <a:noFill/>
          <a:ln/>
        </p:spPr>
        <p:txBody>
          <a:bodyPr wrap="square" lIns="0" tIns="0" rIns="0" bIns="0" rtlCol="0" anchor="ctr"/>
          <a:lstStyle/>
          <a:p>
            <a:pPr indent="0" marL="0">
              <a:buNone/>
            </a:pPr>
            <a:r>
              <a:rPr lang="en-US" sz="1400" dirty="0">
                <a:solidFill>
                  <a:srgbClr val="9AA3B5"/>
                </a:solidFill>
                <a:latin typeface="Calibri" pitchFamily="34" charset="0"/>
                <a:ea typeface="Calibri" pitchFamily="34" charset="-122"/>
                <a:cs typeface="Calibri" pitchFamily="34" charset="-120"/>
              </a:rPr>
              <a:t>Treated as an optional experiment, never the justification for funding this work.</a:t>
            </a:r>
            <a:endParaRPr lang="en-US" sz="1400" dirty="0"/>
          </a:p>
        </p:txBody>
      </p:sp>
      <p:sp>
        <p:nvSpPr>
          <p:cNvPr id="18" name="Shape 16"/>
          <p:cNvSpPr/>
          <p:nvPr/>
        </p:nvSpPr>
        <p:spPr>
          <a:xfrm>
            <a:off x="457200" y="4526280"/>
            <a:ext cx="5623560" cy="1554480"/>
          </a:xfrm>
          <a:prstGeom prst="rect">
            <a:avLst/>
          </a:prstGeom>
          <a:solidFill>
            <a:srgbClr val="151C2E"/>
          </a:solidFill>
          <a:ln w="12700">
            <a:solidFill>
              <a:srgbClr val="243049"/>
            </a:solidFill>
            <a:prstDash val="solid"/>
          </a:ln>
        </p:spPr>
      </p:sp>
      <p:sp>
        <p:nvSpPr>
          <p:cNvPr id="19" name="Text 17"/>
          <p:cNvSpPr/>
          <p:nvPr/>
        </p:nvSpPr>
        <p:spPr>
          <a:xfrm>
            <a:off x="685800" y="4727448"/>
            <a:ext cx="5166360" cy="365760"/>
          </a:xfrm>
          <a:prstGeom prst="rect">
            <a:avLst/>
          </a:prstGeom>
          <a:noFill/>
          <a:ln/>
        </p:spPr>
        <p:txBody>
          <a:bodyPr wrap="square" lIns="0" tIns="0" rIns="0" bIns="0" rtlCol="0" anchor="ctr"/>
          <a:lstStyle/>
          <a:p>
            <a:pPr indent="0" marL="0">
              <a:buNone/>
            </a:pPr>
            <a:r>
              <a:rPr lang="en-US" sz="1600" dirty="0">
                <a:solidFill>
                  <a:srgbClr val="F4F1E8"/>
                </a:solidFill>
                <a:latin typeface="Georgia" pitchFamily="34" charset="0"/>
                <a:ea typeface="Georgia" pitchFamily="34" charset="-122"/>
                <a:cs typeface="Georgia" pitchFamily="34" charset="-120"/>
              </a:rPr>
              <a:t>Art-heavy Android performance</a:t>
            </a:r>
            <a:endParaRPr lang="en-US" sz="1600" dirty="0"/>
          </a:p>
        </p:txBody>
      </p:sp>
      <p:sp>
        <p:nvSpPr>
          <p:cNvPr id="20" name="Text 18"/>
          <p:cNvSpPr/>
          <p:nvPr/>
        </p:nvSpPr>
        <p:spPr>
          <a:xfrm>
            <a:off x="685800" y="5166360"/>
            <a:ext cx="5166360" cy="731520"/>
          </a:xfrm>
          <a:prstGeom prst="rect">
            <a:avLst/>
          </a:prstGeom>
          <a:noFill/>
          <a:ln/>
        </p:spPr>
        <p:txBody>
          <a:bodyPr wrap="square" lIns="0" tIns="0" rIns="0" bIns="0" rtlCol="0" anchor="ctr"/>
          <a:lstStyle/>
          <a:p>
            <a:pPr indent="0" marL="0">
              <a:buNone/>
            </a:pPr>
            <a:r>
              <a:rPr lang="en-US" sz="1400" dirty="0">
                <a:solidFill>
                  <a:srgbClr val="9AA3B5"/>
                </a:solidFill>
                <a:latin typeface="Calibri" pitchFamily="34" charset="0"/>
                <a:ea typeface="Calibri" pitchFamily="34" charset="-122"/>
                <a:cs typeface="Calibri" pitchFamily="34" charset="-120"/>
              </a:rPr>
              <a:t>Texture-size controls, mobile compression, loading discipline, memory profiling, Seeker QA.</a:t>
            </a:r>
            <a:endParaRPr lang="en-US" sz="1400" dirty="0"/>
          </a:p>
        </p:txBody>
      </p:sp>
      <p:sp>
        <p:nvSpPr>
          <p:cNvPr id="21" name="Shape 19"/>
          <p:cNvSpPr/>
          <p:nvPr/>
        </p:nvSpPr>
        <p:spPr>
          <a:xfrm>
            <a:off x="6309360" y="4526280"/>
            <a:ext cx="5623560" cy="1554480"/>
          </a:xfrm>
          <a:prstGeom prst="rect">
            <a:avLst/>
          </a:prstGeom>
          <a:solidFill>
            <a:srgbClr val="151C2E"/>
          </a:solidFill>
          <a:ln w="12700">
            <a:solidFill>
              <a:srgbClr val="243049"/>
            </a:solidFill>
            <a:prstDash val="solid"/>
          </a:ln>
        </p:spPr>
      </p:sp>
      <p:sp>
        <p:nvSpPr>
          <p:cNvPr id="22" name="Text 20"/>
          <p:cNvSpPr/>
          <p:nvPr/>
        </p:nvSpPr>
        <p:spPr>
          <a:xfrm>
            <a:off x="6537960" y="4727448"/>
            <a:ext cx="5166360" cy="365760"/>
          </a:xfrm>
          <a:prstGeom prst="rect">
            <a:avLst/>
          </a:prstGeom>
          <a:noFill/>
          <a:ln/>
        </p:spPr>
        <p:txBody>
          <a:bodyPr wrap="square" lIns="0" tIns="0" rIns="0" bIns="0" rtlCol="0" anchor="ctr"/>
          <a:lstStyle/>
          <a:p>
            <a:pPr indent="0" marL="0">
              <a:buNone/>
            </a:pPr>
            <a:r>
              <a:rPr lang="en-US" sz="1600" dirty="0">
                <a:solidFill>
                  <a:srgbClr val="F4F1E8"/>
                </a:solidFill>
                <a:latin typeface="Georgia" pitchFamily="34" charset="0"/>
                <a:ea typeface="Georgia" pitchFamily="34" charset="-122"/>
                <a:cs typeface="Georgia" pitchFamily="34" charset="-120"/>
              </a:rPr>
              <a:t>Localization quality vs. speed</a:t>
            </a:r>
            <a:endParaRPr lang="en-US" sz="1600" dirty="0"/>
          </a:p>
        </p:txBody>
      </p:sp>
      <p:sp>
        <p:nvSpPr>
          <p:cNvPr id="23" name="Text 21"/>
          <p:cNvSpPr/>
          <p:nvPr/>
        </p:nvSpPr>
        <p:spPr>
          <a:xfrm>
            <a:off x="6537960" y="5166360"/>
            <a:ext cx="5166360" cy="731520"/>
          </a:xfrm>
          <a:prstGeom prst="rect">
            <a:avLst/>
          </a:prstGeom>
          <a:noFill/>
          <a:ln/>
        </p:spPr>
        <p:txBody>
          <a:bodyPr wrap="square" lIns="0" tIns="0" rIns="0" bIns="0" rtlCol="0" anchor="ctr"/>
          <a:lstStyle/>
          <a:p>
            <a:pPr indent="0" marL="0">
              <a:buNone/>
            </a:pPr>
            <a:r>
              <a:rPr lang="en-US" sz="1400" dirty="0">
                <a:solidFill>
                  <a:srgbClr val="9AA3B5"/>
                </a:solidFill>
                <a:latin typeface="Calibri" pitchFamily="34" charset="0"/>
                <a:ea typeface="Calibri" pitchFamily="34" charset="-122"/>
                <a:cs typeface="Calibri" pitchFamily="34" charset="-120"/>
              </a:rPr>
              <a:t>String-table architecture first; ship high-traffic surfaces before deep lore. Review before store refresh.</a:t>
            </a:r>
            <a:endParaRPr lang="en-US" sz="1400" dirty="0"/>
          </a:p>
        </p:txBody>
      </p:sp>
      <p:sp>
        <p:nvSpPr>
          <p:cNvPr id="24" name="Shape 22"/>
          <p:cNvSpPr/>
          <p:nvPr/>
        </p:nvSpPr>
        <p:spPr>
          <a:xfrm>
            <a:off x="0" y="6656832"/>
            <a:ext cx="12161520" cy="201168"/>
          </a:xfrm>
          <a:prstGeom prst="rect">
            <a:avLst/>
          </a:prstGeom>
          <a:solidFill>
            <a:srgbClr val="0B1220"/>
          </a:solidFill>
          <a:ln/>
        </p:spPr>
      </p:sp>
      <p:sp>
        <p:nvSpPr>
          <p:cNvPr id="25" name="Shape 23"/>
          <p:cNvSpPr/>
          <p:nvPr/>
        </p:nvSpPr>
        <p:spPr>
          <a:xfrm>
            <a:off x="0" y="6656832"/>
            <a:ext cx="12161520" cy="13716"/>
          </a:xfrm>
          <a:prstGeom prst="rect">
            <a:avLst/>
          </a:prstGeom>
          <a:solidFill>
            <a:srgbClr val="243049"/>
          </a:solidFill>
          <a:ln/>
        </p:spPr>
      </p:sp>
      <p:sp>
        <p:nvSpPr>
          <p:cNvPr id="26" name="Text 24"/>
          <p:cNvSpPr/>
          <p:nvPr/>
        </p:nvSpPr>
        <p:spPr>
          <a:xfrm>
            <a:off x="411480" y="6675120"/>
            <a:ext cx="7498080" cy="164592"/>
          </a:xfrm>
          <a:prstGeom prst="rect">
            <a:avLst/>
          </a:prstGeom>
          <a:noFill/>
          <a:ln/>
        </p:spPr>
        <p:txBody>
          <a:bodyPr wrap="square" lIns="0" tIns="0" rIns="0" bIns="0" rtlCol="0" anchor="ctr"/>
          <a:lstStyle/>
          <a:p>
            <a:pPr indent="0" marL="0">
              <a:buNone/>
            </a:pPr>
            <a:r>
              <a:rPr lang="en-US" sz="900" spc="60" kern="0" dirty="0">
                <a:solidFill>
                  <a:srgbClr val="6E7789"/>
                </a:solidFill>
                <a:latin typeface="Calibri" pitchFamily="34" charset="0"/>
                <a:ea typeface="Calibri" pitchFamily="34" charset="-122"/>
                <a:cs typeface="Calibri" pitchFamily="34" charset="-120"/>
              </a:rPr>
              <a:t>DENELLE STUDIOS  ·  CONFIDENTIAL GRANT APPLICATION</a:t>
            </a:r>
            <a:endParaRPr lang="en-US" sz="900" dirty="0"/>
          </a:p>
        </p:txBody>
      </p:sp>
      <p:sp>
        <p:nvSpPr>
          <p:cNvPr id="27" name="Text 25"/>
          <p:cNvSpPr/>
          <p:nvPr/>
        </p:nvSpPr>
        <p:spPr>
          <a:xfrm>
            <a:off x="7863840" y="6675120"/>
            <a:ext cx="3886200" cy="164592"/>
          </a:xfrm>
          <a:prstGeom prst="rect">
            <a:avLst/>
          </a:prstGeom>
          <a:noFill/>
          <a:ln/>
        </p:spPr>
        <p:txBody>
          <a:bodyPr wrap="square" lIns="0" tIns="0" rIns="0" bIns="0" rtlCol="0" anchor="ctr"/>
          <a:lstStyle/>
          <a:p>
            <a:pPr algn="r" indent="0" marL="0">
              <a:buNone/>
            </a:pPr>
            <a:r>
              <a:rPr lang="en-US" sz="900" dirty="0">
                <a:solidFill>
                  <a:srgbClr val="6E7789"/>
                </a:solidFill>
                <a:latin typeface="Calibri" pitchFamily="34" charset="0"/>
                <a:ea typeface="Calibri" pitchFamily="34" charset="-122"/>
                <a:cs typeface="Calibri" pitchFamily="34" charset="-120"/>
              </a:rPr>
              <a:t>ECHOES OF ELARION  ·  12 / 14</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B1220"/>
          </a:solidFill>
          <a:ln/>
        </p:spPr>
      </p:sp>
      <p:sp>
        <p:nvSpPr>
          <p:cNvPr id="3" name="Shape 1"/>
          <p:cNvSpPr/>
          <p:nvPr/>
        </p:nvSpPr>
        <p:spPr>
          <a:xfrm>
            <a:off x="457200" y="256032"/>
            <a:ext cx="164592" cy="164592"/>
          </a:xfrm>
          <a:prstGeom prst="rect">
            <a:avLst/>
          </a:prstGeom>
          <a:solidFill>
            <a:srgbClr val="C9A227"/>
          </a:solidFill>
          <a:ln/>
        </p:spPr>
      </p:sp>
      <p:sp>
        <p:nvSpPr>
          <p:cNvPr id="4" name="Text 2"/>
          <p:cNvSpPr/>
          <p:nvPr/>
        </p:nvSpPr>
        <p:spPr>
          <a:xfrm>
            <a:off x="731520" y="219456"/>
            <a:ext cx="9144000" cy="237744"/>
          </a:xfrm>
          <a:prstGeom prst="rect">
            <a:avLst/>
          </a:prstGeom>
          <a:noFill/>
          <a:ln/>
        </p:spPr>
        <p:txBody>
          <a:bodyPr wrap="square" lIns="0" tIns="0" rIns="0" bIns="0" rtlCol="0" anchor="ctr"/>
          <a:lstStyle/>
          <a:p>
            <a:pPr indent="0" marL="0">
              <a:buNone/>
            </a:pPr>
            <a:r>
              <a:rPr lang="en-US" sz="1100" b="1" spc="160" kern="0" dirty="0">
                <a:solidFill>
                  <a:srgbClr val="C9A227"/>
                </a:solidFill>
                <a:latin typeface="Calibri" pitchFamily="34" charset="0"/>
                <a:ea typeface="Calibri" pitchFamily="34" charset="-122"/>
                <a:cs typeface="Calibri" pitchFamily="34" charset="-120"/>
              </a:rPr>
              <a:t>EXECUTION</a:t>
            </a:r>
            <a:endParaRPr lang="en-US" sz="1100" dirty="0"/>
          </a:p>
        </p:txBody>
      </p:sp>
      <p:sp>
        <p:nvSpPr>
          <p:cNvPr id="5" name="Text 3"/>
          <p:cNvSpPr/>
          <p:nvPr/>
        </p:nvSpPr>
        <p:spPr>
          <a:xfrm>
            <a:off x="457200" y="475488"/>
            <a:ext cx="11247120" cy="502920"/>
          </a:xfrm>
          <a:prstGeom prst="rect">
            <a:avLst/>
          </a:prstGeom>
          <a:noFill/>
          <a:ln/>
        </p:spPr>
        <p:txBody>
          <a:bodyPr wrap="square" lIns="0" tIns="0" rIns="0" bIns="0" rtlCol="0" anchor="ctr"/>
          <a:lstStyle/>
          <a:p>
            <a:pPr indent="0" marL="0">
              <a:buNone/>
            </a:pPr>
            <a:r>
              <a:rPr lang="en-US" sz="2800" dirty="0">
                <a:solidFill>
                  <a:srgbClr val="F4F1E8"/>
                </a:solidFill>
                <a:latin typeface="Georgia" pitchFamily="34" charset="0"/>
                <a:ea typeface="Georgia" pitchFamily="34" charset="-122"/>
                <a:cs typeface="Georgia" pitchFamily="34" charset="-120"/>
              </a:rPr>
              <a:t>Why this team can deliver in 12 weeks.</a:t>
            </a:r>
            <a:endParaRPr lang="en-US" sz="2800" dirty="0"/>
          </a:p>
        </p:txBody>
      </p:sp>
      <p:sp>
        <p:nvSpPr>
          <p:cNvPr id="6" name="Text 4"/>
          <p:cNvSpPr/>
          <p:nvPr/>
        </p:nvSpPr>
        <p:spPr>
          <a:xfrm>
            <a:off x="457200" y="1051560"/>
            <a:ext cx="7040880" cy="640080"/>
          </a:xfrm>
          <a:prstGeom prst="rect">
            <a:avLst/>
          </a:prstGeom>
          <a:noFill/>
          <a:ln/>
        </p:spPr>
        <p:txBody>
          <a:bodyPr wrap="square" lIns="0" tIns="0" rIns="0" bIns="0" rtlCol="0" anchor="ctr"/>
          <a:lstStyle/>
          <a:p>
            <a:pPr indent="0" marL="0">
              <a:buNone/>
            </a:pPr>
            <a:r>
              <a:rPr lang="en-US" sz="1500" dirty="0">
                <a:solidFill>
                  <a:srgbClr val="9AA3B5"/>
                </a:solidFill>
                <a:latin typeface="Calibri" pitchFamily="34" charset="0"/>
                <a:ea typeface="Calibri" pitchFamily="34" charset="-122"/>
                <a:cs typeface="Calibri" pitchFamily="34" charset="-120"/>
              </a:rPr>
              <a:t>Led by a hands-on technical product lead with two decades in complex software delivery — release quality, regression, requirements, and cross-functional execution.</a:t>
            </a:r>
            <a:endParaRPr lang="en-US" sz="1500" dirty="0"/>
          </a:p>
        </p:txBody>
      </p:sp>
      <p:sp>
        <p:nvSpPr>
          <p:cNvPr id="7" name="Shape 5"/>
          <p:cNvSpPr/>
          <p:nvPr/>
        </p:nvSpPr>
        <p:spPr>
          <a:xfrm>
            <a:off x="457200" y="1828800"/>
            <a:ext cx="109728" cy="502920"/>
          </a:xfrm>
          <a:prstGeom prst="rect">
            <a:avLst/>
          </a:prstGeom>
          <a:solidFill>
            <a:srgbClr val="C9A227"/>
          </a:solidFill>
          <a:ln/>
        </p:spPr>
      </p:sp>
      <p:sp>
        <p:nvSpPr>
          <p:cNvPr id="8" name="Text 6"/>
          <p:cNvSpPr/>
          <p:nvPr/>
        </p:nvSpPr>
        <p:spPr>
          <a:xfrm>
            <a:off x="731520" y="1828800"/>
            <a:ext cx="6766560" cy="502920"/>
          </a:xfrm>
          <a:prstGeom prst="rect">
            <a:avLst/>
          </a:prstGeom>
          <a:noFill/>
          <a:ln/>
        </p:spPr>
        <p:txBody>
          <a:bodyPr wrap="square" lIns="0" tIns="0" rIns="0" bIns="0" rtlCol="0" anchor="ctr"/>
          <a:lstStyle/>
          <a:p>
            <a:pPr indent="0" marL="0">
              <a:buNone/>
            </a:pPr>
            <a:r>
              <a:rPr lang="en-US" sz="1500" dirty="0">
                <a:solidFill>
                  <a:srgbClr val="F4F1E8"/>
                </a:solidFill>
                <a:latin typeface="Calibri" pitchFamily="34" charset="0"/>
                <a:ea typeface="Calibri" pitchFamily="34" charset="-122"/>
                <a:cs typeface="Calibri" pitchFamily="34" charset="-120"/>
              </a:rPr>
              <a:t>A working Android build, live on the dApp Store</a:t>
            </a:r>
            <a:endParaRPr lang="en-US" sz="1500" dirty="0"/>
          </a:p>
        </p:txBody>
      </p:sp>
      <p:sp>
        <p:nvSpPr>
          <p:cNvPr id="9" name="Shape 7"/>
          <p:cNvSpPr/>
          <p:nvPr/>
        </p:nvSpPr>
        <p:spPr>
          <a:xfrm>
            <a:off x="457200" y="2468880"/>
            <a:ext cx="109728" cy="502920"/>
          </a:xfrm>
          <a:prstGeom prst="rect">
            <a:avLst/>
          </a:prstGeom>
          <a:solidFill>
            <a:srgbClr val="C9A227"/>
          </a:solidFill>
          <a:ln/>
        </p:spPr>
      </p:sp>
      <p:sp>
        <p:nvSpPr>
          <p:cNvPr id="10" name="Text 8"/>
          <p:cNvSpPr/>
          <p:nvPr/>
        </p:nvSpPr>
        <p:spPr>
          <a:xfrm>
            <a:off x="731520" y="2468880"/>
            <a:ext cx="6766560" cy="502920"/>
          </a:xfrm>
          <a:prstGeom prst="rect">
            <a:avLst/>
          </a:prstGeom>
          <a:noFill/>
          <a:ln/>
        </p:spPr>
        <p:txBody>
          <a:bodyPr wrap="square" lIns="0" tIns="0" rIns="0" bIns="0" rtlCol="0" anchor="ctr"/>
          <a:lstStyle/>
          <a:p>
            <a:pPr indent="0" marL="0">
              <a:buNone/>
            </a:pPr>
            <a:r>
              <a:rPr lang="en-US" sz="1500" dirty="0">
                <a:solidFill>
                  <a:srgbClr val="F4F1E8"/>
                </a:solidFill>
                <a:latin typeface="Calibri" pitchFamily="34" charset="0"/>
                <a:ea typeface="Calibri" pitchFamily="34" charset="-122"/>
                <a:cs typeface="Calibri" pitchFamily="34" charset="-120"/>
              </a:rPr>
              <a:t>Structured work orders with acceptance criteria and named owners</a:t>
            </a:r>
            <a:endParaRPr lang="en-US" sz="1500" dirty="0"/>
          </a:p>
        </p:txBody>
      </p:sp>
      <p:sp>
        <p:nvSpPr>
          <p:cNvPr id="11" name="Shape 9"/>
          <p:cNvSpPr/>
          <p:nvPr/>
        </p:nvSpPr>
        <p:spPr>
          <a:xfrm>
            <a:off x="457200" y="3108960"/>
            <a:ext cx="109728" cy="502920"/>
          </a:xfrm>
          <a:prstGeom prst="rect">
            <a:avLst/>
          </a:prstGeom>
          <a:solidFill>
            <a:srgbClr val="C9A227"/>
          </a:solidFill>
          <a:ln/>
        </p:spPr>
      </p:sp>
      <p:sp>
        <p:nvSpPr>
          <p:cNvPr id="12" name="Text 10"/>
          <p:cNvSpPr/>
          <p:nvPr/>
        </p:nvSpPr>
        <p:spPr>
          <a:xfrm>
            <a:off x="731520" y="3108960"/>
            <a:ext cx="6766560" cy="502920"/>
          </a:xfrm>
          <a:prstGeom prst="rect">
            <a:avLst/>
          </a:prstGeom>
          <a:noFill/>
          <a:ln/>
        </p:spPr>
        <p:txBody>
          <a:bodyPr wrap="square" lIns="0" tIns="0" rIns="0" bIns="0" rtlCol="0" anchor="ctr"/>
          <a:lstStyle/>
          <a:p>
            <a:pPr indent="0" marL="0">
              <a:buNone/>
            </a:pPr>
            <a:r>
              <a:rPr lang="en-US" sz="1500" dirty="0">
                <a:solidFill>
                  <a:srgbClr val="F4F1E8"/>
                </a:solidFill>
                <a:latin typeface="Calibri" pitchFamily="34" charset="0"/>
                <a:ea typeface="Calibri" pitchFamily="34" charset="-122"/>
                <a:cs typeface="Calibri" pitchFamily="34" charset="-120"/>
              </a:rPr>
              <a:t>Automated regression suites gating every change</a:t>
            </a:r>
            <a:endParaRPr lang="en-US" sz="1500" dirty="0"/>
          </a:p>
        </p:txBody>
      </p:sp>
      <p:sp>
        <p:nvSpPr>
          <p:cNvPr id="13" name="Shape 11"/>
          <p:cNvSpPr/>
          <p:nvPr/>
        </p:nvSpPr>
        <p:spPr>
          <a:xfrm>
            <a:off x="457200" y="3749040"/>
            <a:ext cx="109728" cy="502920"/>
          </a:xfrm>
          <a:prstGeom prst="rect">
            <a:avLst/>
          </a:prstGeom>
          <a:solidFill>
            <a:srgbClr val="C9A227"/>
          </a:solidFill>
          <a:ln/>
        </p:spPr>
      </p:sp>
      <p:sp>
        <p:nvSpPr>
          <p:cNvPr id="14" name="Text 12"/>
          <p:cNvSpPr/>
          <p:nvPr/>
        </p:nvSpPr>
        <p:spPr>
          <a:xfrm>
            <a:off x="731520" y="3749040"/>
            <a:ext cx="6766560" cy="502920"/>
          </a:xfrm>
          <a:prstGeom prst="rect">
            <a:avLst/>
          </a:prstGeom>
          <a:noFill/>
          <a:ln/>
        </p:spPr>
        <p:txBody>
          <a:bodyPr wrap="square" lIns="0" tIns="0" rIns="0" bIns="0" rtlCol="0" anchor="ctr"/>
          <a:lstStyle/>
          <a:p>
            <a:pPr indent="0" marL="0">
              <a:buNone/>
            </a:pPr>
            <a:r>
              <a:rPr lang="en-US" sz="1500" dirty="0">
                <a:solidFill>
                  <a:srgbClr val="F4F1E8"/>
                </a:solidFill>
                <a:latin typeface="Calibri" pitchFamily="34" charset="0"/>
                <a:ea typeface="Calibri" pitchFamily="34" charset="-122"/>
                <a:cs typeface="Calibri" pitchFamily="34" charset="-120"/>
              </a:rPr>
              <a:t>Headless capture and on-device verification before release</a:t>
            </a:r>
            <a:endParaRPr lang="en-US" sz="1500" dirty="0"/>
          </a:p>
        </p:txBody>
      </p:sp>
      <p:sp>
        <p:nvSpPr>
          <p:cNvPr id="15" name="Shape 13"/>
          <p:cNvSpPr/>
          <p:nvPr/>
        </p:nvSpPr>
        <p:spPr>
          <a:xfrm>
            <a:off x="457200" y="4389120"/>
            <a:ext cx="109728" cy="502920"/>
          </a:xfrm>
          <a:prstGeom prst="rect">
            <a:avLst/>
          </a:prstGeom>
          <a:solidFill>
            <a:srgbClr val="C9A227"/>
          </a:solidFill>
          <a:ln/>
        </p:spPr>
      </p:sp>
      <p:sp>
        <p:nvSpPr>
          <p:cNvPr id="16" name="Text 14"/>
          <p:cNvSpPr/>
          <p:nvPr/>
        </p:nvSpPr>
        <p:spPr>
          <a:xfrm>
            <a:off x="731520" y="4389120"/>
            <a:ext cx="6766560" cy="502920"/>
          </a:xfrm>
          <a:prstGeom prst="rect">
            <a:avLst/>
          </a:prstGeom>
          <a:noFill/>
          <a:ln/>
        </p:spPr>
        <p:txBody>
          <a:bodyPr wrap="square" lIns="0" tIns="0" rIns="0" bIns="0" rtlCol="0" anchor="ctr"/>
          <a:lstStyle/>
          <a:p>
            <a:pPr indent="0" marL="0">
              <a:buNone/>
            </a:pPr>
            <a:r>
              <a:rPr lang="en-US" sz="1500" dirty="0">
                <a:solidFill>
                  <a:srgbClr val="F4F1E8"/>
                </a:solidFill>
                <a:latin typeface="Calibri" pitchFamily="34" charset="0"/>
                <a:ea typeface="Calibri" pitchFamily="34" charset="-122"/>
                <a:cs typeface="Calibri" pitchFamily="34" charset="-120"/>
              </a:rPr>
              <a:t>Marker-verified build gates — a run is not believed without proof</a:t>
            </a:r>
            <a:endParaRPr lang="en-US" sz="1500" dirty="0"/>
          </a:p>
        </p:txBody>
      </p:sp>
      <p:sp>
        <p:nvSpPr>
          <p:cNvPr id="17" name="Shape 15"/>
          <p:cNvSpPr/>
          <p:nvPr/>
        </p:nvSpPr>
        <p:spPr>
          <a:xfrm>
            <a:off x="457200" y="5029200"/>
            <a:ext cx="109728" cy="502920"/>
          </a:xfrm>
          <a:prstGeom prst="rect">
            <a:avLst/>
          </a:prstGeom>
          <a:solidFill>
            <a:srgbClr val="C9A227"/>
          </a:solidFill>
          <a:ln/>
        </p:spPr>
      </p:sp>
      <p:sp>
        <p:nvSpPr>
          <p:cNvPr id="18" name="Text 16"/>
          <p:cNvSpPr/>
          <p:nvPr/>
        </p:nvSpPr>
        <p:spPr>
          <a:xfrm>
            <a:off x="731520" y="5029200"/>
            <a:ext cx="6766560" cy="502920"/>
          </a:xfrm>
          <a:prstGeom prst="rect">
            <a:avLst/>
          </a:prstGeom>
          <a:noFill/>
          <a:ln/>
        </p:spPr>
        <p:txBody>
          <a:bodyPr wrap="square" lIns="0" tIns="0" rIns="0" bIns="0" rtlCol="0" anchor="ctr"/>
          <a:lstStyle/>
          <a:p>
            <a:pPr indent="0" marL="0">
              <a:buNone/>
            </a:pPr>
            <a:r>
              <a:rPr lang="en-US" sz="1500" dirty="0">
                <a:solidFill>
                  <a:srgbClr val="F4F1E8"/>
                </a:solidFill>
                <a:latin typeface="Calibri" pitchFamily="34" charset="0"/>
                <a:ea typeface="Calibri" pitchFamily="34" charset="-122"/>
                <a:cs typeface="Calibri" pitchFamily="34" charset="-120"/>
              </a:rPr>
              <a:t>Frequent release cadence with documented release notes</a:t>
            </a:r>
            <a:endParaRPr lang="en-US" sz="1500" dirty="0"/>
          </a:p>
        </p:txBody>
      </p:sp>
      <p:sp>
        <p:nvSpPr>
          <p:cNvPr id="19" name="Shape 17"/>
          <p:cNvSpPr/>
          <p:nvPr/>
        </p:nvSpPr>
        <p:spPr>
          <a:xfrm>
            <a:off x="7772400" y="1051560"/>
            <a:ext cx="3931920" cy="5074920"/>
          </a:xfrm>
          <a:prstGeom prst="rect">
            <a:avLst/>
          </a:prstGeom>
          <a:solidFill>
            <a:srgbClr val="C9A227"/>
          </a:solidFill>
          <a:ln/>
        </p:spPr>
      </p:sp>
      <p:sp>
        <p:nvSpPr>
          <p:cNvPr id="20" name="Text 18"/>
          <p:cNvSpPr/>
          <p:nvPr/>
        </p:nvSpPr>
        <p:spPr>
          <a:xfrm>
            <a:off x="8001000" y="1325880"/>
            <a:ext cx="3520440" cy="274320"/>
          </a:xfrm>
          <a:prstGeom prst="rect">
            <a:avLst/>
          </a:prstGeom>
          <a:noFill/>
          <a:ln/>
        </p:spPr>
        <p:txBody>
          <a:bodyPr wrap="square" lIns="0" tIns="0" rIns="0" bIns="0" rtlCol="0" anchor="ctr"/>
          <a:lstStyle/>
          <a:p>
            <a:pPr indent="0" marL="0">
              <a:buNone/>
            </a:pPr>
            <a:r>
              <a:rPr lang="en-US" sz="1100" b="1" spc="100" kern="0" dirty="0">
                <a:solidFill>
                  <a:srgbClr val="0B1220"/>
                </a:solidFill>
                <a:latin typeface="Calibri" pitchFamily="34" charset="0"/>
                <a:ea typeface="Calibri" pitchFamily="34" charset="-122"/>
                <a:cs typeface="Calibri" pitchFamily="34" charset="-120"/>
              </a:rPr>
              <a:t>THE DISTINGUISHING HABIT</a:t>
            </a:r>
            <a:endParaRPr lang="en-US" sz="1100" dirty="0"/>
          </a:p>
        </p:txBody>
      </p:sp>
      <p:sp>
        <p:nvSpPr>
          <p:cNvPr id="21" name="Text 19"/>
          <p:cNvSpPr/>
          <p:nvPr/>
        </p:nvSpPr>
        <p:spPr>
          <a:xfrm>
            <a:off x="8001000" y="1783080"/>
            <a:ext cx="3520440" cy="1463040"/>
          </a:xfrm>
          <a:prstGeom prst="rect">
            <a:avLst/>
          </a:prstGeom>
          <a:noFill/>
          <a:ln/>
        </p:spPr>
        <p:txBody>
          <a:bodyPr wrap="square" lIns="0" tIns="0" rIns="0" bIns="0" rtlCol="0" anchor="ctr"/>
          <a:lstStyle/>
          <a:p>
            <a:pPr indent="0" marL="0">
              <a:buNone/>
            </a:pPr>
            <a:r>
              <a:rPr lang="en-US" sz="2400" dirty="0">
                <a:solidFill>
                  <a:srgbClr val="0B1220"/>
                </a:solidFill>
                <a:latin typeface="Georgia" pitchFamily="34" charset="0"/>
                <a:ea typeface="Georgia" pitchFamily="34" charset="-122"/>
                <a:cs typeface="Georgia" pitchFamily="34" charset="-120"/>
              </a:rPr>
              <a:t>We do not claim what we have not measured.</a:t>
            </a:r>
            <a:endParaRPr lang="en-US" sz="2400" dirty="0"/>
          </a:p>
        </p:txBody>
      </p:sp>
      <p:sp>
        <p:nvSpPr>
          <p:cNvPr id="22" name="Text 20"/>
          <p:cNvSpPr/>
          <p:nvPr/>
        </p:nvSpPr>
        <p:spPr>
          <a:xfrm>
            <a:off x="8001000" y="3429000"/>
            <a:ext cx="3520440" cy="1554480"/>
          </a:xfrm>
          <a:prstGeom prst="rect">
            <a:avLst/>
          </a:prstGeom>
          <a:noFill/>
          <a:ln/>
        </p:spPr>
        <p:txBody>
          <a:bodyPr wrap="square" lIns="0" tIns="0" rIns="0" bIns="0" rtlCol="0" anchor="ctr"/>
          <a:lstStyle/>
          <a:p>
            <a:pPr indent="0" marL="0">
              <a:buNone/>
            </a:pPr>
            <a:r>
              <a:rPr lang="en-US" sz="1400" dirty="0">
                <a:solidFill>
                  <a:srgbClr val="0B1220"/>
                </a:solidFill>
                <a:latin typeface="Calibri" pitchFamily="34" charset="0"/>
                <a:ea typeface="Calibri" pitchFamily="34" charset="-122"/>
                <a:cs typeface="Calibri" pitchFamily="34" charset="-120"/>
              </a:rPr>
              <a:t>Every technical claim in this deck was read from the shipping source, not a planning document. Where a number is not yet known — installs, retention — the slide says so instead of estimating.</a:t>
            </a:r>
            <a:endParaRPr lang="en-US" sz="1400" dirty="0"/>
          </a:p>
        </p:txBody>
      </p:sp>
      <p:sp>
        <p:nvSpPr>
          <p:cNvPr id="23" name="Text 21"/>
          <p:cNvSpPr/>
          <p:nvPr/>
        </p:nvSpPr>
        <p:spPr>
          <a:xfrm>
            <a:off x="8001000" y="5074920"/>
            <a:ext cx="3520440" cy="731520"/>
          </a:xfrm>
          <a:prstGeom prst="rect">
            <a:avLst/>
          </a:prstGeom>
          <a:noFill/>
          <a:ln/>
        </p:spPr>
        <p:txBody>
          <a:bodyPr wrap="square" lIns="0" tIns="0" rIns="0" bIns="0" rtlCol="0" anchor="ctr"/>
          <a:lstStyle/>
          <a:p>
            <a:pPr indent="0" marL="0">
              <a:buNone/>
            </a:pPr>
            <a:r>
              <a:rPr lang="en-US" sz="1400" dirty="0">
                <a:solidFill>
                  <a:srgbClr val="0B1220"/>
                </a:solidFill>
                <a:latin typeface="Calibri" pitchFamily="34" charset="0"/>
                <a:ea typeface="Calibri" pitchFamily="34" charset="-122"/>
                <a:cs typeface="Calibri" pitchFamily="34" charset="-120"/>
              </a:rPr>
              <a:t>That is the same discipline the milestones are written in.</a:t>
            </a:r>
            <a:endParaRPr lang="en-US" sz="1400" dirty="0"/>
          </a:p>
        </p:txBody>
      </p:sp>
      <p:sp>
        <p:nvSpPr>
          <p:cNvPr id="24" name="Shape 22"/>
          <p:cNvSpPr/>
          <p:nvPr/>
        </p:nvSpPr>
        <p:spPr>
          <a:xfrm>
            <a:off x="0" y="6656832"/>
            <a:ext cx="12161520" cy="201168"/>
          </a:xfrm>
          <a:prstGeom prst="rect">
            <a:avLst/>
          </a:prstGeom>
          <a:solidFill>
            <a:srgbClr val="0B1220"/>
          </a:solidFill>
          <a:ln/>
        </p:spPr>
      </p:sp>
      <p:sp>
        <p:nvSpPr>
          <p:cNvPr id="25" name="Shape 23"/>
          <p:cNvSpPr/>
          <p:nvPr/>
        </p:nvSpPr>
        <p:spPr>
          <a:xfrm>
            <a:off x="0" y="6656832"/>
            <a:ext cx="12161520" cy="13716"/>
          </a:xfrm>
          <a:prstGeom prst="rect">
            <a:avLst/>
          </a:prstGeom>
          <a:solidFill>
            <a:srgbClr val="243049"/>
          </a:solidFill>
          <a:ln/>
        </p:spPr>
      </p:sp>
      <p:sp>
        <p:nvSpPr>
          <p:cNvPr id="26" name="Text 24"/>
          <p:cNvSpPr/>
          <p:nvPr/>
        </p:nvSpPr>
        <p:spPr>
          <a:xfrm>
            <a:off x="411480" y="6675120"/>
            <a:ext cx="7498080" cy="164592"/>
          </a:xfrm>
          <a:prstGeom prst="rect">
            <a:avLst/>
          </a:prstGeom>
          <a:noFill/>
          <a:ln/>
        </p:spPr>
        <p:txBody>
          <a:bodyPr wrap="square" lIns="0" tIns="0" rIns="0" bIns="0" rtlCol="0" anchor="ctr"/>
          <a:lstStyle/>
          <a:p>
            <a:pPr indent="0" marL="0">
              <a:buNone/>
            </a:pPr>
            <a:r>
              <a:rPr lang="en-US" sz="900" spc="60" kern="0" dirty="0">
                <a:solidFill>
                  <a:srgbClr val="6E7789"/>
                </a:solidFill>
                <a:latin typeface="Calibri" pitchFamily="34" charset="0"/>
                <a:ea typeface="Calibri" pitchFamily="34" charset="-122"/>
                <a:cs typeface="Calibri" pitchFamily="34" charset="-120"/>
              </a:rPr>
              <a:t>DENELLE STUDIOS  ·  CONFIDENTIAL GRANT APPLICATION</a:t>
            </a:r>
            <a:endParaRPr lang="en-US" sz="900" dirty="0"/>
          </a:p>
        </p:txBody>
      </p:sp>
      <p:sp>
        <p:nvSpPr>
          <p:cNvPr id="27" name="Text 25"/>
          <p:cNvSpPr/>
          <p:nvPr/>
        </p:nvSpPr>
        <p:spPr>
          <a:xfrm>
            <a:off x="7863840" y="6675120"/>
            <a:ext cx="3886200" cy="164592"/>
          </a:xfrm>
          <a:prstGeom prst="rect">
            <a:avLst/>
          </a:prstGeom>
          <a:noFill/>
          <a:ln/>
        </p:spPr>
        <p:txBody>
          <a:bodyPr wrap="square" lIns="0" tIns="0" rIns="0" bIns="0" rtlCol="0" anchor="ctr"/>
          <a:lstStyle/>
          <a:p>
            <a:pPr algn="r" indent="0" marL="0">
              <a:buNone/>
            </a:pPr>
            <a:r>
              <a:rPr lang="en-US" sz="900" dirty="0">
                <a:solidFill>
                  <a:srgbClr val="6E7789"/>
                </a:solidFill>
                <a:latin typeface="Calibri" pitchFamily="34" charset="0"/>
                <a:ea typeface="Calibri" pitchFamily="34" charset="-122"/>
                <a:cs typeface="Calibri" pitchFamily="34" charset="-120"/>
              </a:rPr>
              <a:t>ECHOES OF ELARION  ·  13 / 14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B1220"/>
          </a:solidFill>
          <a:ln/>
        </p:spPr>
      </p:sp>
      <p:sp>
        <p:nvSpPr>
          <p:cNvPr id="3" name="Shape 1"/>
          <p:cNvSpPr/>
          <p:nvPr/>
        </p:nvSpPr>
        <p:spPr>
          <a:xfrm>
            <a:off x="0" y="0"/>
            <a:ext cx="109728" cy="6858000"/>
          </a:xfrm>
          <a:prstGeom prst="rect">
            <a:avLst/>
          </a:prstGeom>
          <a:solidFill>
            <a:srgbClr val="C9A227"/>
          </a:solidFill>
          <a:ln/>
        </p:spPr>
      </p:sp>
      <p:sp>
        <p:nvSpPr>
          <p:cNvPr id="4" name="Shape 2"/>
          <p:cNvSpPr/>
          <p:nvPr/>
        </p:nvSpPr>
        <p:spPr>
          <a:xfrm>
            <a:off x="457200" y="256032"/>
            <a:ext cx="164592" cy="164592"/>
          </a:xfrm>
          <a:prstGeom prst="rect">
            <a:avLst/>
          </a:prstGeom>
          <a:solidFill>
            <a:srgbClr val="C9A227"/>
          </a:solidFill>
          <a:ln/>
        </p:spPr>
      </p:sp>
      <p:sp>
        <p:nvSpPr>
          <p:cNvPr id="5" name="Text 3"/>
          <p:cNvSpPr/>
          <p:nvPr/>
        </p:nvSpPr>
        <p:spPr>
          <a:xfrm>
            <a:off x="731520" y="219456"/>
            <a:ext cx="9144000" cy="237744"/>
          </a:xfrm>
          <a:prstGeom prst="rect">
            <a:avLst/>
          </a:prstGeom>
          <a:noFill/>
          <a:ln/>
        </p:spPr>
        <p:txBody>
          <a:bodyPr wrap="square" lIns="0" tIns="0" rIns="0" bIns="0" rtlCol="0" anchor="ctr"/>
          <a:lstStyle/>
          <a:p>
            <a:pPr indent="0" marL="0">
              <a:buNone/>
            </a:pPr>
            <a:r>
              <a:rPr lang="en-US" sz="1100" b="1" spc="160" kern="0" dirty="0">
                <a:solidFill>
                  <a:srgbClr val="C9A227"/>
                </a:solidFill>
                <a:latin typeface="Calibri" pitchFamily="34" charset="0"/>
                <a:ea typeface="Calibri" pitchFamily="34" charset="-122"/>
                <a:cs typeface="Calibri" pitchFamily="34" charset="-120"/>
              </a:rPr>
              <a:t>THE ASK</a:t>
            </a:r>
            <a:endParaRPr lang="en-US" sz="1100" dirty="0"/>
          </a:p>
        </p:txBody>
      </p:sp>
      <p:sp>
        <p:nvSpPr>
          <p:cNvPr id="6" name="Text 4"/>
          <p:cNvSpPr/>
          <p:nvPr/>
        </p:nvSpPr>
        <p:spPr>
          <a:xfrm>
            <a:off x="457200" y="502920"/>
            <a:ext cx="6858000" cy="640080"/>
          </a:xfrm>
          <a:prstGeom prst="rect">
            <a:avLst/>
          </a:prstGeom>
          <a:noFill/>
          <a:ln/>
        </p:spPr>
        <p:txBody>
          <a:bodyPr wrap="square" lIns="0" tIns="0" rIns="0" bIns="0" rtlCol="0" anchor="ctr"/>
          <a:lstStyle/>
          <a:p>
            <a:pPr indent="0" marL="0">
              <a:buNone/>
            </a:pPr>
            <a:r>
              <a:rPr lang="en-US" sz="4000" dirty="0">
                <a:solidFill>
                  <a:srgbClr val="F4F1E8"/>
                </a:solidFill>
                <a:latin typeface="Georgia" pitchFamily="34" charset="0"/>
                <a:ea typeface="Georgia" pitchFamily="34" charset="-122"/>
                <a:cs typeface="Georgia" pitchFamily="34" charset="-120"/>
              </a:rPr>
              <a:t>$25,000</a:t>
            </a:r>
            <a:endParaRPr lang="en-US" sz="4000" dirty="0"/>
          </a:p>
        </p:txBody>
      </p:sp>
      <p:sp>
        <p:nvSpPr>
          <p:cNvPr id="7" name="Text 5"/>
          <p:cNvSpPr/>
          <p:nvPr/>
        </p:nvSpPr>
        <p:spPr>
          <a:xfrm>
            <a:off x="457200" y="1097280"/>
            <a:ext cx="6858000" cy="365760"/>
          </a:xfrm>
          <a:prstGeom prst="rect">
            <a:avLst/>
          </a:prstGeom>
          <a:noFill/>
          <a:ln/>
        </p:spPr>
        <p:txBody>
          <a:bodyPr wrap="square" lIns="0" tIns="0" rIns="0" bIns="0" rtlCol="0" anchor="ctr"/>
          <a:lstStyle/>
          <a:p>
            <a:pPr indent="0" marL="0">
              <a:buNone/>
            </a:pPr>
            <a:r>
              <a:rPr lang="en-US" sz="2200" i="1" dirty="0">
                <a:solidFill>
                  <a:srgbClr val="C9A227"/>
                </a:solidFill>
                <a:latin typeface="Georgia" pitchFamily="34" charset="0"/>
                <a:ea typeface="Georgia" pitchFamily="34" charset="-122"/>
                <a:cs typeface="Georgia" pitchFamily="34" charset="-120"/>
              </a:rPr>
              <a:t>over 12 weeks</a:t>
            </a:r>
            <a:endParaRPr lang="en-US" sz="2200" dirty="0"/>
          </a:p>
        </p:txBody>
      </p:sp>
      <p:sp>
        <p:nvSpPr>
          <p:cNvPr id="8" name="Text 6"/>
          <p:cNvSpPr/>
          <p:nvPr/>
        </p:nvSpPr>
        <p:spPr>
          <a:xfrm>
            <a:off x="457200" y="1600200"/>
            <a:ext cx="6949440" cy="1417320"/>
          </a:xfrm>
          <a:prstGeom prst="rect">
            <a:avLst/>
          </a:prstGeom>
          <a:noFill/>
          <a:ln/>
        </p:spPr>
        <p:txBody>
          <a:bodyPr wrap="square" lIns="0" tIns="0" rIns="0" bIns="0" rtlCol="0" anchor="ctr"/>
          <a:lstStyle/>
          <a:p>
            <a:pPr indent="0" marL="0">
              <a:buNone/>
            </a:pPr>
            <a:r>
              <a:rPr lang="en-US" sz="1600" dirty="0">
                <a:solidFill>
                  <a:srgbClr val="9AA3B5"/>
                </a:solidFill>
                <a:latin typeface="Calibri" pitchFamily="34" charset="0"/>
                <a:ea typeface="Calibri" pitchFamily="34" charset="-122"/>
                <a:cs typeface="Calibri" pitchFamily="34" charset="-120"/>
              </a:rPr>
              <a:t>To turn a working, published Solana Android game into a deeply Seeker-native product — hardening the wallet rail, fixing the first session, shipping multi-language support, instrumenting real activation, and releasing a measurable dApp Store update.</a:t>
            </a:r>
            <a:endParaRPr lang="en-US" sz="1600" dirty="0"/>
          </a:p>
        </p:txBody>
      </p:sp>
      <p:sp>
        <p:nvSpPr>
          <p:cNvPr id="9" name="Text 7"/>
          <p:cNvSpPr/>
          <p:nvPr/>
        </p:nvSpPr>
        <p:spPr>
          <a:xfrm>
            <a:off x="457200" y="3154680"/>
            <a:ext cx="6949440" cy="256032"/>
          </a:xfrm>
          <a:prstGeom prst="rect">
            <a:avLst/>
          </a:prstGeom>
          <a:noFill/>
          <a:ln/>
        </p:spPr>
        <p:txBody>
          <a:bodyPr wrap="square" lIns="0" tIns="0" rIns="0" bIns="0" rtlCol="0" anchor="ctr"/>
          <a:lstStyle/>
          <a:p>
            <a:pPr indent="0" marL="0">
              <a:buNone/>
            </a:pPr>
            <a:r>
              <a:rPr lang="en-US" sz="1200" b="1" spc="140" kern="0" dirty="0">
                <a:solidFill>
                  <a:srgbClr val="C9A227"/>
                </a:solidFill>
                <a:latin typeface="Calibri" pitchFamily="34" charset="0"/>
                <a:ea typeface="Calibri" pitchFamily="34" charset="-122"/>
                <a:cs typeface="Calibri" pitchFamily="34" charset="-120"/>
              </a:rPr>
              <a:t>PUBLIC-GOOD COMMITMENT</a:t>
            </a:r>
            <a:endParaRPr lang="en-US" sz="1200" dirty="0"/>
          </a:p>
        </p:txBody>
      </p:sp>
      <p:sp>
        <p:nvSpPr>
          <p:cNvPr id="10" name="Text 8"/>
          <p:cNvSpPr/>
          <p:nvPr/>
        </p:nvSpPr>
        <p:spPr>
          <a:xfrm>
            <a:off x="457200" y="3474720"/>
            <a:ext cx="6949440" cy="1828800"/>
          </a:xfrm>
          <a:prstGeom prst="rect">
            <a:avLst/>
          </a:prstGeom>
          <a:noFill/>
          <a:ln/>
        </p:spPr>
        <p:txBody>
          <a:bodyPr wrap="square" lIns="0" tIns="0" rIns="0" bIns="0" rtlCol="0" anchor="ctr"/>
          <a:lstStyle/>
          <a:p>
            <a:pPr indent="0" marL="0">
              <a:buNone/>
            </a:pPr>
            <a:r>
              <a:rPr lang="en-US" sz="1400" dirty="0">
                <a:solidFill>
                  <a:srgbClr val="9AA3B5"/>
                </a:solidFill>
                <a:latin typeface="Calibri" pitchFamily="34" charset="0"/>
                <a:ea typeface="Calibri" pitchFamily="34" charset="-122"/>
                <a:cs typeface="Calibri" pitchFamily="34" charset="-120"/>
              </a:rPr>
              <a:t>A postmortem on building a production mobile game for Solana Mobile. Documented MWA and Seed Vault integration lessons and failure cases. Device-performance findings for asset-heavy Unity Android apps. Small reusable utilities open-sourced where they do not expose game IP. Localization notes for Unity titles targeting the dApp Store.</a:t>
            </a:r>
            <a:endParaRPr lang="en-US" sz="1400" dirty="0"/>
          </a:p>
        </p:txBody>
      </p:sp>
      <p:sp>
        <p:nvSpPr>
          <p:cNvPr id="11" name="Text 9"/>
          <p:cNvSpPr/>
          <p:nvPr/>
        </p:nvSpPr>
        <p:spPr>
          <a:xfrm>
            <a:off x="457200" y="5623560"/>
            <a:ext cx="6949440" cy="274320"/>
          </a:xfrm>
          <a:prstGeom prst="rect">
            <a:avLst/>
          </a:prstGeom>
          <a:noFill/>
          <a:ln/>
        </p:spPr>
        <p:txBody>
          <a:bodyPr wrap="square" lIns="0" tIns="0" rIns="0" bIns="0" rtlCol="0" anchor="ctr"/>
          <a:lstStyle/>
          <a:p>
            <a:pPr indent="0" marL="0">
              <a:buNone/>
            </a:pPr>
            <a:r>
              <a:rPr lang="en-US" sz="1300" dirty="0">
                <a:solidFill>
                  <a:srgbClr val="6E7789"/>
                </a:solidFill>
                <a:latin typeface="Calibri" pitchFamily="34" charset="0"/>
                <a:ea typeface="Calibri" pitchFamily="34" charset="-122"/>
                <a:cs typeface="Calibri" pitchFamily="34" charset="-120"/>
              </a:rPr>
              <a:t>DeNelle Studios  ·  Defenders of the Realm: Echoes of Elarion</a:t>
            </a:r>
            <a:endParaRPr lang="en-US" sz="1300" dirty="0"/>
          </a:p>
        </p:txBody>
      </p:sp>
      <p:sp>
        <p:nvSpPr>
          <p:cNvPr id="12" name="Text 10"/>
          <p:cNvSpPr/>
          <p:nvPr/>
        </p:nvSpPr>
        <p:spPr>
          <a:xfrm>
            <a:off x="457200" y="5897880"/>
            <a:ext cx="6949440" cy="228600"/>
          </a:xfrm>
          <a:prstGeom prst="rect">
            <a:avLst/>
          </a:prstGeom>
          <a:noFill/>
          <a:ln/>
        </p:spPr>
        <p:txBody>
          <a:bodyPr wrap="square" lIns="0" tIns="0" rIns="0" bIns="0" rtlCol="0" anchor="ctr"/>
          <a:lstStyle/>
          <a:p>
            <a:pPr indent="0" marL="0">
              <a:buNone/>
            </a:pPr>
            <a:r>
              <a:rPr lang="en-US" sz="1200" dirty="0">
                <a:solidFill>
                  <a:srgbClr val="6E7789"/>
                </a:solidFill>
                <a:latin typeface="Calibri" pitchFamily="34" charset="0"/>
                <a:ea typeface="Calibri" pitchFamily="34" charset="-122"/>
                <a:cs typeface="Calibri" pitchFamily="34" charset="-120"/>
              </a:rPr>
              <a:t>Package  com.denellestudios.echoesofelarion</a:t>
            </a:r>
            <a:endParaRPr lang="en-US" sz="1200" dirty="0"/>
          </a:p>
        </p:txBody>
      </p:sp>
      <p:sp>
        <p:nvSpPr>
          <p:cNvPr id="13" name="Shape 11"/>
          <p:cNvSpPr/>
          <p:nvPr/>
        </p:nvSpPr>
        <p:spPr>
          <a:xfrm>
            <a:off x="7680960" y="502920"/>
            <a:ext cx="4023360" cy="5852160"/>
          </a:xfrm>
          <a:prstGeom prst="rect">
            <a:avLst/>
          </a:prstGeom>
          <a:solidFill>
            <a:srgbClr val="151C2E"/>
          </a:solidFill>
          <a:ln w="12700">
            <a:solidFill>
              <a:srgbClr val="243049"/>
            </a:solidFill>
            <a:prstDash val="solid"/>
          </a:ln>
        </p:spPr>
      </p:sp>
      <p:sp>
        <p:nvSpPr>
          <p:cNvPr id="14" name="Text 12"/>
          <p:cNvSpPr/>
          <p:nvPr/>
        </p:nvSpPr>
        <p:spPr>
          <a:xfrm>
            <a:off x="7909560" y="731520"/>
            <a:ext cx="3611880" cy="274320"/>
          </a:xfrm>
          <a:prstGeom prst="rect">
            <a:avLst/>
          </a:prstGeom>
          <a:noFill/>
          <a:ln/>
        </p:spPr>
        <p:txBody>
          <a:bodyPr wrap="square" lIns="0" tIns="0" rIns="0" bIns="0" rtlCol="0" anchor="ctr"/>
          <a:lstStyle/>
          <a:p>
            <a:pPr indent="0" marL="0">
              <a:buNone/>
            </a:pPr>
            <a:r>
              <a:rPr lang="en-US" sz="1200" b="1" spc="120" kern="0" dirty="0">
                <a:solidFill>
                  <a:srgbClr val="C9A227"/>
                </a:solidFill>
                <a:latin typeface="Calibri" pitchFamily="34" charset="0"/>
                <a:ea typeface="Calibri" pitchFamily="34" charset="-122"/>
                <a:cs typeface="Calibri" pitchFamily="34" charset="-120"/>
              </a:rPr>
              <a:t>APPLICATION PACKAGE</a:t>
            </a:r>
            <a:endParaRPr lang="en-US" sz="1200" dirty="0"/>
          </a:p>
        </p:txBody>
      </p:sp>
      <p:sp>
        <p:nvSpPr>
          <p:cNvPr id="15" name="Text 13"/>
          <p:cNvSpPr/>
          <p:nvPr/>
        </p:nvSpPr>
        <p:spPr>
          <a:xfrm>
            <a:off x="7909560" y="1143000"/>
            <a:ext cx="365760" cy="548640"/>
          </a:xfrm>
          <a:prstGeom prst="rect">
            <a:avLst/>
          </a:prstGeom>
          <a:noFill/>
          <a:ln/>
        </p:spPr>
        <p:txBody>
          <a:bodyPr wrap="square" lIns="0" tIns="0" rIns="0" bIns="0" rtlCol="0" anchor="ctr"/>
          <a:lstStyle/>
          <a:p>
            <a:pPr indent="0" marL="0">
              <a:buNone/>
            </a:pPr>
            <a:r>
              <a:rPr lang="en-US" sz="1200" b="1" dirty="0">
                <a:solidFill>
                  <a:srgbClr val="C9A227"/>
                </a:solidFill>
                <a:latin typeface="Calibri" pitchFamily="34" charset="0"/>
                <a:ea typeface="Calibri" pitchFamily="34" charset="-122"/>
                <a:cs typeface="Calibri" pitchFamily="34" charset="-120"/>
              </a:rPr>
              <a:t>01</a:t>
            </a:r>
            <a:endParaRPr lang="en-US" sz="1200" dirty="0"/>
          </a:p>
        </p:txBody>
      </p:sp>
      <p:sp>
        <p:nvSpPr>
          <p:cNvPr id="16" name="Text 14"/>
          <p:cNvSpPr/>
          <p:nvPr/>
        </p:nvSpPr>
        <p:spPr>
          <a:xfrm>
            <a:off x="8321040" y="1143000"/>
            <a:ext cx="3154680" cy="548640"/>
          </a:xfrm>
          <a:prstGeom prst="rect">
            <a:avLst/>
          </a:prstGeom>
          <a:noFill/>
          <a:ln/>
        </p:spPr>
        <p:txBody>
          <a:bodyPr wrap="square" lIns="0" tIns="0" rIns="0" bIns="0" rtlCol="0" anchor="ctr"/>
          <a:lstStyle/>
          <a:p>
            <a:pPr indent="0" marL="0">
              <a:buNone/>
            </a:pPr>
            <a:r>
              <a:rPr lang="en-US" sz="1300" dirty="0">
                <a:solidFill>
                  <a:srgbClr val="F4F1E8"/>
                </a:solidFill>
                <a:latin typeface="Calibri" pitchFamily="34" charset="0"/>
                <a:ea typeface="Calibri" pitchFamily="34" charset="-122"/>
                <a:cs typeface="Calibri" pitchFamily="34" charset="-120"/>
              </a:rPr>
              <a:t>Public build and version number</a:t>
            </a:r>
            <a:endParaRPr lang="en-US" sz="1300" dirty="0"/>
          </a:p>
        </p:txBody>
      </p:sp>
      <p:sp>
        <p:nvSpPr>
          <p:cNvPr id="17" name="Text 15"/>
          <p:cNvSpPr/>
          <p:nvPr/>
        </p:nvSpPr>
        <p:spPr>
          <a:xfrm>
            <a:off x="7909560" y="1783080"/>
            <a:ext cx="365760" cy="548640"/>
          </a:xfrm>
          <a:prstGeom prst="rect">
            <a:avLst/>
          </a:prstGeom>
          <a:noFill/>
          <a:ln/>
        </p:spPr>
        <p:txBody>
          <a:bodyPr wrap="square" lIns="0" tIns="0" rIns="0" bIns="0" rtlCol="0" anchor="ctr"/>
          <a:lstStyle/>
          <a:p>
            <a:pPr indent="0" marL="0">
              <a:buNone/>
            </a:pPr>
            <a:r>
              <a:rPr lang="en-US" sz="1200" b="1" dirty="0">
                <a:solidFill>
                  <a:srgbClr val="C9A227"/>
                </a:solidFill>
                <a:latin typeface="Calibri" pitchFamily="34" charset="0"/>
                <a:ea typeface="Calibri" pitchFamily="34" charset="-122"/>
                <a:cs typeface="Calibri" pitchFamily="34" charset="-120"/>
              </a:rPr>
              <a:t>02</a:t>
            </a:r>
            <a:endParaRPr lang="en-US" sz="1200" dirty="0"/>
          </a:p>
        </p:txBody>
      </p:sp>
      <p:sp>
        <p:nvSpPr>
          <p:cNvPr id="18" name="Text 16"/>
          <p:cNvSpPr/>
          <p:nvPr/>
        </p:nvSpPr>
        <p:spPr>
          <a:xfrm>
            <a:off x="8321040" y="1783080"/>
            <a:ext cx="3154680" cy="548640"/>
          </a:xfrm>
          <a:prstGeom prst="rect">
            <a:avLst/>
          </a:prstGeom>
          <a:noFill/>
          <a:ln/>
        </p:spPr>
        <p:txBody>
          <a:bodyPr wrap="square" lIns="0" tIns="0" rIns="0" bIns="0" rtlCol="0" anchor="ctr"/>
          <a:lstStyle/>
          <a:p>
            <a:pPr indent="0" marL="0">
              <a:buNone/>
            </a:pPr>
            <a:r>
              <a:rPr lang="en-US" sz="1300" dirty="0">
                <a:solidFill>
                  <a:srgbClr val="F4F1E8"/>
                </a:solidFill>
                <a:latin typeface="Calibri" pitchFamily="34" charset="0"/>
                <a:ea typeface="Calibri" pitchFamily="34" charset="-122"/>
                <a:cs typeface="Calibri" pitchFamily="34" charset="-120"/>
              </a:rPr>
              <a:t>App NFT address (no https listing URL exists for dApp Store titles)</a:t>
            </a:r>
            <a:endParaRPr lang="en-US" sz="1300" dirty="0"/>
          </a:p>
        </p:txBody>
      </p:sp>
      <p:sp>
        <p:nvSpPr>
          <p:cNvPr id="19" name="Text 17"/>
          <p:cNvSpPr/>
          <p:nvPr/>
        </p:nvSpPr>
        <p:spPr>
          <a:xfrm>
            <a:off x="7909560" y="2423160"/>
            <a:ext cx="365760" cy="548640"/>
          </a:xfrm>
          <a:prstGeom prst="rect">
            <a:avLst/>
          </a:prstGeom>
          <a:noFill/>
          <a:ln/>
        </p:spPr>
        <p:txBody>
          <a:bodyPr wrap="square" lIns="0" tIns="0" rIns="0" bIns="0" rtlCol="0" anchor="ctr"/>
          <a:lstStyle/>
          <a:p>
            <a:pPr indent="0" marL="0">
              <a:buNone/>
            </a:pPr>
            <a:r>
              <a:rPr lang="en-US" sz="1200" b="1" dirty="0">
                <a:solidFill>
                  <a:srgbClr val="C9A227"/>
                </a:solidFill>
                <a:latin typeface="Calibri" pitchFamily="34" charset="0"/>
                <a:ea typeface="Calibri" pitchFamily="34" charset="-122"/>
                <a:cs typeface="Calibri" pitchFamily="34" charset="-120"/>
              </a:rPr>
              <a:t>03</a:t>
            </a:r>
            <a:endParaRPr lang="en-US" sz="1200" dirty="0"/>
          </a:p>
        </p:txBody>
      </p:sp>
      <p:sp>
        <p:nvSpPr>
          <p:cNvPr id="20" name="Text 18"/>
          <p:cNvSpPr/>
          <p:nvPr/>
        </p:nvSpPr>
        <p:spPr>
          <a:xfrm>
            <a:off x="8321040" y="2423160"/>
            <a:ext cx="3154680" cy="548640"/>
          </a:xfrm>
          <a:prstGeom prst="rect">
            <a:avLst/>
          </a:prstGeom>
          <a:noFill/>
          <a:ln/>
        </p:spPr>
        <p:txBody>
          <a:bodyPr wrap="square" lIns="0" tIns="0" rIns="0" bIns="0" rtlCol="0" anchor="ctr"/>
          <a:lstStyle/>
          <a:p>
            <a:pPr indent="0" marL="0">
              <a:buNone/>
            </a:pPr>
            <a:r>
              <a:rPr lang="en-US" sz="1300" dirty="0">
                <a:solidFill>
                  <a:srgbClr val="F4F1E8"/>
                </a:solidFill>
                <a:latin typeface="Calibri" pitchFamily="34" charset="0"/>
                <a:ea typeface="Calibri" pitchFamily="34" charset="-122"/>
                <a:cs typeface="Calibri" pitchFamily="34" charset="-120"/>
              </a:rPr>
              <a:t>Gameplay trailer</a:t>
            </a:r>
            <a:endParaRPr lang="en-US" sz="1300" dirty="0"/>
          </a:p>
        </p:txBody>
      </p:sp>
      <p:sp>
        <p:nvSpPr>
          <p:cNvPr id="21" name="Text 19"/>
          <p:cNvSpPr/>
          <p:nvPr/>
        </p:nvSpPr>
        <p:spPr>
          <a:xfrm>
            <a:off x="7909560" y="3063240"/>
            <a:ext cx="365760" cy="548640"/>
          </a:xfrm>
          <a:prstGeom prst="rect">
            <a:avLst/>
          </a:prstGeom>
          <a:noFill/>
          <a:ln/>
        </p:spPr>
        <p:txBody>
          <a:bodyPr wrap="square" lIns="0" tIns="0" rIns="0" bIns="0" rtlCol="0" anchor="ctr"/>
          <a:lstStyle/>
          <a:p>
            <a:pPr indent="0" marL="0">
              <a:buNone/>
            </a:pPr>
            <a:r>
              <a:rPr lang="en-US" sz="1200" b="1" dirty="0">
                <a:solidFill>
                  <a:srgbClr val="C9A227"/>
                </a:solidFill>
                <a:latin typeface="Calibri" pitchFamily="34" charset="0"/>
                <a:ea typeface="Calibri" pitchFamily="34" charset="-122"/>
                <a:cs typeface="Calibri" pitchFamily="34" charset="-120"/>
              </a:rPr>
              <a:t>04</a:t>
            </a:r>
            <a:endParaRPr lang="en-US" sz="1200" dirty="0"/>
          </a:p>
        </p:txBody>
      </p:sp>
      <p:sp>
        <p:nvSpPr>
          <p:cNvPr id="22" name="Text 20"/>
          <p:cNvSpPr/>
          <p:nvPr/>
        </p:nvSpPr>
        <p:spPr>
          <a:xfrm>
            <a:off x="8321040" y="3063240"/>
            <a:ext cx="3154680" cy="548640"/>
          </a:xfrm>
          <a:prstGeom prst="rect">
            <a:avLst/>
          </a:prstGeom>
          <a:noFill/>
          <a:ln/>
        </p:spPr>
        <p:txBody>
          <a:bodyPr wrap="square" lIns="0" tIns="0" rIns="0" bIns="0" rtlCol="0" anchor="ctr"/>
          <a:lstStyle/>
          <a:p>
            <a:pPr indent="0" marL="0">
              <a:buNone/>
            </a:pPr>
            <a:r>
              <a:rPr lang="en-US" sz="1300" dirty="0">
                <a:solidFill>
                  <a:srgbClr val="F4F1E8"/>
                </a:solidFill>
                <a:latin typeface="Calibri" pitchFamily="34" charset="0"/>
                <a:ea typeface="Calibri" pitchFamily="34" charset="-122"/>
                <a:cs typeface="Calibri" pitchFamily="34" charset="-120"/>
              </a:rPr>
              <a:t>Repository or commit evidence</a:t>
            </a:r>
            <a:endParaRPr lang="en-US" sz="1300" dirty="0"/>
          </a:p>
        </p:txBody>
      </p:sp>
      <p:sp>
        <p:nvSpPr>
          <p:cNvPr id="23" name="Text 21"/>
          <p:cNvSpPr/>
          <p:nvPr/>
        </p:nvSpPr>
        <p:spPr>
          <a:xfrm>
            <a:off x="7909560" y="3703320"/>
            <a:ext cx="365760" cy="548640"/>
          </a:xfrm>
          <a:prstGeom prst="rect">
            <a:avLst/>
          </a:prstGeom>
          <a:noFill/>
          <a:ln/>
        </p:spPr>
        <p:txBody>
          <a:bodyPr wrap="square" lIns="0" tIns="0" rIns="0" bIns="0" rtlCol="0" anchor="ctr"/>
          <a:lstStyle/>
          <a:p>
            <a:pPr indent="0" marL="0">
              <a:buNone/>
            </a:pPr>
            <a:r>
              <a:rPr lang="en-US" sz="1200" b="1" dirty="0">
                <a:solidFill>
                  <a:srgbClr val="C9A227"/>
                </a:solidFill>
                <a:latin typeface="Calibri" pitchFamily="34" charset="0"/>
                <a:ea typeface="Calibri" pitchFamily="34" charset="-122"/>
                <a:cs typeface="Calibri" pitchFamily="34" charset="-120"/>
              </a:rPr>
              <a:t>05</a:t>
            </a:r>
            <a:endParaRPr lang="en-US" sz="1200" dirty="0"/>
          </a:p>
        </p:txBody>
      </p:sp>
      <p:sp>
        <p:nvSpPr>
          <p:cNvPr id="24" name="Text 22"/>
          <p:cNvSpPr/>
          <p:nvPr/>
        </p:nvSpPr>
        <p:spPr>
          <a:xfrm>
            <a:off x="8321040" y="3703320"/>
            <a:ext cx="3154680" cy="548640"/>
          </a:xfrm>
          <a:prstGeom prst="rect">
            <a:avLst/>
          </a:prstGeom>
          <a:noFill/>
          <a:ln/>
        </p:spPr>
        <p:txBody>
          <a:bodyPr wrap="square" lIns="0" tIns="0" rIns="0" bIns="0" rtlCol="0" anchor="ctr"/>
          <a:lstStyle/>
          <a:p>
            <a:pPr indent="0" marL="0">
              <a:buNone/>
            </a:pPr>
            <a:r>
              <a:rPr lang="en-US" sz="1300" dirty="0">
                <a:solidFill>
                  <a:srgbClr val="F4F1E8"/>
                </a:solidFill>
                <a:latin typeface="Calibri" pitchFamily="34" charset="0"/>
                <a:ea typeface="Calibri" pitchFamily="34" charset="-122"/>
                <a:cs typeface="Calibri" pitchFamily="34" charset="-120"/>
              </a:rPr>
              <a:t>Install / session figures from the publisher console, inserted at submission</a:t>
            </a:r>
            <a:endParaRPr lang="en-US" sz="1300" dirty="0"/>
          </a:p>
        </p:txBody>
      </p:sp>
      <p:sp>
        <p:nvSpPr>
          <p:cNvPr id="25" name="Text 23"/>
          <p:cNvSpPr/>
          <p:nvPr/>
        </p:nvSpPr>
        <p:spPr>
          <a:xfrm>
            <a:off x="7909560" y="4343400"/>
            <a:ext cx="365760" cy="548640"/>
          </a:xfrm>
          <a:prstGeom prst="rect">
            <a:avLst/>
          </a:prstGeom>
          <a:noFill/>
          <a:ln/>
        </p:spPr>
        <p:txBody>
          <a:bodyPr wrap="square" lIns="0" tIns="0" rIns="0" bIns="0" rtlCol="0" anchor="ctr"/>
          <a:lstStyle/>
          <a:p>
            <a:pPr indent="0" marL="0">
              <a:buNone/>
            </a:pPr>
            <a:r>
              <a:rPr lang="en-US" sz="1200" b="1" dirty="0">
                <a:solidFill>
                  <a:srgbClr val="C9A227"/>
                </a:solidFill>
                <a:latin typeface="Calibri" pitchFamily="34" charset="0"/>
                <a:ea typeface="Calibri" pitchFamily="34" charset="-122"/>
                <a:cs typeface="Calibri" pitchFamily="34" charset="-120"/>
              </a:rPr>
              <a:t>06</a:t>
            </a:r>
            <a:endParaRPr lang="en-US" sz="1200" dirty="0"/>
          </a:p>
        </p:txBody>
      </p:sp>
      <p:sp>
        <p:nvSpPr>
          <p:cNvPr id="26" name="Text 24"/>
          <p:cNvSpPr/>
          <p:nvPr/>
        </p:nvSpPr>
        <p:spPr>
          <a:xfrm>
            <a:off x="8321040" y="4343400"/>
            <a:ext cx="3154680" cy="548640"/>
          </a:xfrm>
          <a:prstGeom prst="rect">
            <a:avLst/>
          </a:prstGeom>
          <a:noFill/>
          <a:ln/>
        </p:spPr>
        <p:txBody>
          <a:bodyPr wrap="square" lIns="0" tIns="0" rIns="0" bIns="0" rtlCol="0" anchor="ctr"/>
          <a:lstStyle/>
          <a:p>
            <a:pPr indent="0" marL="0">
              <a:buNone/>
            </a:pPr>
            <a:r>
              <a:rPr lang="en-US" sz="1300" dirty="0">
                <a:solidFill>
                  <a:srgbClr val="F4F1E8"/>
                </a:solidFill>
                <a:latin typeface="Calibri" pitchFamily="34" charset="0"/>
                <a:ea typeface="Calibri" pitchFamily="34" charset="-122"/>
                <a:cs typeface="Calibri" pitchFamily="34" charset="-120"/>
              </a:rPr>
              <a:t>Legal entity and contact</a:t>
            </a:r>
            <a:endParaRPr lang="en-US" sz="1300" dirty="0"/>
          </a:p>
        </p:txBody>
      </p:sp>
      <p:sp>
        <p:nvSpPr>
          <p:cNvPr id="27" name="Text 25"/>
          <p:cNvSpPr/>
          <p:nvPr/>
        </p:nvSpPr>
        <p:spPr>
          <a:xfrm>
            <a:off x="7909560" y="4983480"/>
            <a:ext cx="365760" cy="548640"/>
          </a:xfrm>
          <a:prstGeom prst="rect">
            <a:avLst/>
          </a:prstGeom>
          <a:noFill/>
          <a:ln/>
        </p:spPr>
        <p:txBody>
          <a:bodyPr wrap="square" lIns="0" tIns="0" rIns="0" bIns="0" rtlCol="0" anchor="ctr"/>
          <a:lstStyle/>
          <a:p>
            <a:pPr indent="0" marL="0">
              <a:buNone/>
            </a:pPr>
            <a:r>
              <a:rPr lang="en-US" sz="1200" b="1" dirty="0">
                <a:solidFill>
                  <a:srgbClr val="C9A227"/>
                </a:solidFill>
                <a:latin typeface="Calibri" pitchFamily="34" charset="0"/>
                <a:ea typeface="Calibri" pitchFamily="34" charset="-122"/>
                <a:cs typeface="Calibri" pitchFamily="34" charset="-120"/>
              </a:rPr>
              <a:t>07</a:t>
            </a:r>
            <a:endParaRPr lang="en-US" sz="1200" dirty="0"/>
          </a:p>
        </p:txBody>
      </p:sp>
      <p:sp>
        <p:nvSpPr>
          <p:cNvPr id="28" name="Text 26"/>
          <p:cNvSpPr/>
          <p:nvPr/>
        </p:nvSpPr>
        <p:spPr>
          <a:xfrm>
            <a:off x="8321040" y="4983480"/>
            <a:ext cx="3154680" cy="548640"/>
          </a:xfrm>
          <a:prstGeom prst="rect">
            <a:avLst/>
          </a:prstGeom>
          <a:noFill/>
          <a:ln/>
        </p:spPr>
        <p:txBody>
          <a:bodyPr wrap="square" lIns="0" tIns="0" rIns="0" bIns="0" rtlCol="0" anchor="ctr"/>
          <a:lstStyle/>
          <a:p>
            <a:pPr indent="0" marL="0">
              <a:buNone/>
            </a:pPr>
            <a:r>
              <a:rPr lang="en-US" sz="1300" dirty="0">
                <a:solidFill>
                  <a:srgbClr val="F4F1E8"/>
                </a:solidFill>
                <a:latin typeface="Calibri" pitchFamily="34" charset="0"/>
                <a:ea typeface="Calibri" pitchFamily="34" charset="-122"/>
                <a:cs typeface="Calibri" pitchFamily="34" charset="-120"/>
              </a:rPr>
              <a:t>Grant payment wallet address</a:t>
            </a:r>
            <a:endParaRPr lang="en-US" sz="1300" dirty="0"/>
          </a:p>
        </p:txBody>
      </p:sp>
      <p:sp>
        <p:nvSpPr>
          <p:cNvPr id="29" name="Shape 27"/>
          <p:cNvSpPr/>
          <p:nvPr/>
        </p:nvSpPr>
        <p:spPr>
          <a:xfrm>
            <a:off x="0" y="6656832"/>
            <a:ext cx="12161520" cy="201168"/>
          </a:xfrm>
          <a:prstGeom prst="rect">
            <a:avLst/>
          </a:prstGeom>
          <a:solidFill>
            <a:srgbClr val="0B1220"/>
          </a:solidFill>
          <a:ln/>
        </p:spPr>
      </p:sp>
      <p:sp>
        <p:nvSpPr>
          <p:cNvPr id="30" name="Shape 28"/>
          <p:cNvSpPr/>
          <p:nvPr/>
        </p:nvSpPr>
        <p:spPr>
          <a:xfrm>
            <a:off x="0" y="6656832"/>
            <a:ext cx="12161520" cy="13716"/>
          </a:xfrm>
          <a:prstGeom prst="rect">
            <a:avLst/>
          </a:prstGeom>
          <a:solidFill>
            <a:srgbClr val="243049"/>
          </a:solidFill>
          <a:ln/>
        </p:spPr>
      </p:sp>
      <p:sp>
        <p:nvSpPr>
          <p:cNvPr id="31" name="Text 29"/>
          <p:cNvSpPr/>
          <p:nvPr/>
        </p:nvSpPr>
        <p:spPr>
          <a:xfrm>
            <a:off x="411480" y="6675120"/>
            <a:ext cx="7498080" cy="164592"/>
          </a:xfrm>
          <a:prstGeom prst="rect">
            <a:avLst/>
          </a:prstGeom>
          <a:noFill/>
          <a:ln/>
        </p:spPr>
        <p:txBody>
          <a:bodyPr wrap="square" lIns="0" tIns="0" rIns="0" bIns="0" rtlCol="0" anchor="ctr"/>
          <a:lstStyle/>
          <a:p>
            <a:pPr indent="0" marL="0">
              <a:buNone/>
            </a:pPr>
            <a:r>
              <a:rPr lang="en-US" sz="900" spc="60" kern="0" dirty="0">
                <a:solidFill>
                  <a:srgbClr val="6E7789"/>
                </a:solidFill>
                <a:latin typeface="Calibri" pitchFamily="34" charset="0"/>
                <a:ea typeface="Calibri" pitchFamily="34" charset="-122"/>
                <a:cs typeface="Calibri" pitchFamily="34" charset="-120"/>
              </a:rPr>
              <a:t>DENELLE STUDIOS  ·  CONFIDENTIAL GRANT APPLICATION</a:t>
            </a:r>
            <a:endParaRPr lang="en-US" sz="900" dirty="0"/>
          </a:p>
        </p:txBody>
      </p:sp>
      <p:sp>
        <p:nvSpPr>
          <p:cNvPr id="32" name="Text 30"/>
          <p:cNvSpPr/>
          <p:nvPr/>
        </p:nvSpPr>
        <p:spPr>
          <a:xfrm>
            <a:off x="7863840" y="6675120"/>
            <a:ext cx="3886200" cy="164592"/>
          </a:xfrm>
          <a:prstGeom prst="rect">
            <a:avLst/>
          </a:prstGeom>
          <a:noFill/>
          <a:ln/>
        </p:spPr>
        <p:txBody>
          <a:bodyPr wrap="square" lIns="0" tIns="0" rIns="0" bIns="0" rtlCol="0" anchor="ctr"/>
          <a:lstStyle/>
          <a:p>
            <a:pPr algn="r" indent="0" marL="0">
              <a:buNone/>
            </a:pPr>
            <a:r>
              <a:rPr lang="en-US" sz="900" dirty="0">
                <a:solidFill>
                  <a:srgbClr val="6E7789"/>
                </a:solidFill>
                <a:latin typeface="Calibri" pitchFamily="34" charset="0"/>
                <a:ea typeface="Calibri" pitchFamily="34" charset="-122"/>
                <a:cs typeface="Calibri" pitchFamily="34" charset="-120"/>
              </a:rPr>
              <a:t>ECHOES OF ELARION  ·  14 / 14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DeNelle Studios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Defenders of the Realm: Echoes of Elarion — Solana Mobile Builder Grant</dc:title>
  <dc:subject>Confidential grant application</dc:subject>
  <dc:creator>DeNelle Studios</dc:creator>
  <cp:lastModifiedBy>DeNelle Studios</cp:lastModifiedBy>
  <cp:revision>1</cp:revision>
  <dcterms:created xsi:type="dcterms:W3CDTF">2026-09-08T18:54:57Z</dcterms:created>
  <dcterms:modified xsi:type="dcterms:W3CDTF">2026-09-08T18:54:57Z</dcterms:modified>
</cp:coreProperties>
</file>